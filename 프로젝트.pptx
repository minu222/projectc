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7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70" r:id="rId7"/>
    <p:sldId id="269" r:id="rId8"/>
    <p:sldId id="268" r:id="rId9"/>
    <p:sldId id="263" r:id="rId10"/>
    <p:sldId id="264" r:id="rId11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72" y="372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3484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5902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8133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3" Type="http://schemas.openxmlformats.org/officeDocument/2006/relationships/image" Target="../media/image1.png"/><Relationship Id="rId21" Type="http://schemas.openxmlformats.org/officeDocument/2006/relationships/image" Target="../media/image30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5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5.png"/><Relationship Id="rId20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24" Type="http://schemas.openxmlformats.org/officeDocument/2006/relationships/image" Target="../media/image33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23" Type="http://schemas.openxmlformats.org/officeDocument/2006/relationships/image" Target="../media/image32.png"/><Relationship Id="rId10" Type="http://schemas.openxmlformats.org/officeDocument/2006/relationships/image" Target="../media/image19.png"/><Relationship Id="rId19" Type="http://schemas.openxmlformats.org/officeDocument/2006/relationships/image" Target="../media/image28.png"/><Relationship Id="rId4" Type="http://schemas.openxmlformats.org/officeDocument/2006/relationships/image" Target="../media/image2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Relationship Id="rId22" Type="http://schemas.openxmlformats.org/officeDocument/2006/relationships/image" Target="../media/image3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3.png"/><Relationship Id="rId18" Type="http://schemas.openxmlformats.org/officeDocument/2006/relationships/image" Target="../media/image48.png"/><Relationship Id="rId3" Type="http://schemas.openxmlformats.org/officeDocument/2006/relationships/image" Target="../media/image1.png"/><Relationship Id="rId21" Type="http://schemas.openxmlformats.org/officeDocument/2006/relationships/image" Target="../media/image51.png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17" Type="http://schemas.openxmlformats.org/officeDocument/2006/relationships/image" Target="../media/image47.png"/><Relationship Id="rId25" Type="http://schemas.openxmlformats.org/officeDocument/2006/relationships/image" Target="../media/image55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46.png"/><Relationship Id="rId20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24" Type="http://schemas.openxmlformats.org/officeDocument/2006/relationships/image" Target="../media/image54.png"/><Relationship Id="rId5" Type="http://schemas.openxmlformats.org/officeDocument/2006/relationships/image" Target="../media/image35.png"/><Relationship Id="rId15" Type="http://schemas.openxmlformats.org/officeDocument/2006/relationships/image" Target="../media/image45.png"/><Relationship Id="rId23" Type="http://schemas.openxmlformats.org/officeDocument/2006/relationships/image" Target="../media/image53.png"/><Relationship Id="rId10" Type="http://schemas.openxmlformats.org/officeDocument/2006/relationships/image" Target="../media/image40.png"/><Relationship Id="rId19" Type="http://schemas.openxmlformats.org/officeDocument/2006/relationships/image" Target="../media/image49.png"/><Relationship Id="rId4" Type="http://schemas.openxmlformats.org/officeDocument/2006/relationships/image" Target="../media/image2.png"/><Relationship Id="rId9" Type="http://schemas.openxmlformats.org/officeDocument/2006/relationships/image" Target="../media/image39.png"/><Relationship Id="rId14" Type="http://schemas.openxmlformats.org/officeDocument/2006/relationships/image" Target="../media/image44.png"/><Relationship Id="rId22" Type="http://schemas.openxmlformats.org/officeDocument/2006/relationships/image" Target="../media/image52.png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3.png"/><Relationship Id="rId18" Type="http://schemas.openxmlformats.org/officeDocument/2006/relationships/image" Target="../media/image68.png"/><Relationship Id="rId26" Type="http://schemas.openxmlformats.org/officeDocument/2006/relationships/image" Target="../media/image76.png"/><Relationship Id="rId21" Type="http://schemas.openxmlformats.org/officeDocument/2006/relationships/image" Target="../media/image71.png"/><Relationship Id="rId34" Type="http://schemas.openxmlformats.org/officeDocument/2006/relationships/image" Target="../media/image84.png"/><Relationship Id="rId7" Type="http://schemas.openxmlformats.org/officeDocument/2006/relationships/image" Target="../media/image57.png"/><Relationship Id="rId12" Type="http://schemas.openxmlformats.org/officeDocument/2006/relationships/image" Target="../media/image62.png"/><Relationship Id="rId17" Type="http://schemas.openxmlformats.org/officeDocument/2006/relationships/image" Target="../media/image67.png"/><Relationship Id="rId25" Type="http://schemas.openxmlformats.org/officeDocument/2006/relationships/image" Target="../media/image75.png"/><Relationship Id="rId33" Type="http://schemas.openxmlformats.org/officeDocument/2006/relationships/image" Target="../media/image83.png"/><Relationship Id="rId38" Type="http://schemas.openxmlformats.org/officeDocument/2006/relationships/image" Target="../media/image87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66.png"/><Relationship Id="rId20" Type="http://schemas.openxmlformats.org/officeDocument/2006/relationships/image" Target="../media/image70.png"/><Relationship Id="rId29" Type="http://schemas.openxmlformats.org/officeDocument/2006/relationships/image" Target="../media/image7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11" Type="http://schemas.openxmlformats.org/officeDocument/2006/relationships/image" Target="../media/image61.png"/><Relationship Id="rId24" Type="http://schemas.openxmlformats.org/officeDocument/2006/relationships/image" Target="../media/image74.png"/><Relationship Id="rId32" Type="http://schemas.openxmlformats.org/officeDocument/2006/relationships/image" Target="../media/image82.png"/><Relationship Id="rId37" Type="http://schemas.openxmlformats.org/officeDocument/2006/relationships/image" Target="../media/image86.png"/><Relationship Id="rId5" Type="http://schemas.openxmlformats.org/officeDocument/2006/relationships/image" Target="../media/image14.png"/><Relationship Id="rId15" Type="http://schemas.openxmlformats.org/officeDocument/2006/relationships/image" Target="../media/image65.png"/><Relationship Id="rId23" Type="http://schemas.openxmlformats.org/officeDocument/2006/relationships/image" Target="../media/image73.png"/><Relationship Id="rId28" Type="http://schemas.openxmlformats.org/officeDocument/2006/relationships/image" Target="../media/image78.png"/><Relationship Id="rId36" Type="http://schemas.openxmlformats.org/officeDocument/2006/relationships/image" Target="../media/image41.png"/><Relationship Id="rId10" Type="http://schemas.openxmlformats.org/officeDocument/2006/relationships/image" Target="../media/image60.png"/><Relationship Id="rId19" Type="http://schemas.openxmlformats.org/officeDocument/2006/relationships/image" Target="../media/image69.png"/><Relationship Id="rId31" Type="http://schemas.openxmlformats.org/officeDocument/2006/relationships/image" Target="../media/image81.png"/><Relationship Id="rId4" Type="http://schemas.openxmlformats.org/officeDocument/2006/relationships/image" Target="../media/image2.png"/><Relationship Id="rId9" Type="http://schemas.openxmlformats.org/officeDocument/2006/relationships/image" Target="../media/image59.png"/><Relationship Id="rId14" Type="http://schemas.openxmlformats.org/officeDocument/2006/relationships/image" Target="../media/image64.png"/><Relationship Id="rId22" Type="http://schemas.openxmlformats.org/officeDocument/2006/relationships/image" Target="../media/image72.png"/><Relationship Id="rId27" Type="http://schemas.openxmlformats.org/officeDocument/2006/relationships/image" Target="../media/image77.png"/><Relationship Id="rId30" Type="http://schemas.openxmlformats.org/officeDocument/2006/relationships/image" Target="../media/image80.png"/><Relationship Id="rId35" Type="http://schemas.openxmlformats.org/officeDocument/2006/relationships/image" Target="../media/image85.png"/><Relationship Id="rId8" Type="http://schemas.openxmlformats.org/officeDocument/2006/relationships/image" Target="../media/image58.png"/><Relationship Id="rId3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13" Type="http://schemas.openxmlformats.org/officeDocument/2006/relationships/image" Target="../media/image96.png"/><Relationship Id="rId18" Type="http://schemas.openxmlformats.org/officeDocument/2006/relationships/image" Target="../media/image101.png"/><Relationship Id="rId3" Type="http://schemas.openxmlformats.org/officeDocument/2006/relationships/image" Target="../media/image1.png"/><Relationship Id="rId21" Type="http://schemas.openxmlformats.org/officeDocument/2006/relationships/image" Target="../media/image104.png"/><Relationship Id="rId7" Type="http://schemas.openxmlformats.org/officeDocument/2006/relationships/image" Target="../media/image90.png"/><Relationship Id="rId12" Type="http://schemas.openxmlformats.org/officeDocument/2006/relationships/image" Target="../media/image95.png"/><Relationship Id="rId17" Type="http://schemas.openxmlformats.org/officeDocument/2006/relationships/image" Target="../media/image10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99.png"/><Relationship Id="rId20" Type="http://schemas.openxmlformats.org/officeDocument/2006/relationships/image" Target="../media/image10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11" Type="http://schemas.openxmlformats.org/officeDocument/2006/relationships/image" Target="../media/image94.png"/><Relationship Id="rId5" Type="http://schemas.openxmlformats.org/officeDocument/2006/relationships/image" Target="../media/image88.png"/><Relationship Id="rId15" Type="http://schemas.openxmlformats.org/officeDocument/2006/relationships/image" Target="../media/image98.png"/><Relationship Id="rId10" Type="http://schemas.openxmlformats.org/officeDocument/2006/relationships/image" Target="../media/image93.png"/><Relationship Id="rId19" Type="http://schemas.openxmlformats.org/officeDocument/2006/relationships/image" Target="../media/image102.png"/><Relationship Id="rId4" Type="http://schemas.openxmlformats.org/officeDocument/2006/relationships/image" Target="../media/image2.png"/><Relationship Id="rId9" Type="http://schemas.openxmlformats.org/officeDocument/2006/relationships/image" Target="../media/image92.png"/><Relationship Id="rId14" Type="http://schemas.openxmlformats.org/officeDocument/2006/relationships/image" Target="../media/image9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13" Type="http://schemas.openxmlformats.org/officeDocument/2006/relationships/image" Target="../media/image112.png"/><Relationship Id="rId3" Type="http://schemas.openxmlformats.org/officeDocument/2006/relationships/image" Target="../media/image1.png"/><Relationship Id="rId7" Type="http://schemas.openxmlformats.org/officeDocument/2006/relationships/image" Target="../media/image106.png"/><Relationship Id="rId12" Type="http://schemas.openxmlformats.org/officeDocument/2006/relationships/image" Target="../media/image111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5.png"/><Relationship Id="rId11" Type="http://schemas.openxmlformats.org/officeDocument/2006/relationships/image" Target="../media/image110.png"/><Relationship Id="rId5" Type="http://schemas.openxmlformats.org/officeDocument/2006/relationships/image" Target="../media/image104.png"/><Relationship Id="rId15" Type="http://schemas.openxmlformats.org/officeDocument/2006/relationships/image" Target="../media/image44.png"/><Relationship Id="rId10" Type="http://schemas.openxmlformats.org/officeDocument/2006/relationships/image" Target="../media/image109.png"/><Relationship Id="rId4" Type="http://schemas.openxmlformats.org/officeDocument/2006/relationships/image" Target="../media/image2.png"/><Relationship Id="rId9" Type="http://schemas.openxmlformats.org/officeDocument/2006/relationships/image" Target="../media/image108.png"/><Relationship Id="rId14" Type="http://schemas.openxmlformats.org/officeDocument/2006/relationships/image" Target="../media/image11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13" Type="http://schemas.openxmlformats.org/officeDocument/2006/relationships/image" Target="../media/image113.png"/><Relationship Id="rId3" Type="http://schemas.openxmlformats.org/officeDocument/2006/relationships/image" Target="../media/image1.png"/><Relationship Id="rId7" Type="http://schemas.openxmlformats.org/officeDocument/2006/relationships/image" Target="../media/image117.png"/><Relationship Id="rId12" Type="http://schemas.openxmlformats.org/officeDocument/2006/relationships/image" Target="../media/image1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6.png"/><Relationship Id="rId11" Type="http://schemas.openxmlformats.org/officeDocument/2006/relationships/image" Target="../media/image121.png"/><Relationship Id="rId5" Type="http://schemas.openxmlformats.org/officeDocument/2006/relationships/image" Target="../media/image115.png"/><Relationship Id="rId15" Type="http://schemas.openxmlformats.org/officeDocument/2006/relationships/image" Target="../media/image124.png"/><Relationship Id="rId10" Type="http://schemas.openxmlformats.org/officeDocument/2006/relationships/image" Target="../media/image120.png"/><Relationship Id="rId4" Type="http://schemas.openxmlformats.org/officeDocument/2006/relationships/image" Target="../media/image2.png"/><Relationship Id="rId9" Type="http://schemas.openxmlformats.org/officeDocument/2006/relationships/image" Target="../media/image119.png"/><Relationship Id="rId14" Type="http://schemas.openxmlformats.org/officeDocument/2006/relationships/image" Target="../media/image123.png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33.png"/><Relationship Id="rId18" Type="http://schemas.openxmlformats.org/officeDocument/2006/relationships/image" Target="../media/image138.png"/><Relationship Id="rId26" Type="http://schemas.openxmlformats.org/officeDocument/2006/relationships/image" Target="../media/image145.png"/><Relationship Id="rId39" Type="http://schemas.openxmlformats.org/officeDocument/2006/relationships/image" Target="../media/image156.png"/><Relationship Id="rId21" Type="http://schemas.openxmlformats.org/officeDocument/2006/relationships/image" Target="../media/image140.png"/><Relationship Id="rId34" Type="http://schemas.openxmlformats.org/officeDocument/2006/relationships/image" Target="../media/image152.png"/><Relationship Id="rId42" Type="http://schemas.openxmlformats.org/officeDocument/2006/relationships/image" Target="../media/image159.png"/><Relationship Id="rId47" Type="http://schemas.openxmlformats.org/officeDocument/2006/relationships/image" Target="../media/image50.png"/><Relationship Id="rId50" Type="http://schemas.openxmlformats.org/officeDocument/2006/relationships/image" Target="../media/image165.png"/><Relationship Id="rId55" Type="http://schemas.openxmlformats.org/officeDocument/2006/relationships/image" Target="../media/image169.png"/><Relationship Id="rId7" Type="http://schemas.openxmlformats.org/officeDocument/2006/relationships/image" Target="../media/image127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36.png"/><Relationship Id="rId29" Type="http://schemas.openxmlformats.org/officeDocument/2006/relationships/image" Target="../media/image110.png"/><Relationship Id="rId11" Type="http://schemas.openxmlformats.org/officeDocument/2006/relationships/image" Target="../media/image131.png"/><Relationship Id="rId24" Type="http://schemas.openxmlformats.org/officeDocument/2006/relationships/image" Target="../media/image143.png"/><Relationship Id="rId32" Type="http://schemas.openxmlformats.org/officeDocument/2006/relationships/image" Target="../media/image150.png"/><Relationship Id="rId37" Type="http://schemas.openxmlformats.org/officeDocument/2006/relationships/image" Target="../media/image154.png"/><Relationship Id="rId40" Type="http://schemas.openxmlformats.org/officeDocument/2006/relationships/image" Target="../media/image157.png"/><Relationship Id="rId45" Type="http://schemas.openxmlformats.org/officeDocument/2006/relationships/image" Target="../media/image162.png"/><Relationship Id="rId53" Type="http://schemas.openxmlformats.org/officeDocument/2006/relationships/image" Target="../media/image32.png"/><Relationship Id="rId5" Type="http://schemas.openxmlformats.org/officeDocument/2006/relationships/image" Target="../media/image125.png"/><Relationship Id="rId19" Type="http://schemas.openxmlformats.org/officeDocument/2006/relationships/image" Target="../media/image139.png"/><Relationship Id="rId4" Type="http://schemas.openxmlformats.org/officeDocument/2006/relationships/image" Target="../media/image2.png"/><Relationship Id="rId9" Type="http://schemas.openxmlformats.org/officeDocument/2006/relationships/image" Target="../media/image129.png"/><Relationship Id="rId14" Type="http://schemas.openxmlformats.org/officeDocument/2006/relationships/image" Target="../media/image134.png"/><Relationship Id="rId22" Type="http://schemas.openxmlformats.org/officeDocument/2006/relationships/image" Target="../media/image141.png"/><Relationship Id="rId27" Type="http://schemas.openxmlformats.org/officeDocument/2006/relationships/image" Target="../media/image146.png"/><Relationship Id="rId30" Type="http://schemas.openxmlformats.org/officeDocument/2006/relationships/image" Target="../media/image148.png"/><Relationship Id="rId35" Type="http://schemas.openxmlformats.org/officeDocument/2006/relationships/image" Target="../media/image119.png"/><Relationship Id="rId43" Type="http://schemas.openxmlformats.org/officeDocument/2006/relationships/image" Target="../media/image160.png"/><Relationship Id="rId48" Type="http://schemas.openxmlformats.org/officeDocument/2006/relationships/image" Target="../media/image164.png"/><Relationship Id="rId56" Type="http://schemas.openxmlformats.org/officeDocument/2006/relationships/image" Target="../media/image170.png"/><Relationship Id="rId8" Type="http://schemas.openxmlformats.org/officeDocument/2006/relationships/image" Target="../media/image128.png"/><Relationship Id="rId51" Type="http://schemas.openxmlformats.org/officeDocument/2006/relationships/image" Target="../media/image166.png"/><Relationship Id="rId3" Type="http://schemas.openxmlformats.org/officeDocument/2006/relationships/image" Target="../media/image1.png"/><Relationship Id="rId12" Type="http://schemas.openxmlformats.org/officeDocument/2006/relationships/image" Target="../media/image132.png"/><Relationship Id="rId17" Type="http://schemas.openxmlformats.org/officeDocument/2006/relationships/image" Target="../media/image137.png"/><Relationship Id="rId25" Type="http://schemas.openxmlformats.org/officeDocument/2006/relationships/image" Target="../media/image144.png"/><Relationship Id="rId33" Type="http://schemas.openxmlformats.org/officeDocument/2006/relationships/image" Target="../media/image151.png"/><Relationship Id="rId38" Type="http://schemas.openxmlformats.org/officeDocument/2006/relationships/image" Target="../media/image155.png"/><Relationship Id="rId46" Type="http://schemas.openxmlformats.org/officeDocument/2006/relationships/image" Target="../media/image163.png"/><Relationship Id="rId20" Type="http://schemas.openxmlformats.org/officeDocument/2006/relationships/image" Target="../media/image44.png"/><Relationship Id="rId41" Type="http://schemas.openxmlformats.org/officeDocument/2006/relationships/image" Target="../media/image158.png"/><Relationship Id="rId54" Type="http://schemas.openxmlformats.org/officeDocument/2006/relationships/image" Target="../media/image16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6.png"/><Relationship Id="rId15" Type="http://schemas.openxmlformats.org/officeDocument/2006/relationships/image" Target="../media/image135.png"/><Relationship Id="rId23" Type="http://schemas.openxmlformats.org/officeDocument/2006/relationships/image" Target="../media/image142.png"/><Relationship Id="rId28" Type="http://schemas.openxmlformats.org/officeDocument/2006/relationships/image" Target="../media/image147.png"/><Relationship Id="rId36" Type="http://schemas.openxmlformats.org/officeDocument/2006/relationships/image" Target="../media/image153.png"/><Relationship Id="rId49" Type="http://schemas.openxmlformats.org/officeDocument/2006/relationships/image" Target="../media/image41.png"/><Relationship Id="rId57" Type="http://schemas.openxmlformats.org/officeDocument/2006/relationships/image" Target="../media/image171.png"/><Relationship Id="rId10" Type="http://schemas.openxmlformats.org/officeDocument/2006/relationships/image" Target="../media/image130.png"/><Relationship Id="rId31" Type="http://schemas.openxmlformats.org/officeDocument/2006/relationships/image" Target="../media/image149.png"/><Relationship Id="rId44" Type="http://schemas.openxmlformats.org/officeDocument/2006/relationships/image" Target="../media/image161.png"/><Relationship Id="rId52" Type="http://schemas.openxmlformats.org/officeDocument/2006/relationships/image" Target="../media/image167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9.png"/><Relationship Id="rId18" Type="http://schemas.openxmlformats.org/officeDocument/2006/relationships/image" Target="../media/image184.png"/><Relationship Id="rId26" Type="http://schemas.openxmlformats.org/officeDocument/2006/relationships/image" Target="../media/image192.png"/><Relationship Id="rId3" Type="http://schemas.openxmlformats.org/officeDocument/2006/relationships/image" Target="../media/image1.png"/><Relationship Id="rId21" Type="http://schemas.openxmlformats.org/officeDocument/2006/relationships/image" Target="../media/image187.png"/><Relationship Id="rId7" Type="http://schemas.openxmlformats.org/officeDocument/2006/relationships/image" Target="../media/image173.png"/><Relationship Id="rId12" Type="http://schemas.openxmlformats.org/officeDocument/2006/relationships/image" Target="../media/image178.png"/><Relationship Id="rId17" Type="http://schemas.openxmlformats.org/officeDocument/2006/relationships/image" Target="../media/image183.png"/><Relationship Id="rId25" Type="http://schemas.openxmlformats.org/officeDocument/2006/relationships/image" Target="../media/image191.png"/><Relationship Id="rId33" Type="http://schemas.openxmlformats.org/officeDocument/2006/relationships/image" Target="../media/image62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82.png"/><Relationship Id="rId20" Type="http://schemas.openxmlformats.org/officeDocument/2006/relationships/image" Target="../media/image186.png"/><Relationship Id="rId29" Type="http://schemas.openxmlformats.org/officeDocument/2006/relationships/image" Target="../media/image1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2.png"/><Relationship Id="rId11" Type="http://schemas.openxmlformats.org/officeDocument/2006/relationships/image" Target="../media/image177.png"/><Relationship Id="rId24" Type="http://schemas.openxmlformats.org/officeDocument/2006/relationships/image" Target="../media/image190.png"/><Relationship Id="rId32" Type="http://schemas.openxmlformats.org/officeDocument/2006/relationships/image" Target="../media/image197.png"/><Relationship Id="rId5" Type="http://schemas.openxmlformats.org/officeDocument/2006/relationships/image" Target="../media/image14.png"/><Relationship Id="rId15" Type="http://schemas.openxmlformats.org/officeDocument/2006/relationships/image" Target="../media/image181.png"/><Relationship Id="rId23" Type="http://schemas.openxmlformats.org/officeDocument/2006/relationships/image" Target="../media/image189.png"/><Relationship Id="rId28" Type="http://schemas.openxmlformats.org/officeDocument/2006/relationships/image" Target="../media/image193.png"/><Relationship Id="rId10" Type="http://schemas.openxmlformats.org/officeDocument/2006/relationships/image" Target="../media/image176.png"/><Relationship Id="rId19" Type="http://schemas.openxmlformats.org/officeDocument/2006/relationships/image" Target="../media/image185.png"/><Relationship Id="rId31" Type="http://schemas.openxmlformats.org/officeDocument/2006/relationships/image" Target="../media/image196.png"/><Relationship Id="rId4" Type="http://schemas.openxmlformats.org/officeDocument/2006/relationships/image" Target="../media/image2.png"/><Relationship Id="rId9" Type="http://schemas.openxmlformats.org/officeDocument/2006/relationships/image" Target="../media/image175.png"/><Relationship Id="rId14" Type="http://schemas.openxmlformats.org/officeDocument/2006/relationships/image" Target="../media/image180.png"/><Relationship Id="rId22" Type="http://schemas.openxmlformats.org/officeDocument/2006/relationships/image" Target="../media/image188.png"/><Relationship Id="rId27" Type="http://schemas.openxmlformats.org/officeDocument/2006/relationships/image" Target="../media/image28.png"/><Relationship Id="rId30" Type="http://schemas.openxmlformats.org/officeDocument/2006/relationships/image" Target="../media/image195.png"/><Relationship Id="rId8" Type="http://schemas.openxmlformats.org/officeDocument/2006/relationships/image" Target="../media/image174.png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95.png"/><Relationship Id="rId18" Type="http://schemas.openxmlformats.org/officeDocument/2006/relationships/image" Target="../media/image207.png"/><Relationship Id="rId26" Type="http://schemas.openxmlformats.org/officeDocument/2006/relationships/image" Target="../media/image214.png"/><Relationship Id="rId3" Type="http://schemas.openxmlformats.org/officeDocument/2006/relationships/image" Target="../media/image1.png"/><Relationship Id="rId21" Type="http://schemas.openxmlformats.org/officeDocument/2006/relationships/image" Target="../media/image209.png"/><Relationship Id="rId34" Type="http://schemas.openxmlformats.org/officeDocument/2006/relationships/image" Target="../media/image23.png"/><Relationship Id="rId7" Type="http://schemas.openxmlformats.org/officeDocument/2006/relationships/image" Target="../media/image199.png"/><Relationship Id="rId12" Type="http://schemas.openxmlformats.org/officeDocument/2006/relationships/image" Target="../media/image174.png"/><Relationship Id="rId17" Type="http://schemas.openxmlformats.org/officeDocument/2006/relationships/image" Target="../media/image206.png"/><Relationship Id="rId25" Type="http://schemas.openxmlformats.org/officeDocument/2006/relationships/image" Target="../media/image213.png"/><Relationship Id="rId33" Type="http://schemas.openxmlformats.org/officeDocument/2006/relationships/image" Target="../media/image221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205.png"/><Relationship Id="rId20" Type="http://schemas.openxmlformats.org/officeDocument/2006/relationships/image" Target="../media/image208.png"/><Relationship Id="rId29" Type="http://schemas.openxmlformats.org/officeDocument/2006/relationships/image" Target="../media/image2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8.png"/><Relationship Id="rId11" Type="http://schemas.openxmlformats.org/officeDocument/2006/relationships/image" Target="../media/image202.png"/><Relationship Id="rId24" Type="http://schemas.openxmlformats.org/officeDocument/2006/relationships/image" Target="../media/image212.png"/><Relationship Id="rId32" Type="http://schemas.openxmlformats.org/officeDocument/2006/relationships/image" Target="../media/image220.png"/><Relationship Id="rId5" Type="http://schemas.openxmlformats.org/officeDocument/2006/relationships/image" Target="../media/image14.png"/><Relationship Id="rId15" Type="http://schemas.openxmlformats.org/officeDocument/2006/relationships/image" Target="../media/image204.png"/><Relationship Id="rId23" Type="http://schemas.openxmlformats.org/officeDocument/2006/relationships/image" Target="../media/image211.png"/><Relationship Id="rId28" Type="http://schemas.openxmlformats.org/officeDocument/2006/relationships/image" Target="../media/image216.png"/><Relationship Id="rId10" Type="http://schemas.openxmlformats.org/officeDocument/2006/relationships/image" Target="../media/image201.png"/><Relationship Id="rId19" Type="http://schemas.openxmlformats.org/officeDocument/2006/relationships/image" Target="../media/image32.png"/><Relationship Id="rId31" Type="http://schemas.openxmlformats.org/officeDocument/2006/relationships/image" Target="../media/image219.png"/><Relationship Id="rId4" Type="http://schemas.openxmlformats.org/officeDocument/2006/relationships/image" Target="../media/image2.png"/><Relationship Id="rId9" Type="http://schemas.openxmlformats.org/officeDocument/2006/relationships/image" Target="../media/image200.png"/><Relationship Id="rId14" Type="http://schemas.openxmlformats.org/officeDocument/2006/relationships/image" Target="../media/image203.png"/><Relationship Id="rId22" Type="http://schemas.openxmlformats.org/officeDocument/2006/relationships/image" Target="../media/image210.png"/><Relationship Id="rId27" Type="http://schemas.openxmlformats.org/officeDocument/2006/relationships/image" Target="../media/image215.png"/><Relationship Id="rId30" Type="http://schemas.openxmlformats.org/officeDocument/2006/relationships/image" Target="../media/image218.png"/><Relationship Id="rId8" Type="http://schemas.openxmlformats.org/officeDocument/2006/relationships/image" Target="../media/image17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4.png"/><Relationship Id="rId3" Type="http://schemas.openxmlformats.org/officeDocument/2006/relationships/image" Target="../media/image1.png"/><Relationship Id="rId7" Type="http://schemas.openxmlformats.org/officeDocument/2006/relationships/image" Target="../media/image2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222.png"/><Relationship Id="rId10" Type="http://schemas.openxmlformats.org/officeDocument/2006/relationships/image" Target="../media/image226.png"/><Relationship Id="rId4" Type="http://schemas.openxmlformats.org/officeDocument/2006/relationships/image" Target="../media/image2.png"/><Relationship Id="rId9" Type="http://schemas.openxmlformats.org/officeDocument/2006/relationships/image" Target="../media/image2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0" y="26194"/>
            <a:ext cx="12192000" cy="6858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4790880" y="1777746"/>
            <a:ext cx="428625" cy="3810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5781480" y="1777746"/>
            <a:ext cx="428625" cy="3810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6814942" y="1777746"/>
            <a:ext cx="342900" cy="381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5386192" y="4083225"/>
            <a:ext cx="1219200" cy="571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5386192" y="4083225"/>
            <a:ext cx="1219200" cy="571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3685399" y="5473825"/>
            <a:ext cx="381000" cy="3810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3780649" y="5588125"/>
            <a:ext cx="1905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6090015" y="5473825"/>
            <a:ext cx="381000" cy="3810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>
            <a:off x="6213840" y="5588125"/>
            <a:ext cx="133350" cy="152400"/>
          </a:xfrm>
          <a:prstGeom prst="rect">
            <a:avLst/>
          </a:prstGeom>
        </p:spPr>
      </p:pic>
      <p:sp>
        <p:nvSpPr>
          <p:cNvPr id="23" name="Text 1"/>
          <p:cNvSpPr/>
          <p:nvPr/>
        </p:nvSpPr>
        <p:spPr>
          <a:xfrm>
            <a:off x="2324589" y="4645517"/>
            <a:ext cx="7353598" cy="309563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2438"/>
              </a:lnSpc>
              <a:buNone/>
              <a:defRPr/>
            </a:pPr>
            <a:r>
              <a:rPr lang="en-US" sz="1600" b="1" dirty="0" err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사용자</a:t>
            </a:r>
            <a:r>
              <a:rPr lang="en-US" sz="1600" b="1" dirty="0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600" b="1" dirty="0" err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중심의</a:t>
            </a:r>
            <a:r>
              <a:rPr lang="en-US" sz="1600" b="1" dirty="0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600" b="1" dirty="0" err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직관적인</a:t>
            </a:r>
            <a:r>
              <a:rPr lang="en-US" sz="1600" b="1" dirty="0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UI/</a:t>
            </a:r>
            <a:r>
              <a:rPr lang="en-US" sz="1600" b="1" dirty="0" err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UX를</a:t>
            </a:r>
            <a:r>
              <a:rPr lang="en-US" sz="1600" b="1" dirty="0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600" b="1" dirty="0" err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갖춘</a:t>
            </a:r>
            <a:r>
              <a:rPr lang="en-US" sz="1600" b="1" dirty="0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600" b="1" dirty="0" err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효율적인</a:t>
            </a:r>
            <a:r>
              <a:rPr lang="en-US" sz="1600" b="1" dirty="0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600" b="1" dirty="0" err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온라인</a:t>
            </a:r>
            <a:r>
              <a:rPr lang="en-US" sz="1600" b="1" dirty="0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600" b="1" dirty="0" err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학습</a:t>
            </a:r>
            <a:r>
              <a:rPr lang="en-US" sz="1600" b="1" dirty="0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600" b="1" dirty="0" err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관리</a:t>
            </a:r>
            <a:r>
              <a:rPr lang="en-US" sz="1600" b="1" dirty="0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600" b="1" dirty="0" err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플랫폼</a:t>
            </a:r>
            <a:endParaRPr lang="en-US" sz="16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4" name="Text 2"/>
          <p:cNvSpPr/>
          <p:nvPr/>
        </p:nvSpPr>
        <p:spPr>
          <a:xfrm>
            <a:off x="4218799" y="5550025"/>
            <a:ext cx="1331059" cy="2286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팀 프레젠테이션</a:t>
            </a:r>
            <a:endParaRPr lang="en-US" sz="1200" b="1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5" name="Text 3"/>
          <p:cNvSpPr/>
          <p:nvPr/>
        </p:nvSpPr>
        <p:spPr>
          <a:xfrm>
            <a:off x="6623415" y="5550025"/>
            <a:ext cx="2353641" cy="2286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2025</a:t>
            </a:r>
            <a:r>
              <a:rPr lang="en-US" altLang="ko-KR" sz="1200" b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.09.03</a:t>
            </a:r>
            <a:r>
              <a:rPr lang="ko-KR" altLang="en-US" sz="1200" b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altLang="ko-KR" sz="1200" b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~</a:t>
            </a:r>
            <a:r>
              <a:rPr lang="ko-KR" altLang="en-US" sz="1200" b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altLang="ko-KR" sz="1200" b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2025.10.14</a:t>
            </a:r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 rotWithShape="1">
          <a:blip r:embed="rId14"/>
          <a:stretch>
            <a:fillRect/>
          </a:stretch>
        </p:blipFill>
        <p:spPr>
          <a:xfrm>
            <a:off x="0" y="0"/>
            <a:ext cx="3333750" cy="2485171"/>
          </a:xfrm>
          <a:prstGeom prst="rect">
            <a:avLst/>
          </a:prstGeom>
        </p:spPr>
      </p:pic>
      <p:pic>
        <p:nvPicPr>
          <p:cNvPr id="28" name="Image 2" descr="preencoded.png"/>
          <p:cNvPicPr>
            <a:picLocks noChangeAspect="1"/>
          </p:cNvPicPr>
          <p:nvPr/>
        </p:nvPicPr>
        <p:blipFill rotWithShape="1">
          <a:blip r:embed="rId15"/>
          <a:stretch>
            <a:fillRect/>
          </a:stretch>
        </p:blipFill>
        <p:spPr>
          <a:xfrm>
            <a:off x="8853292" y="1522952"/>
            <a:ext cx="1905000" cy="476250"/>
          </a:xfrm>
          <a:prstGeom prst="rect">
            <a:avLst/>
          </a:prstGeom>
        </p:spPr>
      </p:pic>
      <p:pic>
        <p:nvPicPr>
          <p:cNvPr id="29" name="Image 1" descr="preencoded.png"/>
          <p:cNvPicPr>
            <a:picLocks noChangeAspect="1"/>
          </p:cNvPicPr>
          <p:nvPr/>
        </p:nvPicPr>
        <p:blipFill rotWithShape="1">
          <a:blip r:embed="rId14"/>
          <a:stretch>
            <a:fillRect/>
          </a:stretch>
        </p:blipFill>
        <p:spPr>
          <a:xfrm rot="10800000">
            <a:off x="7054776" y="4497939"/>
            <a:ext cx="5137224" cy="2485171"/>
          </a:xfrm>
          <a:prstGeom prst="rect">
            <a:avLst/>
          </a:prstGeom>
        </p:spPr>
      </p:pic>
      <p:sp>
        <p:nvSpPr>
          <p:cNvPr id="30" name="Text 0"/>
          <p:cNvSpPr/>
          <p:nvPr/>
        </p:nvSpPr>
        <p:spPr>
          <a:xfrm>
            <a:off x="958557" y="2293623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ct val="120000"/>
              </a:lnSpc>
              <a:buNone/>
              <a:defRPr/>
            </a:pPr>
            <a:r>
              <a:rPr lang="ko-KR" altLang="en-US" sz="45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ui-sans-serif"/>
              </a:rPr>
              <a:t>강사와 학생의 소통 기반</a:t>
            </a:r>
            <a:r>
              <a:rPr lang="en-US" sz="45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ui-sans-serif"/>
              </a:rPr>
              <a:t> </a:t>
            </a:r>
          </a:p>
          <a:p>
            <a:pPr marL="0" indent="0" algn="ctr">
              <a:lnSpc>
                <a:spcPct val="120000"/>
              </a:lnSpc>
              <a:buNone/>
              <a:defRPr/>
            </a:pPr>
            <a:r>
              <a:rPr lang="en-US" sz="45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ui-sans-serif"/>
              </a:rPr>
              <a:t>LMS 프로젝트</a:t>
            </a:r>
            <a:endParaRPr lang="en-US" sz="4500" b="1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1174" y="457200"/>
            <a:ext cx="6096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034" y="1585653"/>
            <a:ext cx="5676900" cy="19621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634" y="1814253"/>
            <a:ext cx="457200" cy="4572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797" y="1909503"/>
            <a:ext cx="142875" cy="266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0034" y="3872957"/>
            <a:ext cx="5676900" cy="2360895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8634" y="4101558"/>
            <a:ext cx="457200" cy="4572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1984" y="4196808"/>
            <a:ext cx="190500" cy="2667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10300" y="1257300"/>
            <a:ext cx="5676900" cy="532638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38900" y="1485900"/>
            <a:ext cx="457200" cy="4572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48438" y="1581150"/>
            <a:ext cx="238125" cy="266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38900" y="2171700"/>
            <a:ext cx="5219700" cy="7429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53200" y="2381250"/>
            <a:ext cx="381000" cy="3810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7025" y="2495550"/>
            <a:ext cx="13335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553200" y="3213215"/>
            <a:ext cx="381000" cy="3810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648450" y="3327515"/>
            <a:ext cx="190500" cy="152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553200" y="4038254"/>
            <a:ext cx="381000" cy="3810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667500" y="4152554"/>
            <a:ext cx="152400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553200" y="4888231"/>
            <a:ext cx="381000" cy="3810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77025" y="5002531"/>
            <a:ext cx="13335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553200" y="5754833"/>
            <a:ext cx="381000" cy="3810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648450" y="5869133"/>
            <a:ext cx="190500" cy="152400"/>
          </a:xfrm>
          <a:prstGeom prst="rect">
            <a:avLst/>
          </a:prstGeom>
        </p:spPr>
      </p:pic>
      <p:sp>
        <p:nvSpPr>
          <p:cNvPr id="30" name="Text 0"/>
          <p:cNvSpPr/>
          <p:nvPr/>
        </p:nvSpPr>
        <p:spPr>
          <a:xfrm>
            <a:off x="304800" y="304800"/>
            <a:ext cx="215276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프로젝트 개요</a:t>
            </a:r>
            <a:endParaRPr lang="en-US" sz="22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1" name="Text 1"/>
          <p:cNvSpPr/>
          <p:nvPr/>
        </p:nvSpPr>
        <p:spPr>
          <a:xfrm>
            <a:off x="304800" y="723900"/>
            <a:ext cx="1158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ko-KR" altLang="en-US" sz="1200" b="1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ui-sans-serif" pitchFamily="34" charset="-120"/>
              </a:rPr>
              <a:t>강사와 학생의 소통 기반</a:t>
            </a:r>
            <a:r>
              <a:rPr lang="en-US" altLang="ko-KR" sz="1200" b="1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ui-sans-serif" pitchFamily="34" charset="-120"/>
              </a:rPr>
              <a:t> </a:t>
            </a:r>
            <a:r>
              <a:rPr lang="en-US" altLang="ko-KR" sz="1200" b="1" dirty="0" smtClean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ui-sans-serif" pitchFamily="34" charset="-120"/>
              </a:rPr>
              <a:t>LMS </a:t>
            </a:r>
            <a:r>
              <a:rPr lang="en-US" altLang="ko-KR" sz="1200" b="1" dirty="0" err="1" smtClean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ui-sans-serif" pitchFamily="34" charset="-120"/>
              </a:rPr>
              <a:t>프로젝트</a:t>
            </a:r>
            <a:r>
              <a:rPr lang="en-US" sz="1200" dirty="0" err="1" smtClean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의</a:t>
            </a:r>
            <a:r>
              <a:rPr lang="en-US" sz="1200" dirty="0" smtClean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20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배경, 목표 및 팀원 구성</a:t>
            </a:r>
            <a:endParaRPr lang="en-US" sz="1200" dirty="0">
              <a:solidFill>
                <a:srgbClr val="67E8F9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2" name="Text 2"/>
          <p:cNvSpPr/>
          <p:nvPr/>
        </p:nvSpPr>
        <p:spPr>
          <a:xfrm>
            <a:off x="1108234" y="1909503"/>
            <a:ext cx="143517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프로젝트 배경</a:t>
            </a:r>
            <a:endParaRPr lang="en-US" sz="15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3" name="Text 3"/>
          <p:cNvSpPr/>
          <p:nvPr/>
        </p:nvSpPr>
        <p:spPr>
          <a:xfrm>
            <a:off x="498634" y="2423853"/>
            <a:ext cx="52197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5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기존 교육 시스템의 한계점 및 </a:t>
            </a:r>
            <a:r>
              <a:rPr lang="en-US" sz="1200" dirty="0">
                <a:solidFill>
                  <a:srgbClr val="0EA5E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비대면 교육 수요 증가</a:t>
            </a:r>
            <a:r>
              <a:rPr lang="en-US" sz="120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의 배경에서, </a:t>
            </a:r>
            <a:endParaRPr lang="en-US" sz="1200" dirty="0" smtClean="0">
              <a:solidFill>
                <a:srgbClr val="E5E7EB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cs typeface="Segoe UI" pitchFamily="34" charset="-120"/>
            </a:endParaRPr>
          </a:p>
          <a:p>
            <a:pPr marL="0" indent="0">
              <a:lnSpc>
                <a:spcPts val="1950"/>
              </a:lnSpc>
              <a:buNone/>
            </a:pPr>
            <a:r>
              <a:rPr lang="en-US" sz="1200" dirty="0" err="1" smtClean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사용자</a:t>
            </a:r>
            <a:r>
              <a:rPr lang="en-US" sz="1200" dirty="0" smtClean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20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중심의 직관적인 UI/UX를 </a:t>
            </a:r>
            <a:r>
              <a:rPr lang="en-US" sz="1200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갖춘</a:t>
            </a:r>
            <a:r>
              <a:rPr lang="en-US" sz="120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endParaRPr lang="en-US" sz="1200" dirty="0" smtClean="0">
              <a:solidFill>
                <a:srgbClr val="E5E7EB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cs typeface="Segoe UI" pitchFamily="34" charset="-120"/>
            </a:endParaRPr>
          </a:p>
          <a:p>
            <a:pPr marL="0" indent="0">
              <a:lnSpc>
                <a:spcPts val="1950"/>
              </a:lnSpc>
              <a:buNone/>
            </a:pPr>
            <a:r>
              <a:rPr lang="en-US" sz="1200" dirty="0" err="1" smtClean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효율적인</a:t>
            </a:r>
            <a:r>
              <a:rPr lang="en-US" sz="1200" dirty="0" smtClean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200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온라인</a:t>
            </a:r>
            <a:r>
              <a:rPr lang="en-US" sz="120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200" dirty="0" err="1" smtClean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학습</a:t>
            </a:r>
            <a:r>
              <a:rPr lang="en-US" sz="1200" dirty="0" smtClean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200" dirty="0" err="1" smtClean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관리</a:t>
            </a:r>
            <a:r>
              <a:rPr lang="en-US" sz="1200" dirty="0" smtClean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200" dirty="0" err="1" smtClean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플랫폼을</a:t>
            </a:r>
            <a:r>
              <a:rPr lang="en-US" sz="1200" dirty="0" smtClean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200" dirty="0" err="1" smtClean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구축하는</a:t>
            </a:r>
            <a:r>
              <a:rPr lang="en-US" sz="1200" dirty="0" smtClean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20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것이 목표입니다.</a:t>
            </a:r>
            <a:endParaRPr lang="en-US" sz="12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4" name="Text 4"/>
          <p:cNvSpPr/>
          <p:nvPr/>
        </p:nvSpPr>
        <p:spPr>
          <a:xfrm>
            <a:off x="1108234" y="4196808"/>
            <a:ext cx="143517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프로젝트 목표</a:t>
            </a:r>
            <a:endParaRPr lang="en-US" sz="15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5" name="Text 5"/>
          <p:cNvSpPr/>
          <p:nvPr/>
        </p:nvSpPr>
        <p:spPr>
          <a:xfrm>
            <a:off x="498634" y="4711158"/>
            <a:ext cx="5219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사용자 중심의 플랫폼 개발</a:t>
            </a:r>
            <a:endParaRPr lang="en-US" sz="12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6" name="Text 6"/>
          <p:cNvSpPr/>
          <p:nvPr/>
        </p:nvSpPr>
        <p:spPr>
          <a:xfrm>
            <a:off x="498634" y="5054058"/>
            <a:ext cx="5219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직관적인 UI/UX 제공</a:t>
            </a:r>
            <a:endParaRPr lang="en-US" sz="12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7" name="Text 7"/>
          <p:cNvSpPr/>
          <p:nvPr/>
        </p:nvSpPr>
        <p:spPr>
          <a:xfrm>
            <a:off x="498634" y="5396958"/>
            <a:ext cx="5219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효율적인 온라인 학습 관리</a:t>
            </a:r>
            <a:endParaRPr lang="en-US" sz="12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8" name="Text 8"/>
          <p:cNvSpPr/>
          <p:nvPr/>
        </p:nvSpPr>
        <p:spPr>
          <a:xfrm>
            <a:off x="498634" y="5739858"/>
            <a:ext cx="5219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비대면 교육의 증가된 수요에 적응</a:t>
            </a:r>
            <a:endParaRPr lang="en-US" sz="12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9" name="Text 9"/>
          <p:cNvSpPr/>
          <p:nvPr/>
        </p:nvSpPr>
        <p:spPr>
          <a:xfrm>
            <a:off x="7048500" y="1581150"/>
            <a:ext cx="127015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팀원 및 역할</a:t>
            </a:r>
            <a:endParaRPr lang="en-US" sz="15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0" name="Text 10"/>
          <p:cNvSpPr/>
          <p:nvPr/>
        </p:nvSpPr>
        <p:spPr>
          <a:xfrm>
            <a:off x="7048500" y="2286000"/>
            <a:ext cx="20892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팀 </a:t>
            </a:r>
            <a:r>
              <a:rPr lang="en-US" sz="1200" dirty="0" err="1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리더</a:t>
            </a:r>
            <a:r>
              <a:rPr lang="en-US" sz="12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[</a:t>
            </a:r>
            <a:r>
              <a:rPr lang="ko-KR" altLang="en-US" sz="1400" dirty="0" err="1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신재진</a:t>
            </a:r>
            <a:r>
              <a:rPr 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]</a:t>
            </a:r>
            <a:endParaRPr lang="en-US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1" name="Text 11"/>
          <p:cNvSpPr/>
          <p:nvPr/>
        </p:nvSpPr>
        <p:spPr>
          <a:xfrm>
            <a:off x="7048500" y="2583526"/>
            <a:ext cx="250709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전체 프로젝트 관리, 팀원 역할 분배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3" name="Text 13"/>
          <p:cNvSpPr/>
          <p:nvPr/>
        </p:nvSpPr>
        <p:spPr>
          <a:xfrm>
            <a:off x="7048500" y="3447704"/>
            <a:ext cx="260496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서버 및 데이터베이스 개발, API 설계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4" name="Text 14"/>
          <p:cNvSpPr/>
          <p:nvPr/>
        </p:nvSpPr>
        <p:spPr>
          <a:xfrm>
            <a:off x="7048499" y="3985952"/>
            <a:ext cx="28187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프론트엔드</a:t>
            </a:r>
            <a:r>
              <a:rPr lang="en-US" sz="1200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개발자</a:t>
            </a:r>
            <a:r>
              <a:rPr lang="en-US" sz="12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[</a:t>
            </a:r>
            <a:r>
              <a:rPr lang="ko-KR" alt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양동현</a:t>
            </a:r>
            <a:r>
              <a:rPr 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][</a:t>
            </a:r>
            <a:r>
              <a:rPr lang="ko-KR" alt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윤서연</a:t>
            </a:r>
            <a:r>
              <a:rPr 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]</a:t>
            </a:r>
            <a:endParaRPr lang="en-US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5" name="Text 15"/>
          <p:cNvSpPr/>
          <p:nvPr/>
        </p:nvSpPr>
        <p:spPr>
          <a:xfrm>
            <a:off x="7048500" y="4272743"/>
            <a:ext cx="25694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UI/UX 개발, 클라이언트 사이드 로직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51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38900" y="3032240"/>
            <a:ext cx="5219700" cy="742950"/>
          </a:xfrm>
          <a:prstGeom prst="rect">
            <a:avLst/>
          </a:prstGeom>
        </p:spPr>
      </p:pic>
      <p:sp>
        <p:nvSpPr>
          <p:cNvPr id="47" name="Text 17"/>
          <p:cNvSpPr/>
          <p:nvPr/>
        </p:nvSpPr>
        <p:spPr>
          <a:xfrm>
            <a:off x="7048500" y="5122720"/>
            <a:ext cx="261389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DB 설계, 쿼리 최적화, 데이터 모델링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8" name="Text 18"/>
          <p:cNvSpPr/>
          <p:nvPr/>
        </p:nvSpPr>
        <p:spPr>
          <a:xfrm>
            <a:off x="7048500" y="5702531"/>
            <a:ext cx="24030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컨텐츠</a:t>
            </a:r>
            <a:r>
              <a:rPr lang="en-US" sz="1200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매니저</a:t>
            </a:r>
            <a:r>
              <a:rPr lang="en-US" sz="12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[</a:t>
            </a:r>
            <a:r>
              <a:rPr lang="ko-KR" altLang="en-US" sz="1400" dirty="0" err="1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신재진</a:t>
            </a:r>
            <a:r>
              <a:rPr 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] [</a:t>
            </a:r>
            <a:r>
              <a:rPr lang="ko-KR" alt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양동현</a:t>
            </a:r>
            <a:r>
              <a:rPr 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]</a:t>
            </a:r>
            <a:endParaRPr lang="en-US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9" name="Text 19"/>
          <p:cNvSpPr/>
          <p:nvPr/>
        </p:nvSpPr>
        <p:spPr>
          <a:xfrm>
            <a:off x="7048500" y="5989322"/>
            <a:ext cx="250709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학습 내용 개발, 교육 커리큘럼 설계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0" name="Text 20"/>
          <p:cNvSpPr/>
          <p:nvPr/>
        </p:nvSpPr>
        <p:spPr>
          <a:xfrm>
            <a:off x="11654284" y="6248400"/>
            <a:ext cx="1017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52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38900" y="3849832"/>
            <a:ext cx="5219700" cy="742950"/>
          </a:xfrm>
          <a:prstGeom prst="rect">
            <a:avLst/>
          </a:prstGeom>
        </p:spPr>
      </p:pic>
      <p:pic>
        <p:nvPicPr>
          <p:cNvPr id="53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38900" y="4712025"/>
            <a:ext cx="5219700" cy="742950"/>
          </a:xfrm>
          <a:prstGeom prst="rect">
            <a:avLst/>
          </a:prstGeom>
        </p:spPr>
      </p:pic>
      <p:pic>
        <p:nvPicPr>
          <p:cNvPr id="5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38900" y="5589097"/>
            <a:ext cx="5219700" cy="742950"/>
          </a:xfrm>
          <a:prstGeom prst="rect">
            <a:avLst/>
          </a:prstGeom>
        </p:spPr>
      </p:pic>
      <p:sp>
        <p:nvSpPr>
          <p:cNvPr id="42" name="Text 12"/>
          <p:cNvSpPr/>
          <p:nvPr/>
        </p:nvSpPr>
        <p:spPr>
          <a:xfrm>
            <a:off x="7048499" y="3160913"/>
            <a:ext cx="3633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백엔드</a:t>
            </a:r>
            <a:r>
              <a:rPr lang="en-US" sz="1200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개발자</a:t>
            </a:r>
            <a:r>
              <a:rPr lang="ko-KR" alt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[</a:t>
            </a:r>
            <a:r>
              <a:rPr lang="ko-KR" altLang="en-US" sz="1400" dirty="0" err="1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강성웅</a:t>
            </a:r>
            <a:r>
              <a:rPr 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] [</a:t>
            </a:r>
            <a:r>
              <a:rPr lang="ko-KR" alt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양동현</a:t>
            </a:r>
            <a:r>
              <a:rPr 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] [</a:t>
            </a:r>
            <a:r>
              <a:rPr lang="ko-KR" alt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이민우</a:t>
            </a:r>
            <a:r>
              <a:rPr 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]</a:t>
            </a:r>
            <a:endParaRPr lang="en-US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6" name="Text 16"/>
          <p:cNvSpPr/>
          <p:nvPr/>
        </p:nvSpPr>
        <p:spPr>
          <a:xfrm>
            <a:off x="7048499" y="4835929"/>
            <a:ext cx="40988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데이터베이스</a:t>
            </a:r>
            <a:r>
              <a:rPr lang="en-US" sz="1200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관리자</a:t>
            </a:r>
            <a:r>
              <a:rPr lang="en-US" sz="12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[</a:t>
            </a:r>
            <a:r>
              <a:rPr lang="ko-KR" altLang="en-US" sz="1400" dirty="0" err="1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신재진</a:t>
            </a:r>
            <a:r>
              <a:rPr 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]</a:t>
            </a:r>
            <a:endParaRPr lang="en-US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2171849" y="361950"/>
            <a:ext cx="6096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28600" y="990600"/>
            <a:ext cx="11734800" cy="1981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381000" y="1181100"/>
            <a:ext cx="133350" cy="1524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381000" y="1447800"/>
            <a:ext cx="11410950" cy="1371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228600" y="3162300"/>
            <a:ext cx="3810000" cy="16383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381000" y="3314700"/>
            <a:ext cx="304800" cy="304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457200" y="3390900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4191000" y="3162300"/>
            <a:ext cx="3810000" cy="16383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>
            <a:off x="4343400" y="3314700"/>
            <a:ext cx="34290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 rotWithShape="1">
          <a:blip r:embed="rId14"/>
          <a:stretch>
            <a:fillRect/>
          </a:stretch>
        </p:blipFill>
        <p:spPr>
          <a:xfrm>
            <a:off x="4419600" y="3390900"/>
            <a:ext cx="1905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 rotWithShape="1">
          <a:blip r:embed="rId15"/>
          <a:stretch>
            <a:fillRect/>
          </a:stretch>
        </p:blipFill>
        <p:spPr>
          <a:xfrm>
            <a:off x="228600" y="4953000"/>
            <a:ext cx="3810000" cy="1447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381000" y="5105400"/>
            <a:ext cx="304800" cy="3048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457200" y="5181600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 rotWithShape="1">
          <a:blip r:embed="rId17"/>
          <a:stretch>
            <a:fillRect/>
          </a:stretch>
        </p:blipFill>
        <p:spPr>
          <a:xfrm>
            <a:off x="4191000" y="4953000"/>
            <a:ext cx="3810000" cy="14478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4343400" y="5105400"/>
            <a:ext cx="304800" cy="3048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 rotWithShape="1">
          <a:blip r:embed="rId18"/>
          <a:stretch>
            <a:fillRect/>
          </a:stretch>
        </p:blipFill>
        <p:spPr>
          <a:xfrm>
            <a:off x="4419600" y="5181600"/>
            <a:ext cx="1524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 rotWithShape="1">
          <a:blip r:embed="rId19"/>
          <a:stretch>
            <a:fillRect/>
          </a:stretch>
        </p:blipFill>
        <p:spPr>
          <a:xfrm>
            <a:off x="8153400" y="3162300"/>
            <a:ext cx="3810000" cy="32385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8305800" y="3314700"/>
            <a:ext cx="304800" cy="3048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 rotWithShape="1">
          <a:blip r:embed="rId20"/>
          <a:stretch>
            <a:fillRect/>
          </a:stretch>
        </p:blipFill>
        <p:spPr>
          <a:xfrm>
            <a:off x="8382000" y="3390900"/>
            <a:ext cx="15240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 rotWithShape="1">
          <a:blip r:embed="rId21"/>
          <a:stretch>
            <a:fillRect/>
          </a:stretch>
        </p:blipFill>
        <p:spPr>
          <a:xfrm>
            <a:off x="8305800" y="3733800"/>
            <a:ext cx="3505200" cy="551872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 rotWithShape="1">
          <a:blip r:embed="rId22"/>
          <a:stretch>
            <a:fillRect/>
          </a:stretch>
        </p:blipFill>
        <p:spPr>
          <a:xfrm>
            <a:off x="8382000" y="3847522"/>
            <a:ext cx="304800" cy="3048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 rotWithShape="1">
          <a:blip r:embed="rId23"/>
          <a:stretch>
            <a:fillRect/>
          </a:stretch>
        </p:blipFill>
        <p:spPr>
          <a:xfrm>
            <a:off x="8467725" y="3923722"/>
            <a:ext cx="133350" cy="152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 rotWithShape="1">
          <a:blip r:embed="rId24"/>
          <a:stretch>
            <a:fillRect/>
          </a:stretch>
        </p:blipFill>
        <p:spPr>
          <a:xfrm>
            <a:off x="8305800" y="4371108"/>
            <a:ext cx="3505200" cy="551872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8382000" y="4484830"/>
            <a:ext cx="304800" cy="3048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8458200" y="4561030"/>
            <a:ext cx="152400" cy="1524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 rotWithShape="1">
          <a:blip r:embed="rId21"/>
          <a:stretch>
            <a:fillRect/>
          </a:stretch>
        </p:blipFill>
        <p:spPr>
          <a:xfrm>
            <a:off x="8305800" y="5008416"/>
            <a:ext cx="3505200" cy="5334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8382000" y="5122138"/>
            <a:ext cx="304800" cy="3048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 rotWithShape="1">
          <a:blip r:embed="rId25"/>
          <a:stretch>
            <a:fillRect/>
          </a:stretch>
        </p:blipFill>
        <p:spPr>
          <a:xfrm>
            <a:off x="8467725" y="5198338"/>
            <a:ext cx="133350" cy="152400"/>
          </a:xfrm>
          <a:prstGeom prst="rect">
            <a:avLst/>
          </a:prstGeom>
        </p:spPr>
      </p:pic>
      <p:sp>
        <p:nvSpPr>
          <p:cNvPr id="33" name="Text 0"/>
          <p:cNvSpPr/>
          <p:nvPr/>
        </p:nvSpPr>
        <p:spPr>
          <a:xfrm>
            <a:off x="228600" y="228600"/>
            <a:ext cx="2149019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400"/>
              </a:lnSpc>
              <a:buNone/>
              <a:defRPr/>
            </a:pPr>
            <a:r>
              <a:rPr lang="en-US" sz="1800" b="1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개발</a:t>
            </a:r>
            <a:r>
              <a:rPr lang="en-US" sz="180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800" b="1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일정</a:t>
            </a:r>
            <a:r>
              <a:rPr lang="en-US" sz="180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및 </a:t>
            </a:r>
            <a:r>
              <a:rPr lang="en-US" sz="1800" b="1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관리</a:t>
            </a:r>
            <a:endParaRPr lang="en-US" sz="18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4" name="Text 1"/>
          <p:cNvSpPr/>
          <p:nvPr/>
        </p:nvSpPr>
        <p:spPr>
          <a:xfrm>
            <a:off x="228600" y="571500"/>
            <a:ext cx="117348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200" b="1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Gantt </a:t>
            </a:r>
            <a:r>
              <a:rPr lang="en-US" sz="1200" b="1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Chart를</a:t>
            </a:r>
            <a:r>
              <a:rPr lang="en-US" sz="1200" b="1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200" b="1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활용한</a:t>
            </a:r>
            <a:r>
              <a:rPr lang="en-US" sz="1200" b="1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200" b="1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프로젝트</a:t>
            </a:r>
            <a:r>
              <a:rPr lang="en-US" sz="1200" b="1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200" b="1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일정</a:t>
            </a:r>
            <a:r>
              <a:rPr lang="en-US" sz="1200" b="1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200" b="1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관리와</a:t>
            </a:r>
            <a:r>
              <a:rPr lang="en-US" sz="1200" b="1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200" b="1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주요</a:t>
            </a:r>
            <a:r>
              <a:rPr lang="en-US" sz="1200" b="1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200" b="1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작업</a:t>
            </a:r>
            <a:r>
              <a:rPr lang="en-US" sz="1200" b="1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200" b="1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내용</a:t>
            </a:r>
            <a:endParaRPr lang="en-US" sz="12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5" name="Text 2"/>
          <p:cNvSpPr/>
          <p:nvPr/>
        </p:nvSpPr>
        <p:spPr>
          <a:xfrm>
            <a:off x="590550" y="1143000"/>
            <a:ext cx="11430000" cy="2286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프로젝트 일정 (8주)</a:t>
            </a:r>
            <a:endParaRPr lang="en-US" sz="1200" b="1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6" name="Text 3"/>
          <p:cNvSpPr/>
          <p:nvPr/>
        </p:nvSpPr>
        <p:spPr>
          <a:xfrm>
            <a:off x="762000" y="3352800"/>
            <a:ext cx="1656100" cy="2286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800"/>
              </a:lnSpc>
              <a:buNone/>
              <a:defRPr/>
            </a:pPr>
            <a:r>
              <a:rPr lang="en-US" sz="120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1단계 (</a:t>
            </a:r>
            <a:r>
              <a:rPr lang="en-US" sz="1200" b="1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기획</a:t>
            </a:r>
            <a:r>
              <a:rPr lang="en-US" sz="120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및 </a:t>
            </a:r>
            <a:r>
              <a:rPr lang="en-US" sz="1200" b="1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설계</a:t>
            </a:r>
            <a:r>
              <a:rPr lang="en-US" sz="120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)</a:t>
            </a:r>
            <a:endParaRPr lang="en-US" sz="12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7" name="Text 4"/>
          <p:cNvSpPr/>
          <p:nvPr/>
        </p:nvSpPr>
        <p:spPr>
          <a:xfrm>
            <a:off x="381000" y="3695700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>
                <a:solidFill>
                  <a:srgbClr val="A5F3FC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기간: 1주차 ~ 2주차</a:t>
            </a:r>
            <a:endParaRPr lang="en-US" sz="900" b="1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8" name="Text 5"/>
          <p:cNvSpPr/>
          <p:nvPr/>
        </p:nvSpPr>
        <p:spPr>
          <a:xfrm>
            <a:off x="533400" y="3924300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요구사항</a:t>
            </a:r>
            <a:r>
              <a:rPr lang="en-US" sz="9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분석</a:t>
            </a:r>
            <a:endParaRPr lang="en-US" sz="9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9" name="Text 6"/>
          <p:cNvSpPr/>
          <p:nvPr/>
        </p:nvSpPr>
        <p:spPr>
          <a:xfrm>
            <a:off x="533400" y="4142508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UI/UX </a:t>
            </a:r>
            <a:r>
              <a:rPr lang="en-US" sz="9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설계</a:t>
            </a:r>
            <a:endParaRPr lang="en-US" sz="9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0" name="Text 7"/>
          <p:cNvSpPr/>
          <p:nvPr/>
        </p:nvSpPr>
        <p:spPr>
          <a:xfrm>
            <a:off x="533400" y="4333008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아키텍처</a:t>
            </a:r>
            <a:r>
              <a:rPr lang="en-US" sz="9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설계</a:t>
            </a:r>
            <a:endParaRPr lang="en-US" sz="9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1" name="Text 8"/>
          <p:cNvSpPr/>
          <p:nvPr/>
        </p:nvSpPr>
        <p:spPr>
          <a:xfrm>
            <a:off x="533400" y="4523508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DB </a:t>
            </a:r>
            <a:r>
              <a:rPr lang="en-US" sz="9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설계</a:t>
            </a:r>
            <a:endParaRPr lang="en-US" sz="9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2" name="Text 9"/>
          <p:cNvSpPr/>
          <p:nvPr/>
        </p:nvSpPr>
        <p:spPr>
          <a:xfrm>
            <a:off x="4762500" y="335280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2단계 (개발)</a:t>
            </a:r>
            <a:endParaRPr lang="en-US" sz="1200" b="1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3" name="Text 10"/>
          <p:cNvSpPr/>
          <p:nvPr/>
        </p:nvSpPr>
        <p:spPr>
          <a:xfrm>
            <a:off x="4343400" y="3695700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>
                <a:solidFill>
                  <a:srgbClr val="A5F3FC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기간: 2주차 ~ 6주차</a:t>
            </a:r>
            <a:endParaRPr lang="en-US" sz="900" b="1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4" name="Text 11"/>
          <p:cNvSpPr/>
          <p:nvPr/>
        </p:nvSpPr>
        <p:spPr>
          <a:xfrm>
            <a:off x="4495800" y="3924300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백엔드</a:t>
            </a:r>
            <a:r>
              <a:rPr lang="en-US" sz="9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: </a:t>
            </a:r>
            <a:r>
              <a:rPr lang="en-US" sz="9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핵심</a:t>
            </a:r>
            <a:r>
              <a:rPr lang="en-US" sz="9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API </a:t>
            </a:r>
            <a:r>
              <a:rPr lang="en-US" sz="9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개발</a:t>
            </a:r>
            <a:r>
              <a:rPr lang="en-US" sz="9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, DB </a:t>
            </a:r>
            <a:r>
              <a:rPr lang="en-US" sz="9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구축</a:t>
            </a:r>
            <a:endParaRPr lang="en-US" sz="9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5" name="Text 12"/>
          <p:cNvSpPr/>
          <p:nvPr/>
        </p:nvSpPr>
        <p:spPr>
          <a:xfrm>
            <a:off x="4495800" y="4142508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프론트엔드</a:t>
            </a:r>
            <a:r>
              <a:rPr lang="en-US" sz="9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: UI </a:t>
            </a:r>
            <a:r>
              <a:rPr lang="en-US" sz="9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컴포넌트</a:t>
            </a:r>
            <a:r>
              <a:rPr lang="en-US" sz="9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개발</a:t>
            </a:r>
            <a:endParaRPr lang="en-US" sz="9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6" name="Text 13"/>
          <p:cNvSpPr/>
          <p:nvPr/>
        </p:nvSpPr>
        <p:spPr>
          <a:xfrm>
            <a:off x="4495800" y="4333008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API </a:t>
            </a:r>
            <a:r>
              <a:rPr lang="en-US" sz="9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연동</a:t>
            </a:r>
            <a:endParaRPr lang="en-US" sz="9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7" name="Text 14"/>
          <p:cNvSpPr/>
          <p:nvPr/>
        </p:nvSpPr>
        <p:spPr>
          <a:xfrm>
            <a:off x="762000" y="5143500"/>
            <a:ext cx="1747540" cy="2286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3단계 (테스트 및 QA)</a:t>
            </a:r>
            <a:endParaRPr lang="en-US" sz="1200" b="1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8" name="Text 15"/>
          <p:cNvSpPr/>
          <p:nvPr/>
        </p:nvSpPr>
        <p:spPr>
          <a:xfrm>
            <a:off x="381000" y="5486400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>
                <a:solidFill>
                  <a:srgbClr val="A5F3FC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기간: 6주차 ~ 7주차</a:t>
            </a:r>
            <a:endParaRPr lang="en-US" sz="900" b="1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9" name="Text 16"/>
          <p:cNvSpPr/>
          <p:nvPr/>
        </p:nvSpPr>
        <p:spPr>
          <a:xfrm>
            <a:off x="533400" y="5715000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단위/통합 테스트</a:t>
            </a:r>
            <a:endParaRPr lang="en-US" sz="900" b="1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0" name="Text 17"/>
          <p:cNvSpPr/>
          <p:nvPr/>
        </p:nvSpPr>
        <p:spPr>
          <a:xfrm>
            <a:off x="533400" y="5933208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버그</a:t>
            </a:r>
            <a:r>
              <a:rPr lang="en-US" sz="9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수정</a:t>
            </a:r>
            <a:endParaRPr lang="en-US" sz="9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1" name="Text 18"/>
          <p:cNvSpPr/>
          <p:nvPr/>
        </p:nvSpPr>
        <p:spPr>
          <a:xfrm>
            <a:off x="533400" y="6123708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품질</a:t>
            </a:r>
            <a:r>
              <a:rPr lang="en-US" sz="9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검증</a:t>
            </a:r>
            <a:endParaRPr lang="en-US" sz="9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2" name="Text 19"/>
          <p:cNvSpPr/>
          <p:nvPr/>
        </p:nvSpPr>
        <p:spPr>
          <a:xfrm>
            <a:off x="4724400" y="5143500"/>
            <a:ext cx="1838980" cy="2286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4단계 (배포 및 안정화)</a:t>
            </a:r>
            <a:endParaRPr lang="en-US" sz="1200" b="1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3" name="Text 20"/>
          <p:cNvSpPr/>
          <p:nvPr/>
        </p:nvSpPr>
        <p:spPr>
          <a:xfrm>
            <a:off x="4343400" y="5486400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>
                <a:solidFill>
                  <a:srgbClr val="A5F3FC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기간: 8주차</a:t>
            </a:r>
            <a:endParaRPr lang="en-US" sz="900" b="1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4" name="Text 21"/>
          <p:cNvSpPr/>
          <p:nvPr/>
        </p:nvSpPr>
        <p:spPr>
          <a:xfrm>
            <a:off x="4495800" y="5715000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서버 배포</a:t>
            </a:r>
            <a:endParaRPr lang="en-US" sz="900" b="1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5" name="Text 22"/>
          <p:cNvSpPr/>
          <p:nvPr/>
        </p:nvSpPr>
        <p:spPr>
          <a:xfrm>
            <a:off x="4495800" y="5933208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최종</a:t>
            </a:r>
            <a:r>
              <a:rPr lang="en-US" sz="9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점검</a:t>
            </a:r>
            <a:endParaRPr lang="en-US" sz="9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6" name="Text 23"/>
          <p:cNvSpPr/>
          <p:nvPr/>
        </p:nvSpPr>
        <p:spPr>
          <a:xfrm>
            <a:off x="4495800" y="6123708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발표</a:t>
            </a:r>
            <a:r>
              <a:rPr lang="en-US" sz="9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준비</a:t>
            </a:r>
            <a:endParaRPr lang="en-US" sz="9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7" name="Text 24"/>
          <p:cNvSpPr/>
          <p:nvPr/>
        </p:nvSpPr>
        <p:spPr>
          <a:xfrm>
            <a:off x="8686800" y="3352800"/>
            <a:ext cx="782419" cy="2286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협업 도구</a:t>
            </a:r>
            <a:endParaRPr lang="en-US" sz="1200" b="1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8" name="Text 25"/>
          <p:cNvSpPr/>
          <p:nvPr/>
        </p:nvSpPr>
        <p:spPr>
          <a:xfrm>
            <a:off x="8763000" y="3810000"/>
            <a:ext cx="86365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Git</a:t>
            </a:r>
            <a:endParaRPr lang="en-US" sz="1050" b="1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9" name="Text 26"/>
          <p:cNvSpPr/>
          <p:nvPr/>
        </p:nvSpPr>
        <p:spPr>
          <a:xfrm>
            <a:off x="8763000" y="4018972"/>
            <a:ext cx="10363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버전</a:t>
            </a:r>
            <a:r>
              <a:rPr lang="en-US" sz="900" b="1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b="1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관리</a:t>
            </a:r>
            <a:r>
              <a:rPr lang="en-US" sz="900" b="1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b="1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</a:t>
            </a:r>
            <a:endParaRPr lang="en-US" sz="9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0" name="Text 27"/>
          <p:cNvSpPr/>
          <p:nvPr/>
        </p:nvSpPr>
        <p:spPr>
          <a:xfrm>
            <a:off x="8763000" y="4447308"/>
            <a:ext cx="13843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Jira</a:t>
            </a:r>
            <a:endParaRPr lang="en-US" sz="1050" b="1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1" name="Text 28"/>
          <p:cNvSpPr/>
          <p:nvPr/>
        </p:nvSpPr>
        <p:spPr>
          <a:xfrm>
            <a:off x="8763000" y="4656280"/>
            <a:ext cx="166127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이슈</a:t>
            </a:r>
            <a:r>
              <a:rPr lang="en-US" sz="900" b="1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b="1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추적</a:t>
            </a:r>
            <a:r>
              <a:rPr lang="en-US" sz="900" b="1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및 </a:t>
            </a:r>
            <a:r>
              <a:rPr lang="en-US" sz="900" b="1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프로젝트</a:t>
            </a:r>
            <a:r>
              <a:rPr lang="en-US" sz="900" b="1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b="1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관리</a:t>
            </a:r>
            <a:endParaRPr lang="en-US" sz="9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2" name="Text 29"/>
          <p:cNvSpPr/>
          <p:nvPr/>
        </p:nvSpPr>
        <p:spPr>
          <a:xfrm>
            <a:off x="8763000" y="5084616"/>
            <a:ext cx="83194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Slack</a:t>
            </a:r>
            <a:endParaRPr lang="en-US" sz="1050" b="1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3" name="Text 30"/>
          <p:cNvSpPr/>
          <p:nvPr/>
        </p:nvSpPr>
        <p:spPr>
          <a:xfrm>
            <a:off x="8763000" y="5293588"/>
            <a:ext cx="99833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팀 </a:t>
            </a:r>
            <a:r>
              <a:rPr lang="en-US" sz="900" b="1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커뮤니케이션</a:t>
            </a:r>
            <a:endParaRPr lang="en-US" sz="9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879699" y="361950"/>
            <a:ext cx="6096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28600" y="990600"/>
            <a:ext cx="3759101" cy="52578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419100" y="1181100"/>
            <a:ext cx="457200" cy="4572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528638" y="1276350"/>
            <a:ext cx="238125" cy="266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419100" y="1790700"/>
            <a:ext cx="3378101" cy="6096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533400" y="1905000"/>
            <a:ext cx="342900" cy="342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609600" y="2000250"/>
            <a:ext cx="1905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419100" y="2514600"/>
            <a:ext cx="3378101" cy="609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533400" y="2628900"/>
            <a:ext cx="342900" cy="3429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628650" y="2724150"/>
            <a:ext cx="1524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419100" y="3238500"/>
            <a:ext cx="3378101" cy="6096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533400" y="3352800"/>
            <a:ext cx="342900" cy="3429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>
            <a:off x="628650" y="3448050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 rotWithShape="1">
          <a:blip r:embed="rId14"/>
          <a:stretch>
            <a:fillRect/>
          </a:stretch>
        </p:blipFill>
        <p:spPr>
          <a:xfrm>
            <a:off x="419100" y="5600700"/>
            <a:ext cx="3378101" cy="4572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 rotWithShape="1">
          <a:blip r:embed="rId15"/>
          <a:stretch>
            <a:fillRect/>
          </a:stretch>
        </p:blipFill>
        <p:spPr>
          <a:xfrm>
            <a:off x="419100" y="5715000"/>
            <a:ext cx="3378101" cy="3429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1489472" y="5810250"/>
            <a:ext cx="1905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 rotWithShape="1">
          <a:blip r:embed="rId17"/>
          <a:stretch>
            <a:fillRect/>
          </a:stretch>
        </p:blipFill>
        <p:spPr>
          <a:xfrm>
            <a:off x="4216301" y="990600"/>
            <a:ext cx="3759250" cy="52578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 rotWithShape="1">
          <a:blip r:embed="rId18"/>
          <a:stretch>
            <a:fillRect/>
          </a:stretch>
        </p:blipFill>
        <p:spPr>
          <a:xfrm>
            <a:off x="4406801" y="1181100"/>
            <a:ext cx="457200" cy="4572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 rotWithShape="1">
          <a:blip r:embed="rId19"/>
          <a:stretch>
            <a:fillRect/>
          </a:stretch>
        </p:blipFill>
        <p:spPr>
          <a:xfrm>
            <a:off x="4516338" y="1276350"/>
            <a:ext cx="238125" cy="2667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 rotWithShape="1">
          <a:blip r:embed="rId20"/>
          <a:stretch>
            <a:fillRect/>
          </a:stretch>
        </p:blipFill>
        <p:spPr>
          <a:xfrm>
            <a:off x="4406801" y="1790700"/>
            <a:ext cx="3378250" cy="6096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 rotWithShape="1">
          <a:blip r:embed="rId21"/>
          <a:stretch>
            <a:fillRect/>
          </a:stretch>
        </p:blipFill>
        <p:spPr>
          <a:xfrm>
            <a:off x="4521101" y="1905000"/>
            <a:ext cx="342900" cy="3429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 rotWithShape="1">
          <a:blip r:embed="rId22"/>
          <a:stretch>
            <a:fillRect/>
          </a:stretch>
        </p:blipFill>
        <p:spPr>
          <a:xfrm>
            <a:off x="4616351" y="2000250"/>
            <a:ext cx="152400" cy="152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 rotWithShape="1">
          <a:blip r:embed="rId20"/>
          <a:stretch>
            <a:fillRect/>
          </a:stretch>
        </p:blipFill>
        <p:spPr>
          <a:xfrm>
            <a:off x="4406801" y="2514600"/>
            <a:ext cx="3378250" cy="6096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 rotWithShape="1">
          <a:blip r:embed="rId21"/>
          <a:stretch>
            <a:fillRect/>
          </a:stretch>
        </p:blipFill>
        <p:spPr>
          <a:xfrm>
            <a:off x="4521101" y="2628900"/>
            <a:ext cx="342900" cy="3429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 rotWithShape="1">
          <a:blip r:embed="rId23"/>
          <a:stretch>
            <a:fillRect/>
          </a:stretch>
        </p:blipFill>
        <p:spPr>
          <a:xfrm>
            <a:off x="4635401" y="2724150"/>
            <a:ext cx="114300" cy="1524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 rotWithShape="1">
          <a:blip r:embed="rId20"/>
          <a:stretch>
            <a:fillRect/>
          </a:stretch>
        </p:blipFill>
        <p:spPr>
          <a:xfrm>
            <a:off x="4406801" y="3238500"/>
            <a:ext cx="3378250" cy="6096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 rotWithShape="1">
          <a:blip r:embed="rId21"/>
          <a:stretch>
            <a:fillRect/>
          </a:stretch>
        </p:blipFill>
        <p:spPr>
          <a:xfrm>
            <a:off x="4521101" y="3352800"/>
            <a:ext cx="342900" cy="3429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 rotWithShape="1">
          <a:blip r:embed="rId24"/>
          <a:stretch>
            <a:fillRect/>
          </a:stretch>
        </p:blipFill>
        <p:spPr>
          <a:xfrm>
            <a:off x="4635401" y="3448050"/>
            <a:ext cx="114300" cy="1524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 rotWithShape="1">
          <a:blip r:embed="rId25"/>
          <a:stretch>
            <a:fillRect/>
          </a:stretch>
        </p:blipFill>
        <p:spPr>
          <a:xfrm>
            <a:off x="4406801" y="3962400"/>
            <a:ext cx="3378250" cy="6096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 rotWithShape="1">
          <a:blip r:embed="rId21"/>
          <a:stretch>
            <a:fillRect/>
          </a:stretch>
        </p:blipFill>
        <p:spPr>
          <a:xfrm>
            <a:off x="4521101" y="4076700"/>
            <a:ext cx="342900" cy="3429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 rotWithShape="1">
          <a:blip r:embed="rId26"/>
          <a:stretch>
            <a:fillRect/>
          </a:stretch>
        </p:blipFill>
        <p:spPr>
          <a:xfrm>
            <a:off x="4597301" y="4171950"/>
            <a:ext cx="190500" cy="1524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 rotWithShape="1">
          <a:blip r:embed="rId27"/>
          <a:stretch>
            <a:fillRect/>
          </a:stretch>
        </p:blipFill>
        <p:spPr>
          <a:xfrm>
            <a:off x="4406801" y="5600700"/>
            <a:ext cx="3378250" cy="4572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 rotWithShape="1">
          <a:blip r:embed="rId28"/>
          <a:stretch>
            <a:fillRect/>
          </a:stretch>
        </p:blipFill>
        <p:spPr>
          <a:xfrm>
            <a:off x="4406801" y="5715000"/>
            <a:ext cx="3378250" cy="3429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5543996" y="5810250"/>
            <a:ext cx="190500" cy="1524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 rotWithShape="1">
          <a:blip r:embed="rId29"/>
          <a:stretch>
            <a:fillRect/>
          </a:stretch>
        </p:blipFill>
        <p:spPr>
          <a:xfrm>
            <a:off x="8204150" y="990600"/>
            <a:ext cx="3759101" cy="525780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 rotWithShape="1">
          <a:blip r:embed="rId30"/>
          <a:stretch>
            <a:fillRect/>
          </a:stretch>
        </p:blipFill>
        <p:spPr>
          <a:xfrm>
            <a:off x="8394650" y="1181100"/>
            <a:ext cx="457200" cy="457200"/>
          </a:xfrm>
          <a:prstGeom prst="rect">
            <a:avLst/>
          </a:prstGeom>
        </p:spPr>
      </p:pic>
      <p:pic>
        <p:nvPicPr>
          <p:cNvPr id="40" name="Image 38" descr="preencoded.png"/>
          <p:cNvPicPr>
            <a:picLocks noChangeAspect="1"/>
          </p:cNvPicPr>
          <p:nvPr/>
        </p:nvPicPr>
        <p:blipFill rotWithShape="1">
          <a:blip r:embed="rId31"/>
          <a:stretch>
            <a:fillRect/>
          </a:stretch>
        </p:blipFill>
        <p:spPr>
          <a:xfrm>
            <a:off x="8528000" y="1276350"/>
            <a:ext cx="190500" cy="266700"/>
          </a:xfrm>
          <a:prstGeom prst="rect">
            <a:avLst/>
          </a:prstGeom>
        </p:spPr>
      </p:pic>
      <p:pic>
        <p:nvPicPr>
          <p:cNvPr id="41" name="Image 39" descr="preencoded.png"/>
          <p:cNvPicPr>
            <a:picLocks noChangeAspect="1"/>
          </p:cNvPicPr>
          <p:nvPr/>
        </p:nvPicPr>
        <p:blipFill rotWithShape="1">
          <a:blip r:embed="rId32"/>
          <a:stretch>
            <a:fillRect/>
          </a:stretch>
        </p:blipFill>
        <p:spPr>
          <a:xfrm>
            <a:off x="8394650" y="1790700"/>
            <a:ext cx="3378101" cy="609600"/>
          </a:xfrm>
          <a:prstGeom prst="rect">
            <a:avLst/>
          </a:prstGeom>
        </p:spPr>
      </p:pic>
      <p:pic>
        <p:nvPicPr>
          <p:cNvPr id="42" name="Image 40" descr="preencoded.png"/>
          <p:cNvPicPr>
            <a:picLocks noChangeAspect="1"/>
          </p:cNvPicPr>
          <p:nvPr/>
        </p:nvPicPr>
        <p:blipFill rotWithShape="1">
          <a:blip r:embed="rId33"/>
          <a:stretch>
            <a:fillRect/>
          </a:stretch>
        </p:blipFill>
        <p:spPr>
          <a:xfrm>
            <a:off x="8508950" y="1905000"/>
            <a:ext cx="342900" cy="342900"/>
          </a:xfrm>
          <a:prstGeom prst="rect">
            <a:avLst/>
          </a:prstGeom>
        </p:spPr>
      </p:pic>
      <p:pic>
        <p:nvPicPr>
          <p:cNvPr id="43" name="Image 41" descr="preencoded.png"/>
          <p:cNvPicPr>
            <a:picLocks noChangeAspect="1"/>
          </p:cNvPicPr>
          <p:nvPr/>
        </p:nvPicPr>
        <p:blipFill rotWithShape="1">
          <a:blip r:embed="rId34"/>
          <a:stretch>
            <a:fillRect/>
          </a:stretch>
        </p:blipFill>
        <p:spPr>
          <a:xfrm>
            <a:off x="8623250" y="2000250"/>
            <a:ext cx="114300" cy="152400"/>
          </a:xfrm>
          <a:prstGeom prst="rect">
            <a:avLst/>
          </a:prstGeom>
        </p:spPr>
      </p:pic>
      <p:pic>
        <p:nvPicPr>
          <p:cNvPr id="45" name="Image 43" descr="preencoded.png"/>
          <p:cNvPicPr>
            <a:picLocks noChangeAspect="1"/>
          </p:cNvPicPr>
          <p:nvPr/>
        </p:nvPicPr>
        <p:blipFill rotWithShape="1">
          <a:blip r:embed="rId33"/>
          <a:stretch>
            <a:fillRect/>
          </a:stretch>
        </p:blipFill>
        <p:spPr>
          <a:xfrm>
            <a:off x="8508950" y="2628900"/>
            <a:ext cx="342900" cy="342900"/>
          </a:xfrm>
          <a:prstGeom prst="rect">
            <a:avLst/>
          </a:prstGeom>
        </p:spPr>
      </p:pic>
      <p:pic>
        <p:nvPicPr>
          <p:cNvPr id="46" name="Image 44" descr="preencoded.png"/>
          <p:cNvPicPr>
            <a:picLocks noChangeAspect="1"/>
          </p:cNvPicPr>
          <p:nvPr/>
        </p:nvPicPr>
        <p:blipFill rotWithShape="1">
          <a:blip r:embed="rId35"/>
          <a:stretch>
            <a:fillRect/>
          </a:stretch>
        </p:blipFill>
        <p:spPr>
          <a:xfrm>
            <a:off x="8604200" y="2724150"/>
            <a:ext cx="152400" cy="152400"/>
          </a:xfrm>
          <a:prstGeom prst="rect">
            <a:avLst/>
          </a:prstGeom>
        </p:spPr>
      </p:pic>
      <p:pic>
        <p:nvPicPr>
          <p:cNvPr id="47" name="Image 45" descr="preencoded.png"/>
          <p:cNvPicPr>
            <a:picLocks noChangeAspect="1"/>
          </p:cNvPicPr>
          <p:nvPr/>
        </p:nvPicPr>
        <p:blipFill rotWithShape="1">
          <a:blip r:embed="rId32"/>
          <a:stretch>
            <a:fillRect/>
          </a:stretch>
        </p:blipFill>
        <p:spPr>
          <a:xfrm>
            <a:off x="8394650" y="3238500"/>
            <a:ext cx="3378101" cy="609600"/>
          </a:xfrm>
          <a:prstGeom prst="rect">
            <a:avLst/>
          </a:prstGeom>
        </p:spPr>
      </p:pic>
      <p:pic>
        <p:nvPicPr>
          <p:cNvPr id="48" name="Image 46" descr="preencoded.png"/>
          <p:cNvPicPr>
            <a:picLocks noChangeAspect="1"/>
          </p:cNvPicPr>
          <p:nvPr/>
        </p:nvPicPr>
        <p:blipFill rotWithShape="1">
          <a:blip r:embed="rId33"/>
          <a:stretch>
            <a:fillRect/>
          </a:stretch>
        </p:blipFill>
        <p:spPr>
          <a:xfrm>
            <a:off x="8508950" y="3352800"/>
            <a:ext cx="342900" cy="342900"/>
          </a:xfrm>
          <a:prstGeom prst="rect">
            <a:avLst/>
          </a:prstGeom>
        </p:spPr>
      </p:pic>
      <p:pic>
        <p:nvPicPr>
          <p:cNvPr id="49" name="Image 47" descr="preencoded.png"/>
          <p:cNvPicPr>
            <a:picLocks noChangeAspect="1"/>
          </p:cNvPicPr>
          <p:nvPr/>
        </p:nvPicPr>
        <p:blipFill rotWithShape="1">
          <a:blip r:embed="rId36"/>
          <a:stretch>
            <a:fillRect/>
          </a:stretch>
        </p:blipFill>
        <p:spPr>
          <a:xfrm>
            <a:off x="8604200" y="3448050"/>
            <a:ext cx="152400" cy="152400"/>
          </a:xfrm>
          <a:prstGeom prst="rect">
            <a:avLst/>
          </a:prstGeom>
        </p:spPr>
      </p:pic>
      <p:pic>
        <p:nvPicPr>
          <p:cNvPr id="50" name="Image 48" descr="preencoded.png"/>
          <p:cNvPicPr>
            <a:picLocks noChangeAspect="1"/>
          </p:cNvPicPr>
          <p:nvPr/>
        </p:nvPicPr>
        <p:blipFill rotWithShape="1">
          <a:blip r:embed="rId32"/>
          <a:stretch>
            <a:fillRect/>
          </a:stretch>
        </p:blipFill>
        <p:spPr>
          <a:xfrm>
            <a:off x="8394650" y="3962400"/>
            <a:ext cx="3378101" cy="609600"/>
          </a:xfrm>
          <a:prstGeom prst="rect">
            <a:avLst/>
          </a:prstGeom>
        </p:spPr>
      </p:pic>
      <p:pic>
        <p:nvPicPr>
          <p:cNvPr id="51" name="Image 49" descr="preencoded.png"/>
          <p:cNvPicPr>
            <a:picLocks noChangeAspect="1"/>
          </p:cNvPicPr>
          <p:nvPr/>
        </p:nvPicPr>
        <p:blipFill rotWithShape="1">
          <a:blip r:embed="rId33"/>
          <a:stretch>
            <a:fillRect/>
          </a:stretch>
        </p:blipFill>
        <p:spPr>
          <a:xfrm>
            <a:off x="8508950" y="4076700"/>
            <a:ext cx="342900" cy="342900"/>
          </a:xfrm>
          <a:prstGeom prst="rect">
            <a:avLst/>
          </a:prstGeom>
        </p:spPr>
      </p:pic>
      <p:pic>
        <p:nvPicPr>
          <p:cNvPr id="52" name="Image 50" descr="preencoded.png"/>
          <p:cNvPicPr>
            <a:picLocks noChangeAspect="1"/>
          </p:cNvPicPr>
          <p:nvPr/>
        </p:nvPicPr>
        <p:blipFill rotWithShape="1">
          <a:blip r:embed="rId37"/>
          <a:stretch>
            <a:fillRect/>
          </a:stretch>
        </p:blipFill>
        <p:spPr>
          <a:xfrm>
            <a:off x="8594675" y="4171950"/>
            <a:ext cx="171450" cy="152400"/>
          </a:xfrm>
          <a:prstGeom prst="rect">
            <a:avLst/>
          </a:prstGeom>
        </p:spPr>
      </p:pic>
      <p:pic>
        <p:nvPicPr>
          <p:cNvPr id="53" name="Image 51" descr="preencoded.png"/>
          <p:cNvPicPr>
            <a:picLocks noChangeAspect="1"/>
          </p:cNvPicPr>
          <p:nvPr/>
        </p:nvPicPr>
        <p:blipFill rotWithShape="1">
          <a:blip r:embed="rId32"/>
          <a:stretch>
            <a:fillRect/>
          </a:stretch>
        </p:blipFill>
        <p:spPr>
          <a:xfrm>
            <a:off x="8394650" y="4686300"/>
            <a:ext cx="3378101" cy="609600"/>
          </a:xfrm>
          <a:prstGeom prst="rect">
            <a:avLst/>
          </a:prstGeom>
        </p:spPr>
      </p:pic>
      <p:pic>
        <p:nvPicPr>
          <p:cNvPr id="54" name="Image 52" descr="preencoded.png"/>
          <p:cNvPicPr>
            <a:picLocks noChangeAspect="1"/>
          </p:cNvPicPr>
          <p:nvPr/>
        </p:nvPicPr>
        <p:blipFill rotWithShape="1">
          <a:blip r:embed="rId33"/>
          <a:stretch>
            <a:fillRect/>
          </a:stretch>
        </p:blipFill>
        <p:spPr>
          <a:xfrm>
            <a:off x="8508950" y="4800600"/>
            <a:ext cx="342900" cy="342900"/>
          </a:xfrm>
          <a:prstGeom prst="rect">
            <a:avLst/>
          </a:prstGeom>
        </p:spPr>
      </p:pic>
      <p:pic>
        <p:nvPicPr>
          <p:cNvPr id="55" name="Image 53" descr="preencoded.png"/>
          <p:cNvPicPr>
            <a:picLocks noChangeAspect="1"/>
          </p:cNvPicPr>
          <p:nvPr/>
        </p:nvPicPr>
        <p:blipFill rotWithShape="1">
          <a:blip r:embed="rId26"/>
          <a:stretch>
            <a:fillRect/>
          </a:stretch>
        </p:blipFill>
        <p:spPr>
          <a:xfrm>
            <a:off x="8585150" y="4895850"/>
            <a:ext cx="190500" cy="152400"/>
          </a:xfrm>
          <a:prstGeom prst="rect">
            <a:avLst/>
          </a:prstGeom>
        </p:spPr>
      </p:pic>
      <p:pic>
        <p:nvPicPr>
          <p:cNvPr id="56" name="Image 54" descr="preencoded.png"/>
          <p:cNvPicPr>
            <a:picLocks noChangeAspect="1"/>
          </p:cNvPicPr>
          <p:nvPr/>
        </p:nvPicPr>
        <p:blipFill rotWithShape="1">
          <a:blip r:embed="rId14"/>
          <a:stretch>
            <a:fillRect/>
          </a:stretch>
        </p:blipFill>
        <p:spPr>
          <a:xfrm>
            <a:off x="8394650" y="5600700"/>
            <a:ext cx="3378101" cy="457200"/>
          </a:xfrm>
          <a:prstGeom prst="rect">
            <a:avLst/>
          </a:prstGeom>
        </p:spPr>
      </p:pic>
      <p:pic>
        <p:nvPicPr>
          <p:cNvPr id="57" name="Image 55" descr="preencoded.png"/>
          <p:cNvPicPr>
            <a:picLocks noChangeAspect="1"/>
          </p:cNvPicPr>
          <p:nvPr/>
        </p:nvPicPr>
        <p:blipFill rotWithShape="1">
          <a:blip r:embed="rId38"/>
          <a:stretch>
            <a:fillRect/>
          </a:stretch>
        </p:blipFill>
        <p:spPr>
          <a:xfrm>
            <a:off x="8394650" y="5715000"/>
            <a:ext cx="3378101" cy="342900"/>
          </a:xfrm>
          <a:prstGeom prst="rect">
            <a:avLst/>
          </a:prstGeom>
        </p:spPr>
      </p:pic>
      <p:pic>
        <p:nvPicPr>
          <p:cNvPr id="58" name="Image 56" descr="preencoded.png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9465022" y="5810250"/>
            <a:ext cx="190500" cy="152400"/>
          </a:xfrm>
          <a:prstGeom prst="rect">
            <a:avLst/>
          </a:prstGeom>
        </p:spPr>
      </p:pic>
      <p:sp>
        <p:nvSpPr>
          <p:cNvPr id="60" name="Text 0"/>
          <p:cNvSpPr/>
          <p:nvPr/>
        </p:nvSpPr>
        <p:spPr>
          <a:xfrm>
            <a:off x="228600" y="228600"/>
            <a:ext cx="1798439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400"/>
              </a:lnSpc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주요 기능 소개</a:t>
            </a:r>
            <a:endParaRPr lang="en-US" sz="18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1" name="Text 1"/>
          <p:cNvSpPr/>
          <p:nvPr/>
        </p:nvSpPr>
        <p:spPr>
          <a:xfrm>
            <a:off x="228600" y="571500"/>
            <a:ext cx="117348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관리자, 교수자, 학습자 세 가지 사용자 역할에 따른 주요 기능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2" name="Text 2"/>
          <p:cNvSpPr/>
          <p:nvPr/>
        </p:nvSpPr>
        <p:spPr>
          <a:xfrm>
            <a:off x="990600" y="1276350"/>
            <a:ext cx="685800" cy="2667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관리자</a:t>
            </a:r>
            <a:endParaRPr lang="en-US" sz="15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3" name="Text 3"/>
          <p:cNvSpPr/>
          <p:nvPr/>
        </p:nvSpPr>
        <p:spPr>
          <a:xfrm>
            <a:off x="990600" y="1905000"/>
            <a:ext cx="259094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사용자/강의 통합 관리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4" name="Text 4"/>
          <p:cNvSpPr/>
          <p:nvPr/>
        </p:nvSpPr>
        <p:spPr>
          <a:xfrm>
            <a:off x="990600" y="2133600"/>
            <a:ext cx="310913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시스템의 사용자 및 강의를 효과적으로 관리합니다.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5" name="Text 5"/>
          <p:cNvSpPr/>
          <p:nvPr/>
        </p:nvSpPr>
        <p:spPr>
          <a:xfrm>
            <a:off x="990600" y="2628900"/>
            <a:ext cx="239404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학습 통계 대시보드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6" name="Text 6"/>
          <p:cNvSpPr/>
          <p:nvPr/>
        </p:nvSpPr>
        <p:spPr>
          <a:xfrm>
            <a:off x="990600" y="2857500"/>
            <a:ext cx="287285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전체 학습 데이터 및 통계 정보를 시각화합니다.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7" name="Text 7"/>
          <p:cNvSpPr/>
          <p:nvPr/>
        </p:nvSpPr>
        <p:spPr>
          <a:xfrm>
            <a:off x="990600" y="3352800"/>
            <a:ext cx="227974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 설정 관리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8" name="Text 8"/>
          <p:cNvSpPr/>
          <p:nvPr/>
        </p:nvSpPr>
        <p:spPr>
          <a:xfrm>
            <a:off x="990600" y="3581400"/>
            <a:ext cx="27356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 환경 설정 및 권한 관리를 수행합니다.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9" name="Text 9"/>
          <p:cNvSpPr/>
          <p:nvPr/>
        </p:nvSpPr>
        <p:spPr>
          <a:xfrm>
            <a:off x="1756172" y="5791200"/>
            <a:ext cx="116461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관리자 대시보드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0" name="Text 10"/>
          <p:cNvSpPr/>
          <p:nvPr/>
        </p:nvSpPr>
        <p:spPr>
          <a:xfrm>
            <a:off x="4978301" y="1276350"/>
            <a:ext cx="685800" cy="2667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교수자</a:t>
            </a:r>
            <a:endParaRPr lang="en-US" sz="15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4978301" y="1905000"/>
            <a:ext cx="18415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 개설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2" name="Text 12"/>
          <p:cNvSpPr/>
          <p:nvPr/>
        </p:nvSpPr>
        <p:spPr>
          <a:xfrm>
            <a:off x="4978301" y="2133600"/>
            <a:ext cx="220991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새로운 강의를 생성하고 관리합니다.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3" name="Text 13"/>
          <p:cNvSpPr/>
          <p:nvPr/>
        </p:nvSpPr>
        <p:spPr>
          <a:xfrm>
            <a:off x="4978301" y="2628900"/>
            <a:ext cx="24575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콘텐츠 관리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4" name="Text 14"/>
          <p:cNvSpPr/>
          <p:nvPr/>
        </p:nvSpPr>
        <p:spPr>
          <a:xfrm>
            <a:off x="4978301" y="2857500"/>
            <a:ext cx="294911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영상, 문서, 퀴즈 등 다양한 콘텐츠를 관리합니다.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5" name="Text 15"/>
          <p:cNvSpPr/>
          <p:nvPr/>
        </p:nvSpPr>
        <p:spPr>
          <a:xfrm>
            <a:off x="4978301" y="3352800"/>
            <a:ext cx="24448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수강생 성적 및 진도 관리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6" name="Text 16"/>
          <p:cNvSpPr/>
          <p:nvPr/>
        </p:nvSpPr>
        <p:spPr>
          <a:xfrm>
            <a:off x="4978301" y="3581400"/>
            <a:ext cx="293376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수강생의 학습 상태를 모니터링하고 평가합니다.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7" name="Text 17"/>
          <p:cNvSpPr/>
          <p:nvPr/>
        </p:nvSpPr>
        <p:spPr>
          <a:xfrm>
            <a:off x="4978301" y="4076700"/>
            <a:ext cx="247664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피드백 제공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8" name="Text 18"/>
          <p:cNvSpPr/>
          <p:nvPr/>
        </p:nvSpPr>
        <p:spPr>
          <a:xfrm>
            <a:off x="4978301" y="4305300"/>
            <a:ext cx="297197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학습자의 과제와 활동에 대한 피드백을 남깁니다.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9" name="Text 19"/>
          <p:cNvSpPr/>
          <p:nvPr/>
        </p:nvSpPr>
        <p:spPr>
          <a:xfrm>
            <a:off x="5810696" y="5791200"/>
            <a:ext cx="100459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교수자 강의실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0" name="Text 20"/>
          <p:cNvSpPr/>
          <p:nvPr/>
        </p:nvSpPr>
        <p:spPr>
          <a:xfrm>
            <a:off x="8966150" y="1276350"/>
            <a:ext cx="685800" cy="2667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학습자</a:t>
            </a:r>
            <a:endParaRPr lang="en-US" sz="15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1" name="Text 21"/>
          <p:cNvSpPr/>
          <p:nvPr/>
        </p:nvSpPr>
        <p:spPr>
          <a:xfrm>
            <a:off x="8966150" y="1905000"/>
            <a:ext cx="22162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수강 신청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2" name="Text 22"/>
          <p:cNvSpPr/>
          <p:nvPr/>
        </p:nvSpPr>
        <p:spPr>
          <a:xfrm>
            <a:off x="8966150" y="2133600"/>
            <a:ext cx="265944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원하는 강의에 신청하고 수강을 시작합니다.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3" name="Text 23"/>
          <p:cNvSpPr/>
          <p:nvPr/>
        </p:nvSpPr>
        <p:spPr>
          <a:xfrm>
            <a:off x="8966150" y="2628900"/>
            <a:ext cx="2692301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 수강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4" name="Text 24"/>
          <p:cNvSpPr/>
          <p:nvPr/>
        </p:nvSpPr>
        <p:spPr>
          <a:xfrm>
            <a:off x="8966150" y="2857500"/>
            <a:ext cx="2692301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비디오, 문서 등 다양한 형태의 강의 내용을 수강합니다.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5" name="Text 25"/>
          <p:cNvSpPr/>
          <p:nvPr/>
        </p:nvSpPr>
        <p:spPr>
          <a:xfrm>
            <a:off x="8966150" y="3352800"/>
            <a:ext cx="22162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과제/퀴즈 제출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6" name="Text 26"/>
          <p:cNvSpPr/>
          <p:nvPr/>
        </p:nvSpPr>
        <p:spPr>
          <a:xfrm>
            <a:off x="8966150" y="3581400"/>
            <a:ext cx="265944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출제된 과제와 퀴즈에 답변하고 제출합니다.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7" name="Text 27"/>
          <p:cNvSpPr/>
          <p:nvPr/>
        </p:nvSpPr>
        <p:spPr>
          <a:xfrm>
            <a:off x="8966150" y="4076700"/>
            <a:ext cx="1873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학습 대시보드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8" name="Text 28"/>
          <p:cNvSpPr/>
          <p:nvPr/>
        </p:nvSpPr>
        <p:spPr>
          <a:xfrm>
            <a:off x="8966150" y="4305300"/>
            <a:ext cx="224796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개인 학습 진도와 결과를 확인합니다.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9" name="Text 29"/>
          <p:cNvSpPr/>
          <p:nvPr/>
        </p:nvSpPr>
        <p:spPr>
          <a:xfrm>
            <a:off x="8966150" y="4800600"/>
            <a:ext cx="1873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소통 및 커뮤니티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90" name="Text 30"/>
          <p:cNvSpPr/>
          <p:nvPr/>
        </p:nvSpPr>
        <p:spPr>
          <a:xfrm>
            <a:off x="8966150" y="5029200"/>
            <a:ext cx="224796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교수자 및 다른 학습자와 소통합니다.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91" name="Text 31"/>
          <p:cNvSpPr/>
          <p:nvPr/>
        </p:nvSpPr>
        <p:spPr>
          <a:xfrm>
            <a:off x="9731722" y="5791200"/>
            <a:ext cx="116461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학습자 대시보드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92" name="Image 39" descr="preencoded.png"/>
          <p:cNvPicPr>
            <a:picLocks noChangeAspect="1"/>
          </p:cNvPicPr>
          <p:nvPr/>
        </p:nvPicPr>
        <p:blipFill rotWithShape="1">
          <a:blip r:embed="rId32"/>
          <a:stretch>
            <a:fillRect/>
          </a:stretch>
        </p:blipFill>
        <p:spPr>
          <a:xfrm>
            <a:off x="8394650" y="2514600"/>
            <a:ext cx="3378101" cy="609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228600" y="990600"/>
            <a:ext cx="7759601" cy="49911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381000" y="1143000"/>
            <a:ext cx="7454801" cy="342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8178701" y="990600"/>
            <a:ext cx="3784699" cy="49911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8331101" y="1143000"/>
            <a:ext cx="3479899" cy="342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8407301" y="1704975"/>
            <a:ext cx="171450" cy="1333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8407301" y="2276475"/>
            <a:ext cx="171450" cy="1333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8407301" y="3000375"/>
            <a:ext cx="133350" cy="1333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8407301" y="3571875"/>
            <a:ext cx="104775" cy="1333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>
            <a:off x="8407301" y="4143375"/>
            <a:ext cx="133350" cy="1333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 rotWithShape="1">
          <a:blip r:embed="rId14"/>
          <a:stretch>
            <a:fillRect/>
          </a:stretch>
        </p:blipFill>
        <p:spPr>
          <a:xfrm>
            <a:off x="8331101" y="4686300"/>
            <a:ext cx="3479899" cy="11430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 rotWithShape="1">
          <a:blip r:embed="rId15"/>
          <a:stretch>
            <a:fillRect/>
          </a:stretch>
        </p:blipFill>
        <p:spPr>
          <a:xfrm>
            <a:off x="8331101" y="4829175"/>
            <a:ext cx="152400" cy="13335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8331101" y="5067300"/>
            <a:ext cx="1701850" cy="3429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 rotWithShape="1">
          <a:blip r:embed="rId17"/>
          <a:stretch>
            <a:fillRect/>
          </a:stretch>
        </p:blipFill>
        <p:spPr>
          <a:xfrm>
            <a:off x="8382000" y="5143500"/>
            <a:ext cx="236189" cy="1905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 rotWithShape="1">
          <a:blip r:embed="rId18"/>
          <a:stretch>
            <a:fillRect/>
          </a:stretch>
        </p:blipFill>
        <p:spPr>
          <a:xfrm>
            <a:off x="10109150" y="5067300"/>
            <a:ext cx="1701850" cy="3429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8331101" y="5486400"/>
            <a:ext cx="1701850" cy="3429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 rotWithShape="1">
          <a:blip r:embed="rId17"/>
          <a:stretch>
            <a:fillRect/>
          </a:stretch>
        </p:blipFill>
        <p:spPr>
          <a:xfrm>
            <a:off x="8407300" y="5562600"/>
            <a:ext cx="319087" cy="200025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 rotWithShape="1">
          <a:blip r:embed="rId18"/>
          <a:stretch>
            <a:fillRect/>
          </a:stretch>
        </p:blipFill>
        <p:spPr>
          <a:xfrm>
            <a:off x="10109150" y="5486400"/>
            <a:ext cx="1701850" cy="3429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 rotWithShape="1">
          <a:blip r:embed="rId19"/>
          <a:stretch>
            <a:fillRect/>
          </a:stretch>
        </p:blipFill>
        <p:spPr>
          <a:xfrm>
            <a:off x="10166010" y="5562600"/>
            <a:ext cx="228890" cy="190500"/>
          </a:xfrm>
          <a:prstGeom prst="rect">
            <a:avLst/>
          </a:prstGeom>
        </p:spPr>
      </p:pic>
      <p:sp>
        <p:nvSpPr>
          <p:cNvPr id="27" name="Text 1"/>
          <p:cNvSpPr/>
          <p:nvPr/>
        </p:nvSpPr>
        <p:spPr>
          <a:xfrm>
            <a:off x="228600" y="571500"/>
            <a:ext cx="117348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강사와 학생의 소통 기반 </a:t>
            </a:r>
            <a:r>
              <a:rPr lang="en-US" altLang="ko-KR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LMS</a:t>
            </a: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ko-KR" alt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플렛폼</a:t>
            </a: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데이터베이스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구조와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테이블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간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관계도</a:t>
            </a:r>
            <a:endParaRPr lang="en-US" sz="1050" dirty="0">
              <a:solidFill>
                <a:srgbClr val="67E8F9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cs typeface="Segoe UI"/>
            </a:endParaRPr>
          </a:p>
        </p:txBody>
      </p:sp>
      <p:sp>
        <p:nvSpPr>
          <p:cNvPr id="28" name="Text 2"/>
          <p:cNvSpPr/>
          <p:nvPr/>
        </p:nvSpPr>
        <p:spPr>
          <a:xfrm>
            <a:off x="381000" y="1143000"/>
            <a:ext cx="7454801" cy="3429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100"/>
              </a:lnSpc>
              <a:buNone/>
              <a:defRPr/>
            </a:pPr>
            <a:r>
              <a:rPr lang="ko-KR" altLang="en-US" sz="13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관리자 페이지 클래스 다이어그램</a:t>
            </a:r>
          </a:p>
        </p:txBody>
      </p:sp>
      <p:sp>
        <p:nvSpPr>
          <p:cNvPr id="29" name="Text 3"/>
          <p:cNvSpPr/>
          <p:nvPr/>
        </p:nvSpPr>
        <p:spPr>
          <a:xfrm>
            <a:off x="8331101" y="1143000"/>
            <a:ext cx="3479899" cy="3429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100"/>
              </a:lnSpc>
              <a:buNone/>
              <a:defRPr/>
            </a:pPr>
            <a:r>
              <a:rPr lang="en-US" sz="13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주요 엔티티 및 관계</a:t>
            </a:r>
            <a:endParaRPr lang="en-US" sz="13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0" name="Text 4"/>
          <p:cNvSpPr/>
          <p:nvPr/>
        </p:nvSpPr>
        <p:spPr>
          <a:xfrm>
            <a:off x="8654951" y="16764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Users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1" name="Text 5"/>
          <p:cNvSpPr/>
          <p:nvPr/>
        </p:nvSpPr>
        <p:spPr>
          <a:xfrm>
            <a:off x="8407301" y="1916778"/>
            <a:ext cx="39929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 사용자 정보. 교수자/학습자로 구분됩니다.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2" name="Text 6"/>
          <p:cNvSpPr/>
          <p:nvPr/>
        </p:nvSpPr>
        <p:spPr>
          <a:xfrm>
            <a:off x="8654951" y="22479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Courses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3" name="Text 7"/>
          <p:cNvSpPr/>
          <p:nvPr/>
        </p:nvSpPr>
        <p:spPr>
          <a:xfrm>
            <a:off x="8407301" y="2496590"/>
            <a:ext cx="3327499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정보를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담고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있는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테이블입니다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 </a:t>
            </a:r>
            <a:endParaRPr lang="en-US" sz="900" dirty="0" smtClean="0">
              <a:solidFill>
                <a:srgbClr val="D1D5DB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cs typeface="Segoe UI"/>
            </a:endParaRPr>
          </a:p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교수자별</a:t>
            </a:r>
            <a:r>
              <a:rPr lang="en-US" sz="900" dirty="0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개설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가능합니다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4" name="Text 8"/>
          <p:cNvSpPr/>
          <p:nvPr/>
        </p:nvSpPr>
        <p:spPr>
          <a:xfrm>
            <a:off x="8616851" y="29718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Lectures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5" name="Text 9"/>
          <p:cNvSpPr/>
          <p:nvPr/>
        </p:nvSpPr>
        <p:spPr>
          <a:xfrm>
            <a:off x="8407301" y="3212178"/>
            <a:ext cx="39929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강의의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개별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수업입니다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강의당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여러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수업이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포함됩니다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6" name="Text 10"/>
          <p:cNvSpPr/>
          <p:nvPr/>
        </p:nvSpPr>
        <p:spPr>
          <a:xfrm>
            <a:off x="8588276" y="35433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Enrollments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7" name="Text 11"/>
          <p:cNvSpPr/>
          <p:nvPr/>
        </p:nvSpPr>
        <p:spPr>
          <a:xfrm>
            <a:off x="8407301" y="3808614"/>
            <a:ext cx="39929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수강신청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테이블입니다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학습자는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여러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강의에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등록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가능합니다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8" name="Text 12"/>
          <p:cNvSpPr/>
          <p:nvPr/>
        </p:nvSpPr>
        <p:spPr>
          <a:xfrm>
            <a:off x="8616851" y="41148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Submissions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9" name="Text 13"/>
          <p:cNvSpPr/>
          <p:nvPr/>
        </p:nvSpPr>
        <p:spPr>
          <a:xfrm>
            <a:off x="8407301" y="4380114"/>
            <a:ext cx="39929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과제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/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퀴즈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제출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정보를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담고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있는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테이블입니다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0" name="Text 14"/>
          <p:cNvSpPr/>
          <p:nvPr/>
        </p:nvSpPr>
        <p:spPr>
          <a:xfrm>
            <a:off x="8559701" y="4800600"/>
            <a:ext cx="34798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관계 표현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1" name="Text 15"/>
          <p:cNvSpPr/>
          <p:nvPr/>
        </p:nvSpPr>
        <p:spPr>
          <a:xfrm>
            <a:off x="8419951" y="5162550"/>
            <a:ext cx="19823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1:1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2" name="Text 16"/>
          <p:cNvSpPr/>
          <p:nvPr/>
        </p:nvSpPr>
        <p:spPr>
          <a:xfrm>
            <a:off x="8726387" y="5162550"/>
            <a:ext cx="4114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일대일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3" name="Text 17"/>
          <p:cNvSpPr/>
          <p:nvPr/>
        </p:nvSpPr>
        <p:spPr>
          <a:xfrm>
            <a:off x="10236936" y="5168439"/>
            <a:ext cx="2210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1:N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4" name="Text 18"/>
          <p:cNvSpPr/>
          <p:nvPr/>
        </p:nvSpPr>
        <p:spPr>
          <a:xfrm>
            <a:off x="10548595" y="5162550"/>
            <a:ext cx="4114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일대다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5" name="Text 19"/>
          <p:cNvSpPr/>
          <p:nvPr/>
        </p:nvSpPr>
        <p:spPr>
          <a:xfrm>
            <a:off x="8459688" y="5583467"/>
            <a:ext cx="279350" cy="142875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M:N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6" name="Text 20"/>
          <p:cNvSpPr/>
          <p:nvPr/>
        </p:nvSpPr>
        <p:spPr>
          <a:xfrm>
            <a:off x="8802587" y="5581650"/>
            <a:ext cx="4114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다대다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7" name="Text 21"/>
          <p:cNvSpPr/>
          <p:nvPr/>
        </p:nvSpPr>
        <p:spPr>
          <a:xfrm>
            <a:off x="10204400" y="5581650"/>
            <a:ext cx="1828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FK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8" name="Text 22"/>
          <p:cNvSpPr/>
          <p:nvPr/>
        </p:nvSpPr>
        <p:spPr>
          <a:xfrm>
            <a:off x="10471099" y="5583467"/>
            <a:ext cx="4114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외래키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50" name="그림 49"/>
          <p:cNvPicPr>
            <a:picLocks noChangeAspect="1"/>
          </p:cNvPicPr>
          <p:nvPr/>
        </p:nvPicPr>
        <p:blipFill rotWithShape="1">
          <a:blip r:embed="rId20"/>
          <a:stretch>
            <a:fillRect/>
          </a:stretch>
        </p:blipFill>
        <p:spPr>
          <a:xfrm>
            <a:off x="327050" y="1612948"/>
            <a:ext cx="7508751" cy="4184554"/>
          </a:xfrm>
          <a:prstGeom prst="rect">
            <a:avLst/>
          </a:prstGeom>
        </p:spPr>
      </p:pic>
      <p:pic>
        <p:nvPicPr>
          <p:cNvPr id="51" name="Image 2" descr="preencoded.png"/>
          <p:cNvPicPr>
            <a:picLocks noChangeAspect="1"/>
          </p:cNvPicPr>
          <p:nvPr/>
        </p:nvPicPr>
        <p:blipFill rotWithShape="1">
          <a:blip r:embed="rId21"/>
          <a:stretch>
            <a:fillRect/>
          </a:stretch>
        </p:blipFill>
        <p:spPr>
          <a:xfrm>
            <a:off x="3683050" y="361950"/>
            <a:ext cx="609600" cy="38100"/>
          </a:xfrm>
          <a:prstGeom prst="rect">
            <a:avLst/>
          </a:prstGeom>
        </p:spPr>
      </p:pic>
      <p:sp>
        <p:nvSpPr>
          <p:cNvPr id="52" name="Text 0"/>
          <p:cNvSpPr/>
          <p:nvPr/>
        </p:nvSpPr>
        <p:spPr>
          <a:xfrm>
            <a:off x="228600" y="228600"/>
            <a:ext cx="3962460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400"/>
              </a:lnSpc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 설계 - 클래스 다이어그램</a:t>
            </a:r>
            <a:endParaRPr lang="en-US" sz="18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49" name="Image 20" descr="preencoded.png"/>
          <p:cNvPicPr>
            <a:picLocks noChangeAspect="1"/>
          </p:cNvPicPr>
          <p:nvPr/>
        </p:nvPicPr>
        <p:blipFill rotWithShape="1">
          <a:blip r:embed="rId17"/>
          <a:stretch>
            <a:fillRect/>
          </a:stretch>
        </p:blipFill>
        <p:spPr>
          <a:xfrm>
            <a:off x="10166010" y="5147743"/>
            <a:ext cx="311147" cy="2000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3050" y="361950"/>
            <a:ext cx="6096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990600"/>
            <a:ext cx="11734800" cy="4191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1524000"/>
            <a:ext cx="11734800" cy="28575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600" y="5067300"/>
            <a:ext cx="11734800" cy="1514475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2900" y="5265224"/>
            <a:ext cx="133350" cy="155902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2900" y="5523660"/>
            <a:ext cx="5695950" cy="40089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9100" y="5641601"/>
            <a:ext cx="152400" cy="178174"/>
          </a:xfrm>
          <a:prstGeom prst="rect">
            <a:avLst/>
          </a:prstGeom>
        </p:spPr>
      </p:pic>
      <p:pic>
        <p:nvPicPr>
          <p:cNvPr id="40" name="Image 3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53150" y="5523660"/>
            <a:ext cx="5695950" cy="400890"/>
          </a:xfrm>
          <a:prstGeom prst="rect">
            <a:avLst/>
          </a:prstGeom>
        </p:spPr>
      </p:pic>
      <p:pic>
        <p:nvPicPr>
          <p:cNvPr id="41" name="Image 3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29350" y="5641601"/>
            <a:ext cx="152400" cy="178174"/>
          </a:xfrm>
          <a:prstGeom prst="rect">
            <a:avLst/>
          </a:prstGeom>
        </p:spPr>
      </p:pic>
      <p:pic>
        <p:nvPicPr>
          <p:cNvPr id="42" name="Image 4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2900" y="5980860"/>
            <a:ext cx="5695950" cy="400890"/>
          </a:xfrm>
          <a:prstGeom prst="rect">
            <a:avLst/>
          </a:prstGeom>
        </p:spPr>
      </p:pic>
      <p:pic>
        <p:nvPicPr>
          <p:cNvPr id="43" name="Image 4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9100" y="6098801"/>
            <a:ext cx="171450" cy="178174"/>
          </a:xfrm>
          <a:prstGeom prst="rect">
            <a:avLst/>
          </a:prstGeom>
        </p:spPr>
      </p:pic>
      <p:pic>
        <p:nvPicPr>
          <p:cNvPr id="44" name="Image 4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153150" y="5980860"/>
            <a:ext cx="5695950" cy="400890"/>
          </a:xfrm>
          <a:prstGeom prst="rect">
            <a:avLst/>
          </a:prstGeom>
        </p:spPr>
      </p:pic>
      <p:pic>
        <p:nvPicPr>
          <p:cNvPr id="45" name="Image 4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29350" y="6098801"/>
            <a:ext cx="190500" cy="178174"/>
          </a:xfrm>
          <a:prstGeom prst="rect">
            <a:avLst/>
          </a:prstGeom>
        </p:spPr>
      </p:pic>
      <p:sp>
        <p:nvSpPr>
          <p:cNvPr id="47" name="Text 0"/>
          <p:cNvSpPr/>
          <p:nvPr/>
        </p:nvSpPr>
        <p:spPr>
          <a:xfrm>
            <a:off x="228600" y="228600"/>
            <a:ext cx="39624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시스템 설계 - 클래스 다이어그램</a:t>
            </a:r>
            <a:endParaRPr lang="en-US" sz="18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8" name="Text 1"/>
          <p:cNvSpPr/>
          <p:nvPr/>
        </p:nvSpPr>
        <p:spPr>
          <a:xfrm>
            <a:off x="228600" y="571500"/>
            <a:ext cx="1173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계층형 아키텍처 기반 LearnUp LMS의 주요 객체 구조 및 관계도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9" name="Text 2"/>
          <p:cNvSpPr/>
          <p:nvPr/>
        </p:nvSpPr>
        <p:spPr>
          <a:xfrm>
            <a:off x="342900" y="1104900"/>
            <a:ext cx="1380744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백엔드 시스템의 주요 객체(클래스)들의 구조와 관계, 각 클래스가 가지는 속성(Attribute)과 메서드(Method)를 통해 MVC 패턴이나 </a:t>
            </a:r>
            <a:r>
              <a:rPr lang="en-US" sz="1050" dirty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계층형 아키텍처(Layered Architecture)</a:t>
            </a:r>
            <a:r>
              <a:rPr lang="en-US" sz="105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를 설명합니다.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6" name="Text 39"/>
          <p:cNvSpPr/>
          <p:nvPr/>
        </p:nvSpPr>
        <p:spPr>
          <a:xfrm>
            <a:off x="552450" y="5226984"/>
            <a:ext cx="11506200" cy="2227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클래스 다이어그램의 주요 특징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7" name="Text 40"/>
          <p:cNvSpPr/>
          <p:nvPr/>
        </p:nvSpPr>
        <p:spPr>
          <a:xfrm>
            <a:off x="666750" y="5651126"/>
            <a:ext cx="4611112" cy="178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Controller는 Service에 의존(Dependency)하여 비즈니스 로직을 처리합니다.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8" name="Text 41"/>
          <p:cNvSpPr/>
          <p:nvPr/>
        </p:nvSpPr>
        <p:spPr>
          <a:xfrm>
            <a:off x="6457950" y="5660651"/>
            <a:ext cx="3498116" cy="178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Service는 Repository를 통해 데이터베이스와 통신합니다.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9" name="Text 42"/>
          <p:cNvSpPr/>
          <p:nvPr/>
        </p:nvSpPr>
        <p:spPr>
          <a:xfrm>
            <a:off x="685800" y="6108326"/>
            <a:ext cx="4694694" cy="178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계층형 아키텍처(Layered Architecture)로 구성하여 유지보수성을 높였습니다.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90" name="Text 43"/>
          <p:cNvSpPr/>
          <p:nvPr/>
        </p:nvSpPr>
        <p:spPr>
          <a:xfrm>
            <a:off x="6515100" y="6108326"/>
            <a:ext cx="3863697" cy="178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도메인 객체(User, Course)는 핵심 비즈니스 로직을 포함합니다.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92" name="그림 91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1069213" y="1478756"/>
            <a:ext cx="9939273" cy="367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5972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7350" y="361950"/>
            <a:ext cx="6096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990600"/>
            <a:ext cx="11734800" cy="5334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1676400"/>
            <a:ext cx="11734800" cy="30480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600" y="4876800"/>
            <a:ext cx="11734800" cy="16383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1000" y="5067300"/>
            <a:ext cx="152400" cy="1524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1000" y="5372100"/>
            <a:ext cx="5638800" cy="4191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5300" y="5505450"/>
            <a:ext cx="152400" cy="15240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72200" y="5372100"/>
            <a:ext cx="5638800" cy="419100"/>
          </a:xfrm>
          <a:prstGeom prst="rect">
            <a:avLst/>
          </a:prstGeom>
        </p:spPr>
      </p:pic>
      <p:pic>
        <p:nvPicPr>
          <p:cNvPr id="40" name="Image 3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86500" y="5505450"/>
            <a:ext cx="152400" cy="152400"/>
          </a:xfrm>
          <a:prstGeom prst="rect">
            <a:avLst/>
          </a:prstGeom>
        </p:spPr>
      </p:pic>
      <p:pic>
        <p:nvPicPr>
          <p:cNvPr id="41" name="Image 3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1000" y="5943600"/>
            <a:ext cx="5638800" cy="419100"/>
          </a:xfrm>
          <a:prstGeom prst="rect">
            <a:avLst/>
          </a:prstGeom>
        </p:spPr>
      </p:pic>
      <p:pic>
        <p:nvPicPr>
          <p:cNvPr id="42" name="Image 4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95300" y="6076950"/>
            <a:ext cx="171450" cy="152400"/>
          </a:xfrm>
          <a:prstGeom prst="rect">
            <a:avLst/>
          </a:prstGeom>
        </p:spPr>
      </p:pic>
      <p:pic>
        <p:nvPicPr>
          <p:cNvPr id="43" name="Image 4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72200" y="5943600"/>
            <a:ext cx="5638800" cy="419100"/>
          </a:xfrm>
          <a:prstGeom prst="rect">
            <a:avLst/>
          </a:prstGeom>
        </p:spPr>
      </p:pic>
      <p:pic>
        <p:nvPicPr>
          <p:cNvPr id="44" name="Image 4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86500" y="6076950"/>
            <a:ext cx="152400" cy="152400"/>
          </a:xfrm>
          <a:prstGeom prst="rect">
            <a:avLst/>
          </a:prstGeom>
        </p:spPr>
      </p:pic>
      <p:sp>
        <p:nvSpPr>
          <p:cNvPr id="46" name="Text 0"/>
          <p:cNvSpPr/>
          <p:nvPr/>
        </p:nvSpPr>
        <p:spPr>
          <a:xfrm>
            <a:off x="228600" y="228600"/>
            <a:ext cx="35356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시스템 설계 - DR 다이어그램</a:t>
            </a:r>
            <a:endParaRPr lang="en-US" sz="18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7" name="Text 1"/>
          <p:cNvSpPr/>
          <p:nvPr/>
        </p:nvSpPr>
        <p:spPr>
          <a:xfrm>
            <a:off x="228600" y="571500"/>
            <a:ext cx="1173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강사와 학생의 소통 기반 </a:t>
            </a:r>
            <a:r>
              <a:rPr lang="en-US" altLang="ko-KR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LMS</a:t>
            </a: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ko-KR" alt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플렛폼</a:t>
            </a: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smtClean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의 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재해 복구(Disaster Recovery) 아키텍처 및 구성 방안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8" name="Text 2"/>
          <p:cNvSpPr/>
          <p:nvPr/>
        </p:nvSpPr>
        <p:spPr>
          <a:xfrm>
            <a:off x="381000" y="1143000"/>
            <a:ext cx="1371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서비스 중단 상황에 대비한 </a:t>
            </a:r>
            <a:r>
              <a:rPr lang="en-US" sz="1200" dirty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재해 복구(DR) 전략</a:t>
            </a:r>
            <a:r>
              <a:rPr lang="en-US" sz="120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을 수립하여 시스템 장애 발생 시에도 최소한의 다운타임으로 서비스를 지속할 수 있는 아키텍처를 구성하였습니다.</a:t>
            </a:r>
            <a:endParaRPr lang="en-US" sz="12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6" name="Text 20"/>
          <p:cNvSpPr/>
          <p:nvPr/>
        </p:nvSpPr>
        <p:spPr>
          <a:xfrm>
            <a:off x="609600" y="5029200"/>
            <a:ext cx="1143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DR 구성의 주요 특징</a:t>
            </a:r>
            <a:endParaRPr lang="en-US" sz="12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7" name="Text 21"/>
          <p:cNvSpPr/>
          <p:nvPr/>
        </p:nvSpPr>
        <p:spPr>
          <a:xfrm>
            <a:off x="723900" y="5524500"/>
            <a:ext cx="58980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데이터 실시간 복제를 통한 최소한의 데이터 손실(RPO 5분 이내)로 빠른 장애 복구가 가능합니다.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8" name="Text 22"/>
          <p:cNvSpPr/>
          <p:nvPr/>
        </p:nvSpPr>
        <p:spPr>
          <a:xfrm>
            <a:off x="6515100" y="5514975"/>
            <a:ext cx="55480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3-2-1 백업 전략: 3가지 형태의 백업, 2개의 다른 매체, 1개의 오프사이트 백업을 유지합니다.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9" name="Text 23"/>
          <p:cNvSpPr/>
          <p:nvPr/>
        </p:nvSpPr>
        <p:spPr>
          <a:xfrm>
            <a:off x="742950" y="6086475"/>
            <a:ext cx="54560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지역적으로 분산된 데이터 센터를 활용하여 지역적 재해에도 서비스 연속성을 확보합니다.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0" name="Text 24"/>
          <p:cNvSpPr/>
          <p:nvPr/>
        </p:nvSpPr>
        <p:spPr>
          <a:xfrm>
            <a:off x="6515100" y="6086475"/>
            <a:ext cx="5768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정기 DR 훈련을 통한 복구 프로세스 검증으로 실제 재해 상황에서의 신속한 대응이 가능합니다.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73" name="그림 72"/>
          <p:cNvPicPr>
            <a:picLocks noChangeAspect="1"/>
          </p:cNvPicPr>
          <p:nvPr/>
        </p:nvPicPr>
        <p:blipFill rotWithShape="1">
          <a:blip r:embed="rId15"/>
          <a:srcRect t="8704" b="8797"/>
          <a:stretch/>
        </p:blipFill>
        <p:spPr>
          <a:xfrm>
            <a:off x="1152525" y="1812147"/>
            <a:ext cx="9210674" cy="2807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4215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9049" y="361950"/>
            <a:ext cx="6096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751" y="990600"/>
            <a:ext cx="11734800" cy="20574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8614" y="1190625"/>
            <a:ext cx="190500" cy="1714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1733550"/>
            <a:ext cx="1676400" cy="9525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28738" y="1847850"/>
            <a:ext cx="238125" cy="2667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22376" y="2069966"/>
            <a:ext cx="344722" cy="393968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08202" y="1733550"/>
            <a:ext cx="1676400" cy="9525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51152" y="1847850"/>
            <a:ext cx="190500" cy="2667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06803" y="1733550"/>
            <a:ext cx="1676400" cy="9525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25941" y="1847850"/>
            <a:ext cx="238125" cy="2667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05405" y="1733550"/>
            <a:ext cx="1676400" cy="9525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57880" y="1847850"/>
            <a:ext cx="171450" cy="2667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28600" y="3200400"/>
            <a:ext cx="3835301" cy="34798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 rotWithShape="1">
          <a:blip r:embed="rId18"/>
          <a:srcRect t="75461"/>
          <a:stretch/>
        </p:blipFill>
        <p:spPr>
          <a:xfrm>
            <a:off x="342900" y="3693588"/>
            <a:ext cx="3606701" cy="16722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19102" y="3450172"/>
            <a:ext cx="304800" cy="3048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76252" y="3526372"/>
            <a:ext cx="1905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/>
          </p:cNvPicPr>
          <p:nvPr/>
        </p:nvPicPr>
        <p:blipFill>
          <a:blip r:embed="rId21"/>
          <a:stretch>
            <a:fillRect/>
          </a:stretch>
        </p:blipFill>
        <p:spPr>
          <a:xfrm>
            <a:off x="342900" y="3746505"/>
            <a:ext cx="3607200" cy="5400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42900" y="3964334"/>
            <a:ext cx="228600" cy="2286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0050" y="4002434"/>
            <a:ext cx="114300" cy="152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42900" y="4341102"/>
            <a:ext cx="228600" cy="2286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90525" y="4379202"/>
            <a:ext cx="133350" cy="1524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42900" y="4751738"/>
            <a:ext cx="228600" cy="2286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61950" y="4789838"/>
            <a:ext cx="190500" cy="1524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42900" y="5128506"/>
            <a:ext cx="228600" cy="2286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00050" y="5166606"/>
            <a:ext cx="114300" cy="1524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178201" y="3200400"/>
            <a:ext cx="3835450" cy="34798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368703" y="3450172"/>
            <a:ext cx="304800" cy="3048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444903" y="3526372"/>
            <a:ext cx="152400" cy="1524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329445" y="3964334"/>
            <a:ext cx="228600" cy="22860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67545" y="4002434"/>
            <a:ext cx="152400" cy="152400"/>
          </a:xfrm>
          <a:prstGeom prst="rect">
            <a:avLst/>
          </a:prstGeom>
        </p:spPr>
      </p:pic>
      <p:pic>
        <p:nvPicPr>
          <p:cNvPr id="41" name="Image 39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198028" y="3964334"/>
            <a:ext cx="228600" cy="228600"/>
          </a:xfrm>
          <a:prstGeom prst="rect">
            <a:avLst/>
          </a:prstGeom>
        </p:spPr>
      </p:pic>
      <p:pic>
        <p:nvPicPr>
          <p:cNvPr id="42" name="Image 40" descr="preencode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6226603" y="4010901"/>
            <a:ext cx="171450" cy="152400"/>
          </a:xfrm>
          <a:prstGeom prst="rect">
            <a:avLst/>
          </a:prstGeom>
        </p:spPr>
      </p:pic>
      <p:pic>
        <p:nvPicPr>
          <p:cNvPr id="44" name="Image 42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329445" y="4341102"/>
            <a:ext cx="228600" cy="228600"/>
          </a:xfrm>
          <a:prstGeom prst="rect">
            <a:avLst/>
          </a:prstGeom>
        </p:spPr>
      </p:pic>
      <p:pic>
        <p:nvPicPr>
          <p:cNvPr id="45" name="Image 43" descr="preencoded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377070" y="4379202"/>
            <a:ext cx="133350" cy="152400"/>
          </a:xfrm>
          <a:prstGeom prst="rect">
            <a:avLst/>
          </a:prstGeom>
        </p:spPr>
      </p:pic>
      <p:pic>
        <p:nvPicPr>
          <p:cNvPr id="47" name="Image 45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198028" y="4341102"/>
            <a:ext cx="228600" cy="228600"/>
          </a:xfrm>
          <a:prstGeom prst="rect">
            <a:avLst/>
          </a:prstGeom>
        </p:spPr>
      </p:pic>
      <p:pic>
        <p:nvPicPr>
          <p:cNvPr id="48" name="Image 46" descr="preencoded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236128" y="4379202"/>
            <a:ext cx="152400" cy="152400"/>
          </a:xfrm>
          <a:prstGeom prst="rect">
            <a:avLst/>
          </a:prstGeom>
        </p:spPr>
      </p:pic>
      <p:pic>
        <p:nvPicPr>
          <p:cNvPr id="50" name="Image 48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329445" y="4751738"/>
            <a:ext cx="228600" cy="228600"/>
          </a:xfrm>
          <a:prstGeom prst="rect">
            <a:avLst/>
          </a:prstGeom>
        </p:spPr>
      </p:pic>
      <p:pic>
        <p:nvPicPr>
          <p:cNvPr id="51" name="Image 49" descr="preencoded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376012" y="4798305"/>
            <a:ext cx="152400" cy="152400"/>
          </a:xfrm>
          <a:prstGeom prst="rect">
            <a:avLst/>
          </a:prstGeom>
        </p:spPr>
      </p:pic>
      <p:pic>
        <p:nvPicPr>
          <p:cNvPr id="53" name="Image 51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198028" y="4751738"/>
            <a:ext cx="228600" cy="228600"/>
          </a:xfrm>
          <a:prstGeom prst="rect">
            <a:avLst/>
          </a:prstGeom>
        </p:spPr>
      </p:pic>
      <p:pic>
        <p:nvPicPr>
          <p:cNvPr id="54" name="Image 52" descr="preencoded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6236128" y="4789838"/>
            <a:ext cx="152400" cy="152400"/>
          </a:xfrm>
          <a:prstGeom prst="rect">
            <a:avLst/>
          </a:prstGeom>
        </p:spPr>
      </p:pic>
      <p:pic>
        <p:nvPicPr>
          <p:cNvPr id="56" name="Image 54" descr="preencoded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329445" y="5128506"/>
            <a:ext cx="228600" cy="228600"/>
          </a:xfrm>
          <a:prstGeom prst="rect">
            <a:avLst/>
          </a:prstGeom>
        </p:spPr>
      </p:pic>
      <p:pic>
        <p:nvPicPr>
          <p:cNvPr id="57" name="Image 55" descr="preencoded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367545" y="5166606"/>
            <a:ext cx="152400" cy="152400"/>
          </a:xfrm>
          <a:prstGeom prst="rect">
            <a:avLst/>
          </a:prstGeom>
        </p:spPr>
      </p:pic>
      <p:pic>
        <p:nvPicPr>
          <p:cNvPr id="59" name="Image 57" descr="preencoded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198028" y="5128506"/>
            <a:ext cx="228600" cy="228600"/>
          </a:xfrm>
          <a:prstGeom prst="rect">
            <a:avLst/>
          </a:prstGeom>
        </p:spPr>
      </p:pic>
      <p:pic>
        <p:nvPicPr>
          <p:cNvPr id="60" name="Image 58" descr="preencoded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6255178" y="5166606"/>
            <a:ext cx="114300" cy="152400"/>
          </a:xfrm>
          <a:prstGeom prst="rect">
            <a:avLst/>
          </a:prstGeom>
        </p:spPr>
      </p:pic>
      <p:pic>
        <p:nvPicPr>
          <p:cNvPr id="62" name="Image 60" descr="preencoded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329445" y="5505274"/>
            <a:ext cx="228600" cy="228600"/>
          </a:xfrm>
          <a:prstGeom prst="rect">
            <a:avLst/>
          </a:prstGeom>
        </p:spPr>
      </p:pic>
      <p:pic>
        <p:nvPicPr>
          <p:cNvPr id="63" name="Image 61" descr="preencoded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4367545" y="5543374"/>
            <a:ext cx="152400" cy="152400"/>
          </a:xfrm>
          <a:prstGeom prst="rect">
            <a:avLst/>
          </a:prstGeom>
        </p:spPr>
      </p:pic>
      <p:pic>
        <p:nvPicPr>
          <p:cNvPr id="64" name="Image 62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198028" y="5505274"/>
            <a:ext cx="228600" cy="228600"/>
          </a:xfrm>
          <a:prstGeom prst="rect">
            <a:avLst/>
          </a:prstGeom>
        </p:spPr>
      </p:pic>
      <p:pic>
        <p:nvPicPr>
          <p:cNvPr id="65" name="Image 63" descr="preencoded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245653" y="5543374"/>
            <a:ext cx="133350" cy="152400"/>
          </a:xfrm>
          <a:prstGeom prst="rect">
            <a:avLst/>
          </a:prstGeom>
        </p:spPr>
      </p:pic>
      <p:pic>
        <p:nvPicPr>
          <p:cNvPr id="66" name="Image 64" descr="preencoded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8127950" y="3200400"/>
            <a:ext cx="3835301" cy="3479800"/>
          </a:xfrm>
          <a:prstGeom prst="rect">
            <a:avLst/>
          </a:prstGeom>
        </p:spPr>
      </p:pic>
      <p:pic>
        <p:nvPicPr>
          <p:cNvPr id="68" name="Image 66" descr="preencoded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8318452" y="3450172"/>
            <a:ext cx="304800" cy="304800"/>
          </a:xfrm>
          <a:prstGeom prst="rect">
            <a:avLst/>
          </a:prstGeom>
        </p:spPr>
      </p:pic>
      <p:pic>
        <p:nvPicPr>
          <p:cNvPr id="69" name="Image 67" descr="preencoded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8394652" y="3526372"/>
            <a:ext cx="152400" cy="152400"/>
          </a:xfrm>
          <a:prstGeom prst="rect">
            <a:avLst/>
          </a:prstGeom>
        </p:spPr>
      </p:pic>
      <p:pic>
        <p:nvPicPr>
          <p:cNvPr id="71" name="Image 69" descr="preencoded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8242250" y="3964334"/>
            <a:ext cx="228600" cy="228600"/>
          </a:xfrm>
          <a:prstGeom prst="rect">
            <a:avLst/>
          </a:prstGeom>
        </p:spPr>
      </p:pic>
      <p:pic>
        <p:nvPicPr>
          <p:cNvPr id="72" name="Image 70" descr="preencoded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8280350" y="4002434"/>
            <a:ext cx="152400" cy="152400"/>
          </a:xfrm>
          <a:prstGeom prst="rect">
            <a:avLst/>
          </a:prstGeom>
        </p:spPr>
      </p:pic>
      <p:pic>
        <p:nvPicPr>
          <p:cNvPr id="74" name="Image 72" descr="preencoded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8242250" y="4341102"/>
            <a:ext cx="228600" cy="228600"/>
          </a:xfrm>
          <a:prstGeom prst="rect">
            <a:avLst/>
          </a:prstGeom>
        </p:spPr>
      </p:pic>
      <p:pic>
        <p:nvPicPr>
          <p:cNvPr id="75" name="Image 73" descr="preencoded.png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8280350" y="4379202"/>
            <a:ext cx="152400" cy="152400"/>
          </a:xfrm>
          <a:prstGeom prst="rect">
            <a:avLst/>
          </a:prstGeom>
        </p:spPr>
      </p:pic>
      <p:pic>
        <p:nvPicPr>
          <p:cNvPr id="77" name="Image 75" descr="preencoded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8242250" y="4751738"/>
            <a:ext cx="228600" cy="228600"/>
          </a:xfrm>
          <a:prstGeom prst="rect">
            <a:avLst/>
          </a:prstGeom>
        </p:spPr>
      </p:pic>
      <p:pic>
        <p:nvPicPr>
          <p:cNvPr id="78" name="Image 76" descr="preencoded.png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8299400" y="4789838"/>
            <a:ext cx="114300" cy="152400"/>
          </a:xfrm>
          <a:prstGeom prst="rect">
            <a:avLst/>
          </a:prstGeom>
        </p:spPr>
      </p:pic>
      <p:pic>
        <p:nvPicPr>
          <p:cNvPr id="80" name="Image 78" descr="preencoded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8242250" y="5128506"/>
            <a:ext cx="228600" cy="228600"/>
          </a:xfrm>
          <a:prstGeom prst="rect">
            <a:avLst/>
          </a:prstGeom>
        </p:spPr>
      </p:pic>
      <p:pic>
        <p:nvPicPr>
          <p:cNvPr id="81" name="Image 79" descr="preencoded.png"/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8289875" y="5166606"/>
            <a:ext cx="133350" cy="152400"/>
          </a:xfrm>
          <a:prstGeom prst="rect">
            <a:avLst/>
          </a:prstGeom>
        </p:spPr>
      </p:pic>
      <p:pic>
        <p:nvPicPr>
          <p:cNvPr id="83" name="Image 81" descr="preencoded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8242250" y="5505274"/>
            <a:ext cx="228600" cy="228600"/>
          </a:xfrm>
          <a:prstGeom prst="rect">
            <a:avLst/>
          </a:prstGeom>
        </p:spPr>
      </p:pic>
      <p:pic>
        <p:nvPicPr>
          <p:cNvPr id="84" name="Image 82" descr="preencoded.png"/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8270825" y="5543374"/>
            <a:ext cx="171450" cy="152400"/>
          </a:xfrm>
          <a:prstGeom prst="rect">
            <a:avLst/>
          </a:prstGeom>
        </p:spPr>
      </p:pic>
      <p:pic>
        <p:nvPicPr>
          <p:cNvPr id="86" name="Image 84" descr="preencoded.png"/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8242250" y="5882042"/>
            <a:ext cx="228600" cy="228600"/>
          </a:xfrm>
          <a:prstGeom prst="rect">
            <a:avLst/>
          </a:prstGeom>
        </p:spPr>
      </p:pic>
      <p:pic>
        <p:nvPicPr>
          <p:cNvPr id="87" name="Image 85" descr="preencoded.png"/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8280350" y="5920142"/>
            <a:ext cx="152400" cy="152400"/>
          </a:xfrm>
          <a:prstGeom prst="rect">
            <a:avLst/>
          </a:prstGeom>
        </p:spPr>
      </p:pic>
      <p:pic>
        <p:nvPicPr>
          <p:cNvPr id="88" name="Image 86" descr="preencoded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8242250" y="6286518"/>
            <a:ext cx="228600" cy="228600"/>
          </a:xfrm>
          <a:prstGeom prst="rect">
            <a:avLst/>
          </a:prstGeom>
        </p:spPr>
      </p:pic>
      <p:pic>
        <p:nvPicPr>
          <p:cNvPr id="89" name="Image 87" descr="preencoded.png"/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8289875" y="6324618"/>
            <a:ext cx="133350" cy="152400"/>
          </a:xfrm>
          <a:prstGeom prst="rect">
            <a:avLst/>
          </a:prstGeom>
        </p:spPr>
      </p:pic>
      <p:sp>
        <p:nvSpPr>
          <p:cNvPr id="91" name="Text 0"/>
          <p:cNvSpPr/>
          <p:nvPr/>
        </p:nvSpPr>
        <p:spPr>
          <a:xfrm>
            <a:off x="228600" y="228600"/>
            <a:ext cx="269765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적용 기술 및 아키텍처</a:t>
            </a:r>
            <a:endParaRPr lang="en-US" sz="18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92" name="Text 1"/>
          <p:cNvSpPr/>
          <p:nvPr/>
        </p:nvSpPr>
        <p:spPr>
          <a:xfrm>
            <a:off x="228600" y="571500"/>
            <a:ext cx="1173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LearnUp LMS의 기술 스택 및 시스템 아키텍처 구성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93" name="Text 2"/>
          <p:cNvSpPr/>
          <p:nvPr/>
        </p:nvSpPr>
        <p:spPr>
          <a:xfrm>
            <a:off x="5605314" y="1143000"/>
            <a:ext cx="11430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시스템 아키텍처</a:t>
            </a:r>
            <a:endParaRPr lang="en-US" sz="13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94" name="Text 3"/>
          <p:cNvSpPr/>
          <p:nvPr/>
        </p:nvSpPr>
        <p:spPr>
          <a:xfrm>
            <a:off x="723900" y="215265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클라이언트</a:t>
            </a:r>
            <a:endParaRPr lang="en-US" sz="12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95" name="Text 4"/>
          <p:cNvSpPr/>
          <p:nvPr/>
        </p:nvSpPr>
        <p:spPr>
          <a:xfrm>
            <a:off x="723900" y="2381250"/>
            <a:ext cx="144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브라우저/앱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96" name="Text 5"/>
          <p:cNvSpPr/>
          <p:nvPr/>
        </p:nvSpPr>
        <p:spPr>
          <a:xfrm>
            <a:off x="3822502" y="215265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웹 서버</a:t>
            </a:r>
            <a:endParaRPr lang="en-US" sz="12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97" name="Text 6"/>
          <p:cNvSpPr/>
          <p:nvPr/>
        </p:nvSpPr>
        <p:spPr>
          <a:xfrm>
            <a:off x="3822502" y="2381250"/>
            <a:ext cx="144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Nginx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98" name="Text 7"/>
          <p:cNvSpPr/>
          <p:nvPr/>
        </p:nvSpPr>
        <p:spPr>
          <a:xfrm>
            <a:off x="6921103" y="215265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WAS</a:t>
            </a:r>
            <a:endParaRPr lang="en-US" sz="12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99" name="Text 8"/>
          <p:cNvSpPr/>
          <p:nvPr/>
        </p:nvSpPr>
        <p:spPr>
          <a:xfrm>
            <a:off x="6776323" y="2381250"/>
            <a:ext cx="173736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Spring Boot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00" name="Text 9"/>
          <p:cNvSpPr/>
          <p:nvPr/>
        </p:nvSpPr>
        <p:spPr>
          <a:xfrm>
            <a:off x="10019705" y="215265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데이터베이스</a:t>
            </a:r>
            <a:endParaRPr lang="en-US" sz="12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01" name="Text 10"/>
          <p:cNvSpPr/>
          <p:nvPr/>
        </p:nvSpPr>
        <p:spPr>
          <a:xfrm>
            <a:off x="9874925" y="2381250"/>
            <a:ext cx="173736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MySQL/PostgreSQL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02" name="Text 11"/>
          <p:cNvSpPr/>
          <p:nvPr/>
        </p:nvSpPr>
        <p:spPr>
          <a:xfrm>
            <a:off x="800102" y="3469222"/>
            <a:ext cx="149750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프로그래밍 언어</a:t>
            </a:r>
            <a:endParaRPr lang="en-US" sz="13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03" name="Text 12"/>
          <p:cNvSpPr/>
          <p:nvPr/>
        </p:nvSpPr>
        <p:spPr>
          <a:xfrm>
            <a:off x="647700" y="3983384"/>
            <a:ext cx="56060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Java 17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04" name="Text 13"/>
          <p:cNvSpPr/>
          <p:nvPr/>
        </p:nvSpPr>
        <p:spPr>
          <a:xfrm>
            <a:off x="647700" y="4360152"/>
            <a:ext cx="7470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JavaScript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05" name="Text 14"/>
          <p:cNvSpPr/>
          <p:nvPr/>
        </p:nvSpPr>
        <p:spPr>
          <a:xfrm>
            <a:off x="647700" y="4770788"/>
            <a:ext cx="75598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TypeScript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06" name="Text 15"/>
          <p:cNvSpPr/>
          <p:nvPr/>
        </p:nvSpPr>
        <p:spPr>
          <a:xfrm>
            <a:off x="647700" y="5147556"/>
            <a:ext cx="80920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HTML/CSS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07" name="Text 16"/>
          <p:cNvSpPr/>
          <p:nvPr/>
        </p:nvSpPr>
        <p:spPr>
          <a:xfrm>
            <a:off x="4749703" y="3469222"/>
            <a:ext cx="211472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프레임워크/라이브러리</a:t>
            </a:r>
            <a:endParaRPr lang="en-US" sz="13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08" name="Text 17"/>
          <p:cNvSpPr/>
          <p:nvPr/>
        </p:nvSpPr>
        <p:spPr>
          <a:xfrm>
            <a:off x="4634245" y="3983384"/>
            <a:ext cx="83635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Spring Boot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09" name="Text 18"/>
          <p:cNvSpPr/>
          <p:nvPr/>
        </p:nvSpPr>
        <p:spPr>
          <a:xfrm>
            <a:off x="6502828" y="3983384"/>
            <a:ext cx="86260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Spring MVC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0" name="Text 19"/>
          <p:cNvSpPr/>
          <p:nvPr/>
        </p:nvSpPr>
        <p:spPr>
          <a:xfrm>
            <a:off x="4634245" y="4360152"/>
            <a:ext cx="84510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Spring Data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1" name="Text 20"/>
          <p:cNvSpPr/>
          <p:nvPr/>
        </p:nvSpPr>
        <p:spPr>
          <a:xfrm>
            <a:off x="6502828" y="4360152"/>
            <a:ext cx="108513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Spring Security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2" name="Text 21"/>
          <p:cNvSpPr/>
          <p:nvPr/>
        </p:nvSpPr>
        <p:spPr>
          <a:xfrm>
            <a:off x="4634245" y="4770788"/>
            <a:ext cx="110924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Bean Validation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3" name="Text 22"/>
          <p:cNvSpPr/>
          <p:nvPr/>
        </p:nvSpPr>
        <p:spPr>
          <a:xfrm>
            <a:off x="6502828" y="4770788"/>
            <a:ext cx="80045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Spring Mail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4" name="Text 23"/>
          <p:cNvSpPr/>
          <p:nvPr/>
        </p:nvSpPr>
        <p:spPr>
          <a:xfrm>
            <a:off x="4634245" y="5147556"/>
            <a:ext cx="56935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Lombok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5" name="Text 24"/>
          <p:cNvSpPr/>
          <p:nvPr/>
        </p:nvSpPr>
        <p:spPr>
          <a:xfrm>
            <a:off x="6502828" y="5147556"/>
            <a:ext cx="72062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OpenCSV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6" name="Text 25"/>
          <p:cNvSpPr/>
          <p:nvPr/>
        </p:nvSpPr>
        <p:spPr>
          <a:xfrm>
            <a:off x="4634245" y="5524324"/>
            <a:ext cx="4180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React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7" name="Text 26"/>
          <p:cNvSpPr/>
          <p:nvPr/>
        </p:nvSpPr>
        <p:spPr>
          <a:xfrm>
            <a:off x="6502828" y="5524324"/>
            <a:ext cx="44469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Recoil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8" name="Text 27"/>
          <p:cNvSpPr/>
          <p:nvPr/>
        </p:nvSpPr>
        <p:spPr>
          <a:xfrm>
            <a:off x="8699452" y="3469222"/>
            <a:ext cx="18175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개발 도구 및 인프라</a:t>
            </a:r>
            <a:endParaRPr lang="en-US" sz="13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9" name="Text 28"/>
          <p:cNvSpPr/>
          <p:nvPr/>
        </p:nvSpPr>
        <p:spPr>
          <a:xfrm>
            <a:off x="8547050" y="3983384"/>
            <a:ext cx="48041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Gradle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20" name="Text 29"/>
          <p:cNvSpPr/>
          <p:nvPr/>
        </p:nvSpPr>
        <p:spPr>
          <a:xfrm>
            <a:off x="8547050" y="4360152"/>
            <a:ext cx="65829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DevTools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21" name="Text 30"/>
          <p:cNvSpPr/>
          <p:nvPr/>
        </p:nvSpPr>
        <p:spPr>
          <a:xfrm>
            <a:off x="8547050" y="4770788"/>
            <a:ext cx="89832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TailwindCSS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22" name="Text 31"/>
          <p:cNvSpPr/>
          <p:nvPr/>
        </p:nvSpPr>
        <p:spPr>
          <a:xfrm>
            <a:off x="8547050" y="5147556"/>
            <a:ext cx="144964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MySQL/PostgreSQL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23" name="Text 32"/>
          <p:cNvSpPr/>
          <p:nvPr/>
        </p:nvSpPr>
        <p:spPr>
          <a:xfrm>
            <a:off x="8547050" y="5524324"/>
            <a:ext cx="88028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Redis (캐싱)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24" name="Text 33"/>
          <p:cNvSpPr/>
          <p:nvPr/>
        </p:nvSpPr>
        <p:spPr>
          <a:xfrm>
            <a:off x="8547050" y="5901092"/>
            <a:ext cx="4091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Nginx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25" name="Text 34"/>
          <p:cNvSpPr/>
          <p:nvPr/>
        </p:nvSpPr>
        <p:spPr>
          <a:xfrm>
            <a:off x="8547050" y="6305568"/>
            <a:ext cx="7470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Git/GitHub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128" name="Image 17" descr="preencoded.png"/>
          <p:cNvPicPr>
            <a:picLocks noChangeAspect="1"/>
          </p:cNvPicPr>
          <p:nvPr/>
        </p:nvPicPr>
        <p:blipFill rotWithShape="1">
          <a:blip r:embed="rId18"/>
          <a:srcRect t="75461"/>
          <a:stretch/>
        </p:blipFill>
        <p:spPr>
          <a:xfrm>
            <a:off x="4293185" y="3693588"/>
            <a:ext cx="3606701" cy="167220"/>
          </a:xfrm>
          <a:prstGeom prst="rect">
            <a:avLst/>
          </a:prstGeom>
        </p:spPr>
      </p:pic>
      <p:pic>
        <p:nvPicPr>
          <p:cNvPr id="129" name="Image 17" descr="preencoded.png"/>
          <p:cNvPicPr>
            <a:picLocks noChangeAspect="1"/>
          </p:cNvPicPr>
          <p:nvPr/>
        </p:nvPicPr>
        <p:blipFill rotWithShape="1">
          <a:blip r:embed="rId18"/>
          <a:srcRect t="75461"/>
          <a:stretch/>
        </p:blipFill>
        <p:spPr>
          <a:xfrm>
            <a:off x="8242249" y="3693588"/>
            <a:ext cx="3606701" cy="167220"/>
          </a:xfrm>
          <a:prstGeom prst="rect">
            <a:avLst/>
          </a:prstGeom>
        </p:spPr>
      </p:pic>
      <p:pic>
        <p:nvPicPr>
          <p:cNvPr id="132" name="Image 20" descr="preencoded.png"/>
          <p:cNvPicPr>
            <a:picLocks/>
          </p:cNvPicPr>
          <p:nvPr/>
        </p:nvPicPr>
        <p:blipFill>
          <a:blip r:embed="rId21"/>
          <a:stretch>
            <a:fillRect/>
          </a:stretch>
        </p:blipFill>
        <p:spPr>
          <a:xfrm>
            <a:off x="4293185" y="3746505"/>
            <a:ext cx="1785600" cy="540000"/>
          </a:xfrm>
          <a:prstGeom prst="rect">
            <a:avLst/>
          </a:prstGeom>
        </p:spPr>
      </p:pic>
      <p:pic>
        <p:nvPicPr>
          <p:cNvPr id="134" name="Image 20" descr="preencoded.png"/>
          <p:cNvPicPr>
            <a:picLocks/>
          </p:cNvPicPr>
          <p:nvPr/>
        </p:nvPicPr>
        <p:blipFill>
          <a:blip r:embed="rId21"/>
          <a:stretch>
            <a:fillRect/>
          </a:stretch>
        </p:blipFill>
        <p:spPr>
          <a:xfrm>
            <a:off x="6150402" y="3746505"/>
            <a:ext cx="1748799" cy="540000"/>
          </a:xfrm>
          <a:prstGeom prst="rect">
            <a:avLst/>
          </a:prstGeom>
        </p:spPr>
      </p:pic>
      <p:pic>
        <p:nvPicPr>
          <p:cNvPr id="136" name="Image 20" descr="preencoded.png"/>
          <p:cNvPicPr>
            <a:picLocks/>
          </p:cNvPicPr>
          <p:nvPr/>
        </p:nvPicPr>
        <p:blipFill>
          <a:blip r:embed="rId21"/>
          <a:stretch>
            <a:fillRect/>
          </a:stretch>
        </p:blipFill>
        <p:spPr>
          <a:xfrm>
            <a:off x="342900" y="4107339"/>
            <a:ext cx="3607200" cy="540000"/>
          </a:xfrm>
          <a:prstGeom prst="rect">
            <a:avLst/>
          </a:prstGeom>
        </p:spPr>
      </p:pic>
      <p:pic>
        <p:nvPicPr>
          <p:cNvPr id="137" name="Image 20" descr="preencoded.png"/>
          <p:cNvPicPr>
            <a:picLocks/>
          </p:cNvPicPr>
          <p:nvPr/>
        </p:nvPicPr>
        <p:blipFill>
          <a:blip r:embed="rId21"/>
          <a:stretch>
            <a:fillRect/>
          </a:stretch>
        </p:blipFill>
        <p:spPr>
          <a:xfrm>
            <a:off x="342900" y="4523080"/>
            <a:ext cx="3607200" cy="540000"/>
          </a:xfrm>
          <a:prstGeom prst="rect">
            <a:avLst/>
          </a:prstGeom>
        </p:spPr>
      </p:pic>
      <p:pic>
        <p:nvPicPr>
          <p:cNvPr id="138" name="Image 20" descr="preencoded.png"/>
          <p:cNvPicPr>
            <a:picLocks/>
          </p:cNvPicPr>
          <p:nvPr/>
        </p:nvPicPr>
        <p:blipFill>
          <a:blip r:embed="rId21"/>
          <a:stretch>
            <a:fillRect/>
          </a:stretch>
        </p:blipFill>
        <p:spPr>
          <a:xfrm>
            <a:off x="342900" y="4902213"/>
            <a:ext cx="3607200" cy="540000"/>
          </a:xfrm>
          <a:prstGeom prst="rect">
            <a:avLst/>
          </a:prstGeom>
        </p:spPr>
      </p:pic>
      <p:pic>
        <p:nvPicPr>
          <p:cNvPr id="139" name="Image 20" descr="preencoded.png"/>
          <p:cNvPicPr>
            <a:picLocks/>
          </p:cNvPicPr>
          <p:nvPr/>
        </p:nvPicPr>
        <p:blipFill>
          <a:blip r:embed="rId21"/>
          <a:stretch>
            <a:fillRect/>
          </a:stretch>
        </p:blipFill>
        <p:spPr>
          <a:xfrm>
            <a:off x="4293185" y="4106963"/>
            <a:ext cx="1785600" cy="540000"/>
          </a:xfrm>
          <a:prstGeom prst="rect">
            <a:avLst/>
          </a:prstGeom>
        </p:spPr>
      </p:pic>
      <p:pic>
        <p:nvPicPr>
          <p:cNvPr id="140" name="Image 20" descr="preencoded.png"/>
          <p:cNvPicPr>
            <a:picLocks/>
          </p:cNvPicPr>
          <p:nvPr/>
        </p:nvPicPr>
        <p:blipFill>
          <a:blip r:embed="rId21"/>
          <a:stretch>
            <a:fillRect/>
          </a:stretch>
        </p:blipFill>
        <p:spPr>
          <a:xfrm>
            <a:off x="4293185" y="4523080"/>
            <a:ext cx="1785600" cy="540000"/>
          </a:xfrm>
          <a:prstGeom prst="rect">
            <a:avLst/>
          </a:prstGeom>
        </p:spPr>
      </p:pic>
      <p:pic>
        <p:nvPicPr>
          <p:cNvPr id="141" name="Image 20" descr="preencoded.png"/>
          <p:cNvPicPr>
            <a:picLocks/>
          </p:cNvPicPr>
          <p:nvPr/>
        </p:nvPicPr>
        <p:blipFill>
          <a:blip r:embed="rId21"/>
          <a:stretch>
            <a:fillRect/>
          </a:stretch>
        </p:blipFill>
        <p:spPr>
          <a:xfrm>
            <a:off x="4293185" y="4902213"/>
            <a:ext cx="1785600" cy="540000"/>
          </a:xfrm>
          <a:prstGeom prst="rect">
            <a:avLst/>
          </a:prstGeom>
        </p:spPr>
      </p:pic>
      <p:pic>
        <p:nvPicPr>
          <p:cNvPr id="142" name="Image 20" descr="preencoded.png"/>
          <p:cNvPicPr>
            <a:picLocks/>
          </p:cNvPicPr>
          <p:nvPr/>
        </p:nvPicPr>
        <p:blipFill>
          <a:blip r:embed="rId21"/>
          <a:stretch>
            <a:fillRect/>
          </a:stretch>
        </p:blipFill>
        <p:spPr>
          <a:xfrm>
            <a:off x="4293185" y="5270514"/>
            <a:ext cx="1785600" cy="540000"/>
          </a:xfrm>
          <a:prstGeom prst="rect">
            <a:avLst/>
          </a:prstGeom>
        </p:spPr>
      </p:pic>
      <p:pic>
        <p:nvPicPr>
          <p:cNvPr id="143" name="Image 20" descr="preencoded.png"/>
          <p:cNvPicPr>
            <a:picLocks/>
          </p:cNvPicPr>
          <p:nvPr/>
        </p:nvPicPr>
        <p:blipFill>
          <a:blip r:embed="rId21"/>
          <a:stretch>
            <a:fillRect/>
          </a:stretch>
        </p:blipFill>
        <p:spPr>
          <a:xfrm>
            <a:off x="6178977" y="4106963"/>
            <a:ext cx="1720224" cy="540000"/>
          </a:xfrm>
          <a:prstGeom prst="rect">
            <a:avLst/>
          </a:prstGeom>
        </p:spPr>
      </p:pic>
      <p:pic>
        <p:nvPicPr>
          <p:cNvPr id="144" name="Image 20" descr="preencoded.png"/>
          <p:cNvPicPr>
            <a:picLocks/>
          </p:cNvPicPr>
          <p:nvPr/>
        </p:nvPicPr>
        <p:blipFill>
          <a:blip r:embed="rId21"/>
          <a:stretch>
            <a:fillRect/>
          </a:stretch>
        </p:blipFill>
        <p:spPr>
          <a:xfrm>
            <a:off x="6167436" y="4532660"/>
            <a:ext cx="1785600" cy="540000"/>
          </a:xfrm>
          <a:prstGeom prst="rect">
            <a:avLst/>
          </a:prstGeom>
        </p:spPr>
      </p:pic>
      <p:pic>
        <p:nvPicPr>
          <p:cNvPr id="145" name="Image 20" descr="preencoded.png"/>
          <p:cNvPicPr>
            <a:picLocks/>
          </p:cNvPicPr>
          <p:nvPr/>
        </p:nvPicPr>
        <p:blipFill>
          <a:blip r:embed="rId21"/>
          <a:stretch>
            <a:fillRect/>
          </a:stretch>
        </p:blipFill>
        <p:spPr>
          <a:xfrm>
            <a:off x="6167436" y="4902213"/>
            <a:ext cx="1785600" cy="540000"/>
          </a:xfrm>
          <a:prstGeom prst="rect">
            <a:avLst/>
          </a:prstGeom>
        </p:spPr>
      </p:pic>
      <p:pic>
        <p:nvPicPr>
          <p:cNvPr id="146" name="Image 20" descr="preencoded.png"/>
          <p:cNvPicPr>
            <a:picLocks/>
          </p:cNvPicPr>
          <p:nvPr/>
        </p:nvPicPr>
        <p:blipFill>
          <a:blip r:embed="rId21"/>
          <a:stretch>
            <a:fillRect/>
          </a:stretch>
        </p:blipFill>
        <p:spPr>
          <a:xfrm>
            <a:off x="6167436" y="5270514"/>
            <a:ext cx="1785600" cy="540000"/>
          </a:xfrm>
          <a:prstGeom prst="rect">
            <a:avLst/>
          </a:prstGeom>
        </p:spPr>
      </p:pic>
      <p:pic>
        <p:nvPicPr>
          <p:cNvPr id="147" name="Image 20" descr="preencoded.png"/>
          <p:cNvPicPr>
            <a:picLocks/>
          </p:cNvPicPr>
          <p:nvPr/>
        </p:nvPicPr>
        <p:blipFill>
          <a:blip r:embed="rId21"/>
          <a:stretch>
            <a:fillRect/>
          </a:stretch>
        </p:blipFill>
        <p:spPr>
          <a:xfrm>
            <a:off x="8241750" y="3746505"/>
            <a:ext cx="3607200" cy="540000"/>
          </a:xfrm>
          <a:prstGeom prst="rect">
            <a:avLst/>
          </a:prstGeom>
        </p:spPr>
      </p:pic>
      <p:pic>
        <p:nvPicPr>
          <p:cNvPr id="148" name="Image 20" descr="preencoded.png"/>
          <p:cNvPicPr>
            <a:picLocks/>
          </p:cNvPicPr>
          <p:nvPr/>
        </p:nvPicPr>
        <p:blipFill>
          <a:blip r:embed="rId21"/>
          <a:stretch>
            <a:fillRect/>
          </a:stretch>
        </p:blipFill>
        <p:spPr>
          <a:xfrm>
            <a:off x="8241750" y="4107339"/>
            <a:ext cx="3607200" cy="540000"/>
          </a:xfrm>
          <a:prstGeom prst="rect">
            <a:avLst/>
          </a:prstGeom>
        </p:spPr>
      </p:pic>
      <p:pic>
        <p:nvPicPr>
          <p:cNvPr id="149" name="Image 20" descr="preencoded.png"/>
          <p:cNvPicPr>
            <a:picLocks/>
          </p:cNvPicPr>
          <p:nvPr/>
        </p:nvPicPr>
        <p:blipFill>
          <a:blip r:embed="rId21"/>
          <a:stretch>
            <a:fillRect/>
          </a:stretch>
        </p:blipFill>
        <p:spPr>
          <a:xfrm>
            <a:off x="8238708" y="4523080"/>
            <a:ext cx="3607200" cy="540000"/>
          </a:xfrm>
          <a:prstGeom prst="rect">
            <a:avLst/>
          </a:prstGeom>
        </p:spPr>
      </p:pic>
      <p:pic>
        <p:nvPicPr>
          <p:cNvPr id="156" name="Image 20" descr="preencoded.png"/>
          <p:cNvPicPr>
            <a:picLocks/>
          </p:cNvPicPr>
          <p:nvPr/>
        </p:nvPicPr>
        <p:blipFill>
          <a:blip r:embed="rId21"/>
          <a:stretch>
            <a:fillRect/>
          </a:stretch>
        </p:blipFill>
        <p:spPr>
          <a:xfrm>
            <a:off x="8241750" y="4901275"/>
            <a:ext cx="3607200" cy="540000"/>
          </a:xfrm>
          <a:prstGeom prst="rect">
            <a:avLst/>
          </a:prstGeom>
        </p:spPr>
      </p:pic>
      <p:pic>
        <p:nvPicPr>
          <p:cNvPr id="157" name="Image 20" descr="preencoded.png"/>
          <p:cNvPicPr>
            <a:picLocks/>
          </p:cNvPicPr>
          <p:nvPr/>
        </p:nvPicPr>
        <p:blipFill>
          <a:blip r:embed="rId21"/>
          <a:stretch>
            <a:fillRect/>
          </a:stretch>
        </p:blipFill>
        <p:spPr>
          <a:xfrm>
            <a:off x="8241750" y="5262109"/>
            <a:ext cx="3607200" cy="540000"/>
          </a:xfrm>
          <a:prstGeom prst="rect">
            <a:avLst/>
          </a:prstGeom>
        </p:spPr>
      </p:pic>
      <p:pic>
        <p:nvPicPr>
          <p:cNvPr id="158" name="Image 20" descr="preencoded.png"/>
          <p:cNvPicPr>
            <a:picLocks/>
          </p:cNvPicPr>
          <p:nvPr/>
        </p:nvPicPr>
        <p:blipFill>
          <a:blip r:embed="rId21"/>
          <a:stretch>
            <a:fillRect/>
          </a:stretch>
        </p:blipFill>
        <p:spPr>
          <a:xfrm>
            <a:off x="8238708" y="5677850"/>
            <a:ext cx="3607200" cy="540000"/>
          </a:xfrm>
          <a:prstGeom prst="rect">
            <a:avLst/>
          </a:prstGeom>
        </p:spPr>
      </p:pic>
      <p:pic>
        <p:nvPicPr>
          <p:cNvPr id="15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08670" y="2069966"/>
            <a:ext cx="344722" cy="393968"/>
          </a:xfrm>
          <a:prstGeom prst="rect">
            <a:avLst/>
          </a:prstGeom>
        </p:spPr>
      </p:pic>
      <p:pic>
        <p:nvPicPr>
          <p:cNvPr id="160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32986" y="2069966"/>
            <a:ext cx="344722" cy="393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9657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879699" y="361950"/>
            <a:ext cx="6096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28600" y="990600"/>
            <a:ext cx="11734800" cy="6858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381000" y="1143000"/>
            <a:ext cx="381000" cy="381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485775" y="1257300"/>
            <a:ext cx="17145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 rotWithShape="1">
          <a:blip r:embed="rId9"/>
          <a:srcRect r="71677"/>
          <a:stretch/>
        </p:blipFill>
        <p:spPr>
          <a:xfrm>
            <a:off x="78970" y="2275266"/>
            <a:ext cx="3426230" cy="26289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228600" y="1920243"/>
            <a:ext cx="2705100" cy="2628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381000" y="2072643"/>
            <a:ext cx="2400300" cy="10668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1276350" y="2072643"/>
            <a:ext cx="609600" cy="609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>
            <a:off x="1438275" y="2225043"/>
            <a:ext cx="28575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 rotWithShape="1">
          <a:blip r:embed="rId14"/>
          <a:stretch>
            <a:fillRect/>
          </a:stretch>
        </p:blipFill>
        <p:spPr>
          <a:xfrm>
            <a:off x="3238500" y="1920243"/>
            <a:ext cx="2705100" cy="26289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3390900" y="2072643"/>
            <a:ext cx="2400300" cy="1066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 rotWithShape="1">
          <a:blip r:embed="rId15"/>
          <a:stretch>
            <a:fillRect/>
          </a:stretch>
        </p:blipFill>
        <p:spPr>
          <a:xfrm>
            <a:off x="4286250" y="2072643"/>
            <a:ext cx="609600" cy="6096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4476750" y="2225043"/>
            <a:ext cx="228600" cy="3048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 rotWithShape="1">
          <a:blip r:embed="rId17"/>
          <a:stretch>
            <a:fillRect/>
          </a:stretch>
        </p:blipFill>
        <p:spPr>
          <a:xfrm>
            <a:off x="6248400" y="1920243"/>
            <a:ext cx="2705100" cy="26289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6400800" y="2072643"/>
            <a:ext cx="2400300" cy="10668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 rotWithShape="1">
          <a:blip r:embed="rId18"/>
          <a:stretch>
            <a:fillRect/>
          </a:stretch>
        </p:blipFill>
        <p:spPr>
          <a:xfrm>
            <a:off x="7296150" y="2072643"/>
            <a:ext cx="609600" cy="6096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 rotWithShape="1">
          <a:blip r:embed="rId19"/>
          <a:stretch>
            <a:fillRect/>
          </a:stretch>
        </p:blipFill>
        <p:spPr>
          <a:xfrm>
            <a:off x="7486650" y="2225043"/>
            <a:ext cx="228600" cy="3048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 rotWithShape="1">
          <a:blip r:embed="rId20"/>
          <a:stretch>
            <a:fillRect/>
          </a:stretch>
        </p:blipFill>
        <p:spPr>
          <a:xfrm>
            <a:off x="9258300" y="1920243"/>
            <a:ext cx="2705100" cy="26289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9410700" y="2072643"/>
            <a:ext cx="2400300" cy="10668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 rotWithShape="1">
          <a:blip r:embed="rId21"/>
          <a:stretch>
            <a:fillRect/>
          </a:stretch>
        </p:blipFill>
        <p:spPr>
          <a:xfrm>
            <a:off x="10306050" y="2072643"/>
            <a:ext cx="609600" cy="6096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 rotWithShape="1">
          <a:blip r:embed="rId22"/>
          <a:stretch>
            <a:fillRect/>
          </a:stretch>
        </p:blipFill>
        <p:spPr>
          <a:xfrm>
            <a:off x="10467975" y="2225043"/>
            <a:ext cx="285750" cy="3048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 rotWithShape="1">
          <a:blip r:embed="rId23"/>
          <a:stretch>
            <a:fillRect/>
          </a:stretch>
        </p:blipFill>
        <p:spPr>
          <a:xfrm>
            <a:off x="228600" y="4853943"/>
            <a:ext cx="11734800" cy="1295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 rotWithShape="1">
          <a:blip r:embed="rId24"/>
          <a:stretch>
            <a:fillRect/>
          </a:stretch>
        </p:blipFill>
        <p:spPr>
          <a:xfrm>
            <a:off x="381000" y="5044443"/>
            <a:ext cx="11430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 rotWithShape="1">
          <a:blip r:embed="rId25"/>
          <a:stretch>
            <a:fillRect/>
          </a:stretch>
        </p:blipFill>
        <p:spPr>
          <a:xfrm>
            <a:off x="381000" y="5387343"/>
            <a:ext cx="3708350" cy="6096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 rotWithShape="1">
          <a:blip r:embed="rId26"/>
          <a:stretch>
            <a:fillRect/>
          </a:stretch>
        </p:blipFill>
        <p:spPr>
          <a:xfrm>
            <a:off x="495300" y="5501643"/>
            <a:ext cx="381000" cy="3810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 rotWithShape="1">
          <a:blip r:embed="rId27"/>
          <a:stretch>
            <a:fillRect/>
          </a:stretch>
        </p:blipFill>
        <p:spPr>
          <a:xfrm>
            <a:off x="590550" y="5615943"/>
            <a:ext cx="190500" cy="1524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 rotWithShape="1">
          <a:blip r:embed="rId28"/>
          <a:stretch>
            <a:fillRect/>
          </a:stretch>
        </p:blipFill>
        <p:spPr>
          <a:xfrm>
            <a:off x="4241750" y="5387343"/>
            <a:ext cx="3708350" cy="6096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 rotWithShape="1">
          <a:blip r:embed="rId29"/>
          <a:stretch>
            <a:fillRect/>
          </a:stretch>
        </p:blipFill>
        <p:spPr>
          <a:xfrm>
            <a:off x="4356050" y="5501643"/>
            <a:ext cx="381000" cy="3810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 rotWithShape="1">
          <a:blip r:embed="rId30"/>
          <a:stretch>
            <a:fillRect/>
          </a:stretch>
        </p:blipFill>
        <p:spPr>
          <a:xfrm>
            <a:off x="4451300" y="5615943"/>
            <a:ext cx="190500" cy="1524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 rotWithShape="1">
          <a:blip r:embed="rId31"/>
          <a:stretch>
            <a:fillRect/>
          </a:stretch>
        </p:blipFill>
        <p:spPr>
          <a:xfrm>
            <a:off x="8102501" y="5387343"/>
            <a:ext cx="3708499" cy="6096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 rotWithShape="1">
          <a:blip r:embed="rId32"/>
          <a:stretch>
            <a:fillRect/>
          </a:stretch>
        </p:blipFill>
        <p:spPr>
          <a:xfrm>
            <a:off x="8216801" y="5501643"/>
            <a:ext cx="381000" cy="3810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 rotWithShape="1">
          <a:blip r:embed="rId33"/>
          <a:stretch>
            <a:fillRect/>
          </a:stretch>
        </p:blipFill>
        <p:spPr>
          <a:xfrm>
            <a:off x="8331101" y="5615943"/>
            <a:ext cx="152400" cy="152400"/>
          </a:xfrm>
          <a:prstGeom prst="rect">
            <a:avLst/>
          </a:prstGeom>
        </p:spPr>
      </p:pic>
      <p:sp>
        <p:nvSpPr>
          <p:cNvPr id="37" name="Text 0"/>
          <p:cNvSpPr/>
          <p:nvPr/>
        </p:nvSpPr>
        <p:spPr>
          <a:xfrm>
            <a:off x="228600" y="228600"/>
            <a:ext cx="1798439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400"/>
              </a:lnSpc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핵심 기능 시연</a:t>
            </a:r>
            <a:endParaRPr lang="en-US" sz="18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8" name="Text 1"/>
          <p:cNvSpPr/>
          <p:nvPr/>
        </p:nvSpPr>
        <p:spPr>
          <a:xfrm>
            <a:off x="228600" y="571500"/>
            <a:ext cx="117348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ko-KR" altLang="en-US" sz="105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강사와 학생의 소통 기반 </a:t>
            </a:r>
            <a:r>
              <a:rPr lang="en-US" altLang="ko-KR" sz="105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LMS</a:t>
            </a:r>
            <a:r>
              <a:rPr lang="ko-KR" altLang="en-US" sz="105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플렛폼</a:t>
            </a:r>
            <a:r>
              <a:rPr lang="en-US" sz="105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의 사용자 시나리오 기반 주요 기능 시연</a:t>
            </a:r>
          </a:p>
        </p:txBody>
      </p:sp>
      <p:sp>
        <p:nvSpPr>
          <p:cNvPr id="39" name="Text 2"/>
          <p:cNvSpPr/>
          <p:nvPr/>
        </p:nvSpPr>
        <p:spPr>
          <a:xfrm>
            <a:off x="876300" y="1219200"/>
            <a:ext cx="5821799" cy="2286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라이브 시연:</a:t>
            </a:r>
            <a:r>
              <a:rPr lang="en-US" sz="120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준비된 시나리오에 따라 핵심 기능을 라이브로 시연합니다.</a:t>
            </a:r>
            <a:endParaRPr lang="en-US" sz="12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0" name="Text 3"/>
          <p:cNvSpPr/>
          <p:nvPr/>
        </p:nvSpPr>
        <p:spPr>
          <a:xfrm>
            <a:off x="700876" y="2796543"/>
            <a:ext cx="1760399" cy="2667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3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교수자의 강의 개설</a:t>
            </a:r>
            <a:endParaRPr lang="en-US" sz="13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1" name="Text 4"/>
          <p:cNvSpPr/>
          <p:nvPr/>
        </p:nvSpPr>
        <p:spPr>
          <a:xfrm>
            <a:off x="609600" y="32918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 정보 입력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2" name="Text 5"/>
          <p:cNvSpPr/>
          <p:nvPr/>
        </p:nvSpPr>
        <p:spPr>
          <a:xfrm>
            <a:off x="609600" y="35966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콘텐츠 업로드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3" name="Text 6"/>
          <p:cNvSpPr/>
          <p:nvPr/>
        </p:nvSpPr>
        <p:spPr>
          <a:xfrm>
            <a:off x="609600" y="39014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과제 설정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4" name="Text 7"/>
          <p:cNvSpPr/>
          <p:nvPr/>
        </p:nvSpPr>
        <p:spPr>
          <a:xfrm>
            <a:off x="609600" y="42062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공지사항 등록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5" name="Text 8"/>
          <p:cNvSpPr/>
          <p:nvPr/>
        </p:nvSpPr>
        <p:spPr>
          <a:xfrm>
            <a:off x="3945091" y="2796543"/>
            <a:ext cx="1291769" cy="2667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3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학습자의 수강</a:t>
            </a:r>
            <a:endParaRPr lang="en-US" sz="13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6" name="Text 9"/>
          <p:cNvSpPr/>
          <p:nvPr/>
        </p:nvSpPr>
        <p:spPr>
          <a:xfrm>
            <a:off x="3619500" y="32918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 목록 확인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7" name="Text 10"/>
          <p:cNvSpPr/>
          <p:nvPr/>
        </p:nvSpPr>
        <p:spPr>
          <a:xfrm>
            <a:off x="3619500" y="35966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수강 신청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8" name="Text 11"/>
          <p:cNvSpPr/>
          <p:nvPr/>
        </p:nvSpPr>
        <p:spPr>
          <a:xfrm>
            <a:off x="3619500" y="39014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 내용 보기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9" name="Text 12"/>
          <p:cNvSpPr/>
          <p:nvPr/>
        </p:nvSpPr>
        <p:spPr>
          <a:xfrm>
            <a:off x="3619500" y="42062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노트 작성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0" name="Text 13"/>
          <p:cNvSpPr/>
          <p:nvPr/>
        </p:nvSpPr>
        <p:spPr>
          <a:xfrm>
            <a:off x="7160731" y="2796543"/>
            <a:ext cx="880289" cy="2667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3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과제 제출</a:t>
            </a:r>
            <a:endParaRPr lang="en-US" sz="13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1" name="Text 14"/>
          <p:cNvSpPr/>
          <p:nvPr/>
        </p:nvSpPr>
        <p:spPr>
          <a:xfrm>
            <a:off x="6629400" y="32918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과제 받기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2" name="Text 15"/>
          <p:cNvSpPr/>
          <p:nvPr/>
        </p:nvSpPr>
        <p:spPr>
          <a:xfrm>
            <a:off x="6629400" y="35966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답안 작성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3" name="Text 16"/>
          <p:cNvSpPr/>
          <p:nvPr/>
        </p:nvSpPr>
        <p:spPr>
          <a:xfrm>
            <a:off x="6629400" y="39014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파일 첨부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4" name="Text 17"/>
          <p:cNvSpPr/>
          <p:nvPr/>
        </p:nvSpPr>
        <p:spPr>
          <a:xfrm>
            <a:off x="6629400" y="42062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제출하기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5" name="Text 18"/>
          <p:cNvSpPr/>
          <p:nvPr/>
        </p:nvSpPr>
        <p:spPr>
          <a:xfrm>
            <a:off x="9862021" y="2796543"/>
            <a:ext cx="1497509" cy="2667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3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교수자의 피드백</a:t>
            </a:r>
            <a:endParaRPr lang="en-US" sz="13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6" name="Text 19"/>
          <p:cNvSpPr/>
          <p:nvPr/>
        </p:nvSpPr>
        <p:spPr>
          <a:xfrm>
            <a:off x="9639300" y="32918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답안 확인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7" name="Text 20"/>
          <p:cNvSpPr/>
          <p:nvPr/>
        </p:nvSpPr>
        <p:spPr>
          <a:xfrm>
            <a:off x="9639300" y="35966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평가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8" name="Text 21"/>
          <p:cNvSpPr/>
          <p:nvPr/>
        </p:nvSpPr>
        <p:spPr>
          <a:xfrm>
            <a:off x="9639300" y="39014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개별 피드백 제공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9" name="Text 22"/>
          <p:cNvSpPr/>
          <p:nvPr/>
        </p:nvSpPr>
        <p:spPr>
          <a:xfrm>
            <a:off x="9639300" y="42062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성적 관리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0" name="Text 23"/>
          <p:cNvSpPr/>
          <p:nvPr/>
        </p:nvSpPr>
        <p:spPr>
          <a:xfrm>
            <a:off x="571500" y="5006343"/>
            <a:ext cx="11430000" cy="2286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시연 특징</a:t>
            </a:r>
            <a:endParaRPr lang="en-US" sz="12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1" name="Text 24"/>
          <p:cNvSpPr/>
          <p:nvPr/>
        </p:nvSpPr>
        <p:spPr>
          <a:xfrm>
            <a:off x="990600" y="5543899"/>
            <a:ext cx="2984450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실제로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실행되는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시스템을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통해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endParaRPr lang="en-US" sz="900" dirty="0" smtClean="0">
              <a:solidFill>
                <a:srgbClr val="D1D5DB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cs typeface="Segoe UI"/>
            </a:endParaRPr>
          </a:p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모든</a:t>
            </a:r>
            <a:r>
              <a:rPr lang="en-US" sz="900" dirty="0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기능의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연속성을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보여줍니다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2" name="Text 25"/>
          <p:cNvSpPr/>
          <p:nvPr/>
        </p:nvSpPr>
        <p:spPr>
          <a:xfrm>
            <a:off x="4856886" y="5543899"/>
            <a:ext cx="2984450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다양한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사용자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역할의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동시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작동을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통해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endParaRPr lang="en-US" sz="900" dirty="0" smtClean="0">
              <a:solidFill>
                <a:srgbClr val="D1D5DB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cs typeface="Segoe UI"/>
            </a:endParaRPr>
          </a:p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시스템의</a:t>
            </a:r>
            <a:r>
              <a:rPr lang="en-US" sz="900" dirty="0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인터랙션을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설명합니다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3" name="Text 26"/>
          <p:cNvSpPr/>
          <p:nvPr/>
        </p:nvSpPr>
        <p:spPr>
          <a:xfrm>
            <a:off x="8712101" y="5539743"/>
            <a:ext cx="2984599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시스템의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반응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시간과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성능을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endParaRPr lang="en-US" sz="900" dirty="0" smtClean="0">
              <a:solidFill>
                <a:srgbClr val="D1D5DB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cs typeface="Segoe UI"/>
            </a:endParaRPr>
          </a:p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실시간으로</a:t>
            </a:r>
            <a:r>
              <a:rPr lang="en-US" sz="900" dirty="0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측정하여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최적화된</a:t>
            </a:r>
            <a:r>
              <a:rPr lang="en-US" sz="900" dirty="0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결과를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제공합니다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64" name="Image 6" descr="preencoded.png"/>
          <p:cNvPicPr>
            <a:picLocks noChangeAspect="1"/>
          </p:cNvPicPr>
          <p:nvPr/>
        </p:nvPicPr>
        <p:blipFill rotWithShape="1">
          <a:blip r:embed="rId9"/>
          <a:srcRect r="71677"/>
          <a:stretch/>
        </p:blipFill>
        <p:spPr>
          <a:xfrm>
            <a:off x="3200400" y="2275266"/>
            <a:ext cx="3426230" cy="2628900"/>
          </a:xfrm>
          <a:prstGeom prst="rect">
            <a:avLst/>
          </a:prstGeom>
        </p:spPr>
      </p:pic>
      <p:pic>
        <p:nvPicPr>
          <p:cNvPr id="65" name="Image 6" descr="preencoded.png"/>
          <p:cNvPicPr>
            <a:picLocks noChangeAspect="1"/>
          </p:cNvPicPr>
          <p:nvPr/>
        </p:nvPicPr>
        <p:blipFill rotWithShape="1">
          <a:blip r:embed="rId9"/>
          <a:srcRect r="71677"/>
          <a:stretch/>
        </p:blipFill>
        <p:spPr>
          <a:xfrm>
            <a:off x="6169430" y="2275266"/>
            <a:ext cx="3426230" cy="26289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3213199" y="361950"/>
            <a:ext cx="6096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28600" y="840966"/>
            <a:ext cx="5753100" cy="29146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381000" y="993366"/>
            <a:ext cx="5448300" cy="4572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381000" y="993366"/>
            <a:ext cx="381000" cy="381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485775" y="1050516"/>
            <a:ext cx="171450" cy="2667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381000" y="1602966"/>
            <a:ext cx="5448300" cy="6096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495300" y="1717266"/>
            <a:ext cx="304800" cy="3048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561975" y="1793466"/>
            <a:ext cx="171450" cy="152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381000" y="2326866"/>
            <a:ext cx="5448300" cy="6096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495300" y="2441166"/>
            <a:ext cx="304800" cy="304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>
            <a:off x="552450" y="2517366"/>
            <a:ext cx="1905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381000" y="3050766"/>
            <a:ext cx="5448300" cy="6096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495300" y="3165066"/>
            <a:ext cx="304800" cy="3048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 rotWithShape="1">
          <a:blip r:embed="rId14"/>
          <a:stretch>
            <a:fillRect/>
          </a:stretch>
        </p:blipFill>
        <p:spPr>
          <a:xfrm>
            <a:off x="590550" y="3241266"/>
            <a:ext cx="1143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381000" y="4003266"/>
            <a:ext cx="5448300" cy="4572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342900" y="4003266"/>
            <a:ext cx="381000" cy="3810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 rotWithShape="1">
          <a:blip r:embed="rId15"/>
          <a:stretch>
            <a:fillRect/>
          </a:stretch>
        </p:blipFill>
        <p:spPr>
          <a:xfrm>
            <a:off x="466725" y="4060416"/>
            <a:ext cx="133350" cy="2667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381000" y="4631916"/>
            <a:ext cx="5448300" cy="6096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 rotWithShape="1">
          <a:blip r:embed="rId17"/>
          <a:stretch>
            <a:fillRect/>
          </a:stretch>
        </p:blipFill>
        <p:spPr>
          <a:xfrm>
            <a:off x="495300" y="4746216"/>
            <a:ext cx="304800" cy="3048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 rotWithShape="1">
          <a:blip r:embed="rId18"/>
          <a:stretch>
            <a:fillRect/>
          </a:stretch>
        </p:blipFill>
        <p:spPr>
          <a:xfrm>
            <a:off x="571500" y="4822416"/>
            <a:ext cx="1524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381000" y="5355816"/>
            <a:ext cx="5448300" cy="6096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 rotWithShape="1">
          <a:blip r:embed="rId17"/>
          <a:stretch>
            <a:fillRect/>
          </a:stretch>
        </p:blipFill>
        <p:spPr>
          <a:xfrm>
            <a:off x="495300" y="5470116"/>
            <a:ext cx="304800" cy="3048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 rotWithShape="1">
          <a:blip r:embed="rId19"/>
          <a:stretch>
            <a:fillRect/>
          </a:stretch>
        </p:blipFill>
        <p:spPr>
          <a:xfrm>
            <a:off x="581025" y="5546316"/>
            <a:ext cx="133350" cy="1524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 rotWithShape="1">
          <a:blip r:embed="rId20"/>
          <a:stretch>
            <a:fillRect/>
          </a:stretch>
        </p:blipFill>
        <p:spPr>
          <a:xfrm>
            <a:off x="381000" y="6079716"/>
            <a:ext cx="5448300" cy="6096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 rotWithShape="1">
          <a:blip r:embed="rId21"/>
          <a:stretch>
            <a:fillRect/>
          </a:stretch>
        </p:blipFill>
        <p:spPr>
          <a:xfrm>
            <a:off x="495300" y="6194016"/>
            <a:ext cx="304800" cy="3048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 rotWithShape="1">
          <a:blip r:embed="rId22"/>
          <a:stretch>
            <a:fillRect/>
          </a:stretch>
        </p:blipFill>
        <p:spPr>
          <a:xfrm>
            <a:off x="571500" y="6270216"/>
            <a:ext cx="152400" cy="1524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6362700" y="993366"/>
            <a:ext cx="5448300" cy="4572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 rotWithShape="1">
          <a:blip r:embed="rId23"/>
          <a:stretch>
            <a:fillRect/>
          </a:stretch>
        </p:blipFill>
        <p:spPr>
          <a:xfrm>
            <a:off x="6362700" y="993366"/>
            <a:ext cx="381000" cy="3810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 rotWithShape="1">
          <a:blip r:embed="rId24"/>
          <a:stretch>
            <a:fillRect/>
          </a:stretch>
        </p:blipFill>
        <p:spPr>
          <a:xfrm>
            <a:off x="6457950" y="1050516"/>
            <a:ext cx="190500" cy="2667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 rotWithShape="1">
          <a:blip r:embed="rId25"/>
          <a:stretch>
            <a:fillRect/>
          </a:stretch>
        </p:blipFill>
        <p:spPr>
          <a:xfrm>
            <a:off x="6362700" y="1602966"/>
            <a:ext cx="2647950" cy="152400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 rotWithShape="1">
          <a:blip r:embed="rId26"/>
          <a:stretch>
            <a:fillRect/>
          </a:stretch>
        </p:blipFill>
        <p:spPr>
          <a:xfrm>
            <a:off x="7419975" y="1755366"/>
            <a:ext cx="533400" cy="533400"/>
          </a:xfrm>
          <a:prstGeom prst="rect">
            <a:avLst/>
          </a:prstGeom>
        </p:spPr>
      </p:pic>
      <p:pic>
        <p:nvPicPr>
          <p:cNvPr id="40" name="Image 38" descr="preencoded.png"/>
          <p:cNvPicPr>
            <a:picLocks noChangeAspect="1"/>
          </p:cNvPicPr>
          <p:nvPr/>
        </p:nvPicPr>
        <p:blipFill rotWithShape="1">
          <a:blip r:embed="rId27"/>
          <a:stretch>
            <a:fillRect/>
          </a:stretch>
        </p:blipFill>
        <p:spPr>
          <a:xfrm>
            <a:off x="7577138" y="1888716"/>
            <a:ext cx="219075" cy="266700"/>
          </a:xfrm>
          <a:prstGeom prst="rect">
            <a:avLst/>
          </a:prstGeom>
        </p:spPr>
      </p:pic>
      <p:pic>
        <p:nvPicPr>
          <p:cNvPr id="41" name="Image 39" descr="preencoded.png"/>
          <p:cNvPicPr>
            <a:picLocks noChangeAspect="1"/>
          </p:cNvPicPr>
          <p:nvPr/>
        </p:nvPicPr>
        <p:blipFill rotWithShape="1">
          <a:blip r:embed="rId25"/>
          <a:stretch>
            <a:fillRect/>
          </a:stretch>
        </p:blipFill>
        <p:spPr>
          <a:xfrm>
            <a:off x="9163050" y="1602966"/>
            <a:ext cx="2647950" cy="1524000"/>
          </a:xfrm>
          <a:prstGeom prst="rect">
            <a:avLst/>
          </a:prstGeom>
        </p:spPr>
      </p:pic>
      <p:pic>
        <p:nvPicPr>
          <p:cNvPr id="42" name="Image 40" descr="preencoded.png"/>
          <p:cNvPicPr>
            <a:picLocks noChangeAspect="1"/>
          </p:cNvPicPr>
          <p:nvPr/>
        </p:nvPicPr>
        <p:blipFill rotWithShape="1">
          <a:blip r:embed="rId26"/>
          <a:stretch>
            <a:fillRect/>
          </a:stretch>
        </p:blipFill>
        <p:spPr>
          <a:xfrm>
            <a:off x="10220325" y="1755366"/>
            <a:ext cx="533400" cy="533400"/>
          </a:xfrm>
          <a:prstGeom prst="rect">
            <a:avLst/>
          </a:prstGeom>
        </p:spPr>
      </p:pic>
      <p:pic>
        <p:nvPicPr>
          <p:cNvPr id="43" name="Image 41" descr="preencoded.png"/>
          <p:cNvPicPr>
            <a:picLocks noChangeAspect="1"/>
          </p:cNvPicPr>
          <p:nvPr/>
        </p:nvPicPr>
        <p:blipFill rotWithShape="1">
          <a:blip r:embed="rId28"/>
          <a:stretch>
            <a:fillRect/>
          </a:stretch>
        </p:blipFill>
        <p:spPr>
          <a:xfrm>
            <a:off x="10415588" y="1888716"/>
            <a:ext cx="142875" cy="266700"/>
          </a:xfrm>
          <a:prstGeom prst="rect">
            <a:avLst/>
          </a:prstGeom>
        </p:spPr>
      </p:pic>
      <p:pic>
        <p:nvPicPr>
          <p:cNvPr id="44" name="Image 42" descr="preencoded.png"/>
          <p:cNvPicPr>
            <a:picLocks noChangeAspect="1"/>
          </p:cNvPicPr>
          <p:nvPr/>
        </p:nvPicPr>
        <p:blipFill rotWithShape="1">
          <a:blip r:embed="rId25"/>
          <a:stretch>
            <a:fillRect/>
          </a:stretch>
        </p:blipFill>
        <p:spPr>
          <a:xfrm>
            <a:off x="6362700" y="3279366"/>
            <a:ext cx="2647950" cy="1524000"/>
          </a:xfrm>
          <a:prstGeom prst="rect">
            <a:avLst/>
          </a:prstGeom>
        </p:spPr>
      </p:pic>
      <p:pic>
        <p:nvPicPr>
          <p:cNvPr id="45" name="Image 43" descr="preencoded.png"/>
          <p:cNvPicPr>
            <a:picLocks noChangeAspect="1"/>
          </p:cNvPicPr>
          <p:nvPr/>
        </p:nvPicPr>
        <p:blipFill rotWithShape="1">
          <a:blip r:embed="rId29"/>
          <a:stretch>
            <a:fillRect/>
          </a:stretch>
        </p:blipFill>
        <p:spPr>
          <a:xfrm>
            <a:off x="7419975" y="3431766"/>
            <a:ext cx="533400" cy="533400"/>
          </a:xfrm>
          <a:prstGeom prst="rect">
            <a:avLst/>
          </a:prstGeom>
        </p:spPr>
      </p:pic>
      <p:pic>
        <p:nvPicPr>
          <p:cNvPr id="46" name="Image 44" descr="preencoded.png"/>
          <p:cNvPicPr>
            <a:picLocks noChangeAspect="1"/>
          </p:cNvPicPr>
          <p:nvPr/>
        </p:nvPicPr>
        <p:blipFill rotWithShape="1">
          <a:blip r:embed="rId30"/>
          <a:stretch>
            <a:fillRect/>
          </a:stretch>
        </p:blipFill>
        <p:spPr>
          <a:xfrm>
            <a:off x="7591425" y="3565116"/>
            <a:ext cx="190500" cy="266700"/>
          </a:xfrm>
          <a:prstGeom prst="rect">
            <a:avLst/>
          </a:prstGeom>
        </p:spPr>
      </p:pic>
      <p:pic>
        <p:nvPicPr>
          <p:cNvPr id="47" name="Image 45" descr="preencoded.png"/>
          <p:cNvPicPr>
            <a:picLocks noChangeAspect="1"/>
          </p:cNvPicPr>
          <p:nvPr/>
        </p:nvPicPr>
        <p:blipFill rotWithShape="1">
          <a:blip r:embed="rId25"/>
          <a:stretch>
            <a:fillRect/>
          </a:stretch>
        </p:blipFill>
        <p:spPr>
          <a:xfrm>
            <a:off x="9163050" y="3279366"/>
            <a:ext cx="2647950" cy="1524000"/>
          </a:xfrm>
          <a:prstGeom prst="rect">
            <a:avLst/>
          </a:prstGeom>
        </p:spPr>
      </p:pic>
      <p:pic>
        <p:nvPicPr>
          <p:cNvPr id="48" name="Image 46" descr="preencoded.png"/>
          <p:cNvPicPr>
            <a:picLocks noChangeAspect="1"/>
          </p:cNvPicPr>
          <p:nvPr/>
        </p:nvPicPr>
        <p:blipFill rotWithShape="1">
          <a:blip r:embed="rId29"/>
          <a:stretch>
            <a:fillRect/>
          </a:stretch>
        </p:blipFill>
        <p:spPr>
          <a:xfrm>
            <a:off x="10220325" y="3431766"/>
            <a:ext cx="533400" cy="533400"/>
          </a:xfrm>
          <a:prstGeom prst="rect">
            <a:avLst/>
          </a:prstGeom>
        </p:spPr>
      </p:pic>
      <p:pic>
        <p:nvPicPr>
          <p:cNvPr id="49" name="Image 47" descr="preencoded.png"/>
          <p:cNvPicPr>
            <a:picLocks noChangeAspect="1"/>
          </p:cNvPicPr>
          <p:nvPr/>
        </p:nvPicPr>
        <p:blipFill rotWithShape="1">
          <a:blip r:embed="rId31"/>
          <a:stretch>
            <a:fillRect/>
          </a:stretch>
        </p:blipFill>
        <p:spPr>
          <a:xfrm>
            <a:off x="10391775" y="3565116"/>
            <a:ext cx="190500" cy="266700"/>
          </a:xfrm>
          <a:prstGeom prst="rect">
            <a:avLst/>
          </a:prstGeom>
        </p:spPr>
      </p:pic>
      <p:pic>
        <p:nvPicPr>
          <p:cNvPr id="50" name="Image 48" descr="preencoded.png"/>
          <p:cNvPicPr>
            <a:picLocks noChangeAspect="1"/>
          </p:cNvPicPr>
          <p:nvPr/>
        </p:nvPicPr>
        <p:blipFill rotWithShape="1">
          <a:blip r:embed="rId25"/>
          <a:stretch>
            <a:fillRect/>
          </a:stretch>
        </p:blipFill>
        <p:spPr>
          <a:xfrm>
            <a:off x="6362700" y="4955766"/>
            <a:ext cx="2647950" cy="1524000"/>
          </a:xfrm>
          <a:prstGeom prst="rect">
            <a:avLst/>
          </a:prstGeom>
        </p:spPr>
      </p:pic>
      <p:pic>
        <p:nvPicPr>
          <p:cNvPr id="51" name="Image 49" descr="preencoded.png"/>
          <p:cNvPicPr>
            <a:picLocks noChangeAspect="1"/>
          </p:cNvPicPr>
          <p:nvPr/>
        </p:nvPicPr>
        <p:blipFill rotWithShape="1">
          <a:blip r:embed="rId32"/>
          <a:stretch>
            <a:fillRect/>
          </a:stretch>
        </p:blipFill>
        <p:spPr>
          <a:xfrm>
            <a:off x="7419975" y="5108166"/>
            <a:ext cx="533400" cy="533400"/>
          </a:xfrm>
          <a:prstGeom prst="rect">
            <a:avLst/>
          </a:prstGeom>
        </p:spPr>
      </p:pic>
      <p:pic>
        <p:nvPicPr>
          <p:cNvPr id="52" name="Image 50" descr="preencoded.png"/>
          <p:cNvPicPr>
            <a:picLocks noChangeAspect="1"/>
          </p:cNvPicPr>
          <p:nvPr/>
        </p:nvPicPr>
        <p:blipFill rotWithShape="1">
          <a:blip r:embed="rId33"/>
          <a:stretch>
            <a:fillRect/>
          </a:stretch>
        </p:blipFill>
        <p:spPr>
          <a:xfrm>
            <a:off x="7591425" y="5241516"/>
            <a:ext cx="190500" cy="266700"/>
          </a:xfrm>
          <a:prstGeom prst="rect">
            <a:avLst/>
          </a:prstGeom>
        </p:spPr>
      </p:pic>
      <p:pic>
        <p:nvPicPr>
          <p:cNvPr id="53" name="Image 51" descr="preencoded.png"/>
          <p:cNvPicPr>
            <a:picLocks noChangeAspect="1"/>
          </p:cNvPicPr>
          <p:nvPr/>
        </p:nvPicPr>
        <p:blipFill rotWithShape="1">
          <a:blip r:embed="rId25"/>
          <a:stretch>
            <a:fillRect/>
          </a:stretch>
        </p:blipFill>
        <p:spPr>
          <a:xfrm>
            <a:off x="9163050" y="4955766"/>
            <a:ext cx="2647950" cy="1524000"/>
          </a:xfrm>
          <a:prstGeom prst="rect">
            <a:avLst/>
          </a:prstGeom>
        </p:spPr>
      </p:pic>
      <p:pic>
        <p:nvPicPr>
          <p:cNvPr id="54" name="Image 52" descr="preencoded.png"/>
          <p:cNvPicPr>
            <a:picLocks noChangeAspect="1"/>
          </p:cNvPicPr>
          <p:nvPr/>
        </p:nvPicPr>
        <p:blipFill rotWithShape="1">
          <a:blip r:embed="rId32"/>
          <a:stretch>
            <a:fillRect/>
          </a:stretch>
        </p:blipFill>
        <p:spPr>
          <a:xfrm>
            <a:off x="10220325" y="5108166"/>
            <a:ext cx="533400" cy="533400"/>
          </a:xfrm>
          <a:prstGeom prst="rect">
            <a:avLst/>
          </a:prstGeom>
        </p:spPr>
      </p:pic>
      <p:pic>
        <p:nvPicPr>
          <p:cNvPr id="55" name="Image 53" descr="preencoded.png"/>
          <p:cNvPicPr>
            <a:picLocks noChangeAspect="1"/>
          </p:cNvPicPr>
          <p:nvPr/>
        </p:nvPicPr>
        <p:blipFill rotWithShape="1">
          <a:blip r:embed="rId34"/>
          <a:stretch>
            <a:fillRect/>
          </a:stretch>
        </p:blipFill>
        <p:spPr>
          <a:xfrm>
            <a:off x="10367963" y="5241516"/>
            <a:ext cx="238125" cy="266700"/>
          </a:xfrm>
          <a:prstGeom prst="rect">
            <a:avLst/>
          </a:prstGeom>
        </p:spPr>
      </p:pic>
      <p:sp>
        <p:nvSpPr>
          <p:cNvPr id="57" name="Text 0"/>
          <p:cNvSpPr/>
          <p:nvPr/>
        </p:nvSpPr>
        <p:spPr>
          <a:xfrm>
            <a:off x="228600" y="228600"/>
            <a:ext cx="3398639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400"/>
              </a:lnSpc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문제 해결 과정 및 향후 계획</a:t>
            </a:r>
            <a:endParaRPr lang="en-US" sz="18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8" name="Text 1"/>
          <p:cNvSpPr/>
          <p:nvPr/>
        </p:nvSpPr>
        <p:spPr>
          <a:xfrm>
            <a:off x="228600" y="571500"/>
            <a:ext cx="117348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강사와 학생의 소통 기반 </a:t>
            </a:r>
            <a:r>
              <a:rPr lang="en-US" altLang="ko-KR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LMS </a:t>
            </a:r>
            <a:r>
              <a:rPr lang="ko-KR" alt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플렛폼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개발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과정에서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직면한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주요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문제와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해결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방안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,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그리고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미래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발전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방향</a:t>
            </a:r>
            <a:endParaRPr lang="en-US" sz="1050" dirty="0">
              <a:solidFill>
                <a:srgbClr val="67E8F9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cs typeface="Segoe UI"/>
            </a:endParaRPr>
          </a:p>
        </p:txBody>
      </p:sp>
      <p:sp>
        <p:nvSpPr>
          <p:cNvPr id="59" name="Text 2"/>
          <p:cNvSpPr/>
          <p:nvPr/>
        </p:nvSpPr>
        <p:spPr>
          <a:xfrm>
            <a:off x="876300" y="1050516"/>
            <a:ext cx="1086029" cy="2667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100"/>
              </a:lnSpc>
              <a:buNone/>
              <a:defRPr/>
            </a:pPr>
            <a:r>
              <a:rPr lang="en-US" sz="13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발생한 문제</a:t>
            </a:r>
            <a:endParaRPr lang="en-US" sz="13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0" name="Text 3"/>
          <p:cNvSpPr/>
          <p:nvPr/>
        </p:nvSpPr>
        <p:spPr>
          <a:xfrm>
            <a:off x="914400" y="1717266"/>
            <a:ext cx="27356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대용량 비디오 스트리밍 문제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1" name="Text 4"/>
          <p:cNvSpPr/>
          <p:nvPr/>
        </p:nvSpPr>
        <p:spPr>
          <a:xfrm>
            <a:off x="914400" y="1945866"/>
            <a:ext cx="27356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고해상도 강의 영상 버퍼링 및 로드 지연 발생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2" name="Text 5"/>
          <p:cNvSpPr/>
          <p:nvPr/>
        </p:nvSpPr>
        <p:spPr>
          <a:xfrm>
            <a:off x="914400" y="2441166"/>
            <a:ext cx="23813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동시 접속자 수 증가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3" name="Text 6"/>
          <p:cNvSpPr/>
          <p:nvPr/>
        </p:nvSpPr>
        <p:spPr>
          <a:xfrm>
            <a:off x="914400" y="2669766"/>
            <a:ext cx="285767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과부하로 인한 API 응답 지연 및 서버 성능 저하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4" name="Text 7"/>
          <p:cNvSpPr/>
          <p:nvPr/>
        </p:nvSpPr>
        <p:spPr>
          <a:xfrm>
            <a:off x="914400" y="3165066"/>
            <a:ext cx="2751058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다양한 디바이스 호환성 문제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5" name="Text 8"/>
          <p:cNvSpPr/>
          <p:nvPr/>
        </p:nvSpPr>
        <p:spPr>
          <a:xfrm>
            <a:off x="914400" y="3393666"/>
            <a:ext cx="2751058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모바일 및 태블릿에서 최적화되지 않은 UI/UX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6" name="Text 9"/>
          <p:cNvSpPr/>
          <p:nvPr/>
        </p:nvSpPr>
        <p:spPr>
          <a:xfrm>
            <a:off x="838200" y="4060416"/>
            <a:ext cx="880289" cy="2667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100"/>
              </a:lnSpc>
              <a:buNone/>
              <a:defRPr/>
            </a:pPr>
            <a:r>
              <a:rPr lang="en-US" sz="13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해결 방법</a:t>
            </a:r>
            <a:endParaRPr lang="en-US" sz="13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7" name="Text 10"/>
          <p:cNvSpPr/>
          <p:nvPr/>
        </p:nvSpPr>
        <p:spPr>
          <a:xfrm>
            <a:off x="914400" y="4746216"/>
            <a:ext cx="330844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HLS 프로토콜 도입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8" name="Text 11"/>
          <p:cNvSpPr/>
          <p:nvPr/>
        </p:nvSpPr>
        <p:spPr>
          <a:xfrm>
            <a:off x="914400" y="4974816"/>
            <a:ext cx="397013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적응형 비트레이트 스트리밍으로 네트워크 환경에 맞는 품질 제공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9" name="Text 12"/>
          <p:cNvSpPr/>
          <p:nvPr/>
        </p:nvSpPr>
        <p:spPr>
          <a:xfrm>
            <a:off x="914400" y="5470116"/>
            <a:ext cx="3124498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API 응답 캐싱 및 로드 밸런싱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0" name="Text 13"/>
          <p:cNvSpPr/>
          <p:nvPr/>
        </p:nvSpPr>
        <p:spPr>
          <a:xfrm>
            <a:off x="914400" y="5698716"/>
            <a:ext cx="3749397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Redis 캐시 적용과 서버 부하 분산 처리를 통한 응답 속도 개선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1" name="Text 14"/>
          <p:cNvSpPr/>
          <p:nvPr/>
        </p:nvSpPr>
        <p:spPr>
          <a:xfrm>
            <a:off x="914400" y="6194016"/>
            <a:ext cx="299725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쿼리 최적화 및 DB 인덱싱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2" name="Text 15"/>
          <p:cNvSpPr/>
          <p:nvPr/>
        </p:nvSpPr>
        <p:spPr>
          <a:xfrm>
            <a:off x="914400" y="6422616"/>
            <a:ext cx="35967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데이터베이스 쿼리 재설계 및 인덱스 개선을 통한 성능 향상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5" name="Text 18"/>
          <p:cNvSpPr/>
          <p:nvPr/>
        </p:nvSpPr>
        <p:spPr>
          <a:xfrm>
            <a:off x="6858000" y="1050516"/>
            <a:ext cx="1348919" cy="2667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100"/>
              </a:lnSpc>
              <a:buNone/>
              <a:defRPr/>
            </a:pPr>
            <a:r>
              <a:rPr lang="en-US" sz="13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향후 개선 계획</a:t>
            </a:r>
            <a:endParaRPr lang="en-US" sz="13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6" name="Text 19"/>
          <p:cNvSpPr/>
          <p:nvPr/>
        </p:nvSpPr>
        <p:spPr>
          <a:xfrm>
            <a:off x="7082135" y="2403066"/>
            <a:ext cx="120908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실시간 화상 강의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7" name="Text 20"/>
          <p:cNvSpPr/>
          <p:nvPr/>
        </p:nvSpPr>
        <p:spPr>
          <a:xfrm>
            <a:off x="6515100" y="2669766"/>
            <a:ext cx="2343150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교수자와 학습자간 실시간 인터랙션을 위한 비디오 채팅 기능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8" name="Text 21"/>
          <p:cNvSpPr/>
          <p:nvPr/>
        </p:nvSpPr>
        <p:spPr>
          <a:xfrm>
            <a:off x="9744626" y="2403066"/>
            <a:ext cx="148465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모바일 애플리케이션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9" name="Text 22"/>
          <p:cNvSpPr/>
          <p:nvPr/>
        </p:nvSpPr>
        <p:spPr>
          <a:xfrm>
            <a:off x="9315450" y="2669766"/>
            <a:ext cx="2343150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언제 어디서나 학습 가능한 네이티브 모바일 앱 개발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0" name="Text 23"/>
          <p:cNvSpPr/>
          <p:nvPr/>
        </p:nvSpPr>
        <p:spPr>
          <a:xfrm>
            <a:off x="6979816" y="4079466"/>
            <a:ext cx="141357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AI 기반 맞춤형 학습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1" name="Text 24"/>
          <p:cNvSpPr/>
          <p:nvPr/>
        </p:nvSpPr>
        <p:spPr>
          <a:xfrm>
            <a:off x="6515100" y="4346166"/>
            <a:ext cx="2343150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학생의 학습 데이터 분석으로 개인화된 학습 경로 추천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2" name="Text 25"/>
          <p:cNvSpPr/>
          <p:nvPr/>
        </p:nvSpPr>
        <p:spPr>
          <a:xfrm>
            <a:off x="9802475" y="4079466"/>
            <a:ext cx="13691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학습 분석 대시보드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3" name="Text 26"/>
          <p:cNvSpPr/>
          <p:nvPr/>
        </p:nvSpPr>
        <p:spPr>
          <a:xfrm>
            <a:off x="9315450" y="4346166"/>
            <a:ext cx="2343150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AI 알고리즘 기반 학습 데이터 분석과 실시간 피드백 제공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4" name="Text 27"/>
          <p:cNvSpPr/>
          <p:nvPr/>
        </p:nvSpPr>
        <p:spPr>
          <a:xfrm>
            <a:off x="7264316" y="5755866"/>
            <a:ext cx="84457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다국어 지원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5" name="Text 28"/>
          <p:cNvSpPr/>
          <p:nvPr/>
        </p:nvSpPr>
        <p:spPr>
          <a:xfrm>
            <a:off x="6515100" y="6022566"/>
            <a:ext cx="2343150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국제화를 위한 다국어 인터페이스 및 자막 시스템 구현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6" name="Text 29"/>
          <p:cNvSpPr/>
          <p:nvPr/>
        </p:nvSpPr>
        <p:spPr>
          <a:xfrm>
            <a:off x="9962495" y="5755866"/>
            <a:ext cx="104906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협업 학습 도구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7" name="Text 30"/>
          <p:cNvSpPr/>
          <p:nvPr/>
        </p:nvSpPr>
        <p:spPr>
          <a:xfrm>
            <a:off x="9315450" y="6022566"/>
            <a:ext cx="2343150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실시간 문서 공동 편집 및 그룹 프로젝트 관리 기능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89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28600" y="3879441"/>
            <a:ext cx="5753100" cy="2828925"/>
          </a:xfrm>
          <a:prstGeom prst="rect">
            <a:avLst/>
          </a:prstGeom>
        </p:spPr>
      </p:pic>
      <p:pic>
        <p:nvPicPr>
          <p:cNvPr id="88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6186055" y="840966"/>
            <a:ext cx="5753100" cy="58483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295400" y="361950"/>
            <a:ext cx="609600" cy="381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5486400" y="1543050"/>
            <a:ext cx="1219200" cy="12192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5738813" y="1866900"/>
            <a:ext cx="714375" cy="5715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3815209" y="5753100"/>
            <a:ext cx="4561582" cy="3429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4043809" y="5848350"/>
            <a:ext cx="152400" cy="152400"/>
          </a:xfrm>
          <a:prstGeom prst="rect">
            <a:avLst/>
          </a:prstGeom>
        </p:spPr>
      </p:pic>
      <p:sp>
        <p:nvSpPr>
          <p:cNvPr id="20" name="Text 0"/>
          <p:cNvSpPr/>
          <p:nvPr/>
        </p:nvSpPr>
        <p:spPr>
          <a:xfrm>
            <a:off x="228600" y="228600"/>
            <a:ext cx="1097280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400"/>
              </a:lnSpc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질의응답</a:t>
            </a:r>
            <a:endParaRPr lang="en-US" sz="18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1" name="Text 1"/>
          <p:cNvSpPr/>
          <p:nvPr/>
        </p:nvSpPr>
        <p:spPr>
          <a:xfrm>
            <a:off x="8915727" y="266700"/>
            <a:ext cx="3366136" cy="2286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800"/>
              </a:lnSpc>
              <a:buNone/>
              <a:defRPr/>
            </a:pPr>
            <a:r>
              <a:rPr lang="ko-KR" altLang="en-US" sz="120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강사와 학생의 소통 기반 </a:t>
            </a:r>
            <a:r>
              <a:rPr lang="en-US" altLang="ko-KR" sz="120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LMS</a:t>
            </a:r>
            <a:r>
              <a:rPr lang="ko-KR" altLang="en-US" sz="120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플렛폼</a:t>
            </a:r>
            <a:r>
              <a:rPr lang="en-US" sz="120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프로젝트</a:t>
            </a:r>
          </a:p>
        </p:txBody>
      </p:sp>
      <p:sp>
        <p:nvSpPr>
          <p:cNvPr id="22" name="Text 2"/>
          <p:cNvSpPr/>
          <p:nvPr/>
        </p:nvSpPr>
        <p:spPr>
          <a:xfrm>
            <a:off x="3123754" y="2990850"/>
            <a:ext cx="5944344" cy="381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3000"/>
              </a:lnSpc>
              <a:buNone/>
              <a:defRPr/>
            </a:pPr>
            <a:r>
              <a:rPr lang="en-US" sz="27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감사합니다!</a:t>
            </a:r>
            <a:endParaRPr lang="en-US" sz="27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3" name="Text 3"/>
          <p:cNvSpPr/>
          <p:nvPr/>
        </p:nvSpPr>
        <p:spPr>
          <a:xfrm>
            <a:off x="3123754" y="3600450"/>
            <a:ext cx="5944344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2400"/>
              </a:lnSpc>
              <a:buNone/>
              <a:defRPr/>
            </a:pPr>
            <a:r>
              <a:rPr lang="en-US" sz="180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이제 질문 시간입니다</a:t>
            </a:r>
            <a:endParaRPr lang="en-US" sz="18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4" name="Text 4"/>
          <p:cNvSpPr/>
          <p:nvPr/>
        </p:nvSpPr>
        <p:spPr>
          <a:xfrm>
            <a:off x="2529319" y="4057650"/>
            <a:ext cx="7133213" cy="2667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ts val="2100"/>
              </a:lnSpc>
              <a:defRPr/>
            </a:pPr>
            <a:r>
              <a:rPr lang="ko-KR" altLang="en-US" sz="140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강사와 학생의 소통 기반 </a:t>
            </a:r>
            <a:r>
              <a:rPr lang="en-US" altLang="ko-KR" sz="1400" dirty="0" smtClean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LMS </a:t>
            </a:r>
            <a:r>
              <a:rPr lang="ko-KR" altLang="en-US" sz="1400" dirty="0" err="1" smtClean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플렛폼</a:t>
            </a:r>
            <a:r>
              <a:rPr lang="en-US" altLang="ko-KR" sz="1400" dirty="0" smtClean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350" dirty="0" err="1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프로젝트에</a:t>
            </a:r>
            <a:r>
              <a:rPr lang="en-US" sz="1350" dirty="0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35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대한</a:t>
            </a:r>
            <a:r>
              <a:rPr lang="en-US" sz="13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35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세부</a:t>
            </a:r>
            <a:r>
              <a:rPr lang="en-US" sz="13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35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사항이나</a:t>
            </a:r>
            <a:r>
              <a:rPr lang="en-US" sz="13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35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기능에</a:t>
            </a:r>
            <a:r>
              <a:rPr lang="en-US" sz="13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35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관한</a:t>
            </a:r>
            <a:r>
              <a:rPr lang="en-US" sz="13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35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질문을</a:t>
            </a:r>
            <a:r>
              <a:rPr lang="en-US" sz="13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35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환영합니다</a:t>
            </a:r>
            <a:r>
              <a:rPr lang="en-US" sz="13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13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8" name="Text 8"/>
          <p:cNvSpPr/>
          <p:nvPr/>
        </p:nvSpPr>
        <p:spPr>
          <a:xfrm>
            <a:off x="4310509" y="5829300"/>
            <a:ext cx="4605218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질문 및 답변을 통해 프로젝트에 대한 더 많은 이해를 돕겠습니다.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20000000000000000000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20000000000000000000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20000000000000000000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20000000000000000000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</TotalTime>
  <Words>1117</Words>
  <Application>Microsoft Office PowerPoint</Application>
  <PresentationFormat>와이드스크린</PresentationFormat>
  <Paragraphs>241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Noto Sans KR Medium</vt:lpstr>
      <vt:lpstr>ui-sans-serif</vt:lpstr>
      <vt:lpstr>맑은 고딕</vt:lpstr>
      <vt:lpstr>Arial</vt:lpstr>
      <vt:lpstr>Segoe UI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DW</cp:lastModifiedBy>
  <cp:revision>37</cp:revision>
  <dcterms:created xsi:type="dcterms:W3CDTF">2025-10-10T08:15:55Z</dcterms:created>
  <dcterms:modified xsi:type="dcterms:W3CDTF">2025-10-13T06:27:44Z</dcterms:modified>
  <cp:version>1000.0000.01</cp:version>
</cp:coreProperties>
</file>