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E8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407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9" Type="http://schemas.openxmlformats.org/officeDocument/2006/relationships/image" Target="../media/image89.png"/><Relationship Id="rId21" Type="http://schemas.openxmlformats.org/officeDocument/2006/relationships/image" Target="../media/image72.png"/><Relationship Id="rId34" Type="http://schemas.openxmlformats.org/officeDocument/2006/relationships/image" Target="../media/image85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33" Type="http://schemas.openxmlformats.org/officeDocument/2006/relationships/image" Target="../media/image84.png"/><Relationship Id="rId38" Type="http://schemas.openxmlformats.org/officeDocument/2006/relationships/image" Target="../media/image8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29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24" Type="http://schemas.openxmlformats.org/officeDocument/2006/relationships/image" Target="../media/image75.png"/><Relationship Id="rId32" Type="http://schemas.openxmlformats.org/officeDocument/2006/relationships/image" Target="../media/image83.png"/><Relationship Id="rId37" Type="http://schemas.openxmlformats.org/officeDocument/2006/relationships/image" Target="../media/image41.png"/><Relationship Id="rId40" Type="http://schemas.openxmlformats.org/officeDocument/2006/relationships/image" Target="../media/image56.png"/><Relationship Id="rId5" Type="http://schemas.openxmlformats.org/officeDocument/2006/relationships/image" Target="../media/image14.png"/><Relationship Id="rId15" Type="http://schemas.openxmlformats.org/officeDocument/2006/relationships/image" Target="../media/image66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36" Type="http://schemas.openxmlformats.org/officeDocument/2006/relationships/image" Target="../media/image87.png"/><Relationship Id="rId10" Type="http://schemas.openxmlformats.org/officeDocument/2006/relationships/image" Target="../media/image61.png"/><Relationship Id="rId19" Type="http://schemas.openxmlformats.org/officeDocument/2006/relationships/image" Target="../media/image70.png"/><Relationship Id="rId31" Type="http://schemas.openxmlformats.org/officeDocument/2006/relationships/image" Target="../media/image82.png"/><Relationship Id="rId4" Type="http://schemas.openxmlformats.org/officeDocument/2006/relationships/image" Target="../media/image2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Relationship Id="rId30" Type="http://schemas.openxmlformats.org/officeDocument/2006/relationships/image" Target="../media/image81.png"/><Relationship Id="rId35" Type="http://schemas.openxmlformats.org/officeDocument/2006/relationships/image" Target="../media/image86.png"/><Relationship Id="rId8" Type="http://schemas.openxmlformats.org/officeDocument/2006/relationships/image" Target="../media/image59.png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1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2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4.png"/><Relationship Id="rId18" Type="http://schemas.openxmlformats.org/officeDocument/2006/relationships/image" Target="../media/image117.png"/><Relationship Id="rId26" Type="http://schemas.openxmlformats.org/officeDocument/2006/relationships/image" Target="../media/image125.png"/><Relationship Id="rId39" Type="http://schemas.openxmlformats.org/officeDocument/2006/relationships/image" Target="../media/image138.png"/><Relationship Id="rId21" Type="http://schemas.openxmlformats.org/officeDocument/2006/relationships/image" Target="../media/image120.png"/><Relationship Id="rId34" Type="http://schemas.openxmlformats.org/officeDocument/2006/relationships/image" Target="../media/image133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.png"/><Relationship Id="rId20" Type="http://schemas.openxmlformats.org/officeDocument/2006/relationships/image" Target="../media/image119.png"/><Relationship Id="rId29" Type="http://schemas.openxmlformats.org/officeDocument/2006/relationships/image" Target="../media/image128.png"/><Relationship Id="rId41" Type="http://schemas.openxmlformats.org/officeDocument/2006/relationships/image" Target="../media/image1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24" Type="http://schemas.openxmlformats.org/officeDocument/2006/relationships/image" Target="../media/image123.png"/><Relationship Id="rId32" Type="http://schemas.openxmlformats.org/officeDocument/2006/relationships/image" Target="../media/image131.png"/><Relationship Id="rId37" Type="http://schemas.openxmlformats.org/officeDocument/2006/relationships/image" Target="../media/image136.png"/><Relationship Id="rId40" Type="http://schemas.openxmlformats.org/officeDocument/2006/relationships/image" Target="../media/image139.png"/><Relationship Id="rId5" Type="http://schemas.openxmlformats.org/officeDocument/2006/relationships/image" Target="../media/image90.png"/><Relationship Id="rId15" Type="http://schemas.openxmlformats.org/officeDocument/2006/relationships/image" Target="../media/image62.png"/><Relationship Id="rId23" Type="http://schemas.openxmlformats.org/officeDocument/2006/relationships/image" Target="../media/image122.png"/><Relationship Id="rId28" Type="http://schemas.openxmlformats.org/officeDocument/2006/relationships/image" Target="../media/image127.png"/><Relationship Id="rId36" Type="http://schemas.openxmlformats.org/officeDocument/2006/relationships/image" Target="../media/image135.png"/><Relationship Id="rId10" Type="http://schemas.openxmlformats.org/officeDocument/2006/relationships/image" Target="../media/image111.png"/><Relationship Id="rId19" Type="http://schemas.openxmlformats.org/officeDocument/2006/relationships/image" Target="../media/image118.png"/><Relationship Id="rId31" Type="http://schemas.openxmlformats.org/officeDocument/2006/relationships/image" Target="../media/image130.png"/><Relationship Id="rId4" Type="http://schemas.openxmlformats.org/officeDocument/2006/relationships/image" Target="../media/image2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Relationship Id="rId22" Type="http://schemas.openxmlformats.org/officeDocument/2006/relationships/image" Target="../media/image121.png"/><Relationship Id="rId27" Type="http://schemas.openxmlformats.org/officeDocument/2006/relationships/image" Target="../media/image126.png"/><Relationship Id="rId30" Type="http://schemas.openxmlformats.org/officeDocument/2006/relationships/image" Target="../media/image129.png"/><Relationship Id="rId35" Type="http://schemas.openxmlformats.org/officeDocument/2006/relationships/image" Target="../media/image134.png"/><Relationship Id="rId8" Type="http://schemas.openxmlformats.org/officeDocument/2006/relationships/image" Target="../media/image109.png"/><Relationship Id="rId3" Type="http://schemas.openxmlformats.org/officeDocument/2006/relationships/image" Target="../media/image1.png"/><Relationship Id="rId12" Type="http://schemas.openxmlformats.org/officeDocument/2006/relationships/image" Target="../media/image113.png"/><Relationship Id="rId17" Type="http://schemas.openxmlformats.org/officeDocument/2006/relationships/image" Target="../media/image116.png"/><Relationship Id="rId25" Type="http://schemas.openxmlformats.org/officeDocument/2006/relationships/image" Target="../media/image124.png"/><Relationship Id="rId33" Type="http://schemas.openxmlformats.org/officeDocument/2006/relationships/image" Target="../media/image132.png"/><Relationship Id="rId38" Type="http://schemas.openxmlformats.org/officeDocument/2006/relationships/image" Target="../media/image13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image" Target="../media/image154.png"/><Relationship Id="rId26" Type="http://schemas.openxmlformats.org/officeDocument/2006/relationships/image" Target="../media/image162.png"/><Relationship Id="rId39" Type="http://schemas.openxmlformats.org/officeDocument/2006/relationships/image" Target="../media/image174.png"/><Relationship Id="rId21" Type="http://schemas.openxmlformats.org/officeDocument/2006/relationships/image" Target="../media/image157.png"/><Relationship Id="rId34" Type="http://schemas.openxmlformats.org/officeDocument/2006/relationships/image" Target="../media/image169.png"/><Relationship Id="rId42" Type="http://schemas.openxmlformats.org/officeDocument/2006/relationships/image" Target="../media/image177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2.png"/><Relationship Id="rId29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24" Type="http://schemas.openxmlformats.org/officeDocument/2006/relationships/image" Target="../media/image160.png"/><Relationship Id="rId32" Type="http://schemas.openxmlformats.org/officeDocument/2006/relationships/image" Target="../media/image168.png"/><Relationship Id="rId37" Type="http://schemas.openxmlformats.org/officeDocument/2006/relationships/image" Target="../media/image172.png"/><Relationship Id="rId40" Type="http://schemas.openxmlformats.org/officeDocument/2006/relationships/image" Target="../media/image175.png"/><Relationship Id="rId45" Type="http://schemas.openxmlformats.org/officeDocument/2006/relationships/image" Target="../media/image180.png"/><Relationship Id="rId5" Type="http://schemas.openxmlformats.org/officeDocument/2006/relationships/image" Target="../media/image141.png"/><Relationship Id="rId15" Type="http://schemas.openxmlformats.org/officeDocument/2006/relationships/image" Target="../media/image151.png"/><Relationship Id="rId23" Type="http://schemas.openxmlformats.org/officeDocument/2006/relationships/image" Target="../media/image159.png"/><Relationship Id="rId28" Type="http://schemas.openxmlformats.org/officeDocument/2006/relationships/image" Target="../media/image164.png"/><Relationship Id="rId36" Type="http://schemas.openxmlformats.org/officeDocument/2006/relationships/image" Target="../media/image171.png"/><Relationship Id="rId10" Type="http://schemas.openxmlformats.org/officeDocument/2006/relationships/image" Target="../media/image146.png"/><Relationship Id="rId19" Type="http://schemas.openxmlformats.org/officeDocument/2006/relationships/image" Target="../media/image155.png"/><Relationship Id="rId31" Type="http://schemas.openxmlformats.org/officeDocument/2006/relationships/image" Target="../media/image167.png"/><Relationship Id="rId44" Type="http://schemas.openxmlformats.org/officeDocument/2006/relationships/image" Target="../media/image179.png"/><Relationship Id="rId4" Type="http://schemas.openxmlformats.org/officeDocument/2006/relationships/image" Target="../media/image2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Relationship Id="rId22" Type="http://schemas.openxmlformats.org/officeDocument/2006/relationships/image" Target="../media/image158.png"/><Relationship Id="rId27" Type="http://schemas.openxmlformats.org/officeDocument/2006/relationships/image" Target="../media/image163.png"/><Relationship Id="rId30" Type="http://schemas.openxmlformats.org/officeDocument/2006/relationships/image" Target="../media/image166.png"/><Relationship Id="rId35" Type="http://schemas.openxmlformats.org/officeDocument/2006/relationships/image" Target="../media/image170.png"/><Relationship Id="rId43" Type="http://schemas.openxmlformats.org/officeDocument/2006/relationships/image" Target="../media/image178.png"/><Relationship Id="rId8" Type="http://schemas.openxmlformats.org/officeDocument/2006/relationships/image" Target="../media/image144.png"/><Relationship Id="rId3" Type="http://schemas.openxmlformats.org/officeDocument/2006/relationships/image" Target="../media/image1.png"/><Relationship Id="rId12" Type="http://schemas.openxmlformats.org/officeDocument/2006/relationships/image" Target="../media/image148.png"/><Relationship Id="rId17" Type="http://schemas.openxmlformats.org/officeDocument/2006/relationships/image" Target="../media/image153.png"/><Relationship Id="rId25" Type="http://schemas.openxmlformats.org/officeDocument/2006/relationships/image" Target="../media/image161.png"/><Relationship Id="rId33" Type="http://schemas.openxmlformats.org/officeDocument/2006/relationships/image" Target="../media/image32.png"/><Relationship Id="rId38" Type="http://schemas.openxmlformats.org/officeDocument/2006/relationships/image" Target="../media/image173.png"/><Relationship Id="rId46" Type="http://schemas.openxmlformats.org/officeDocument/2006/relationships/image" Target="../media/image56.png"/><Relationship Id="rId20" Type="http://schemas.openxmlformats.org/officeDocument/2006/relationships/image" Target="../media/image156.png"/><Relationship Id="rId41" Type="http://schemas.openxmlformats.org/officeDocument/2006/relationships/image" Target="../media/image17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8.png"/><Relationship Id="rId18" Type="http://schemas.openxmlformats.org/officeDocument/2006/relationships/image" Target="../media/image193.png"/><Relationship Id="rId26" Type="http://schemas.openxmlformats.org/officeDocument/2006/relationships/image" Target="../media/image201.png"/><Relationship Id="rId3" Type="http://schemas.openxmlformats.org/officeDocument/2006/relationships/image" Target="../media/image1.png"/><Relationship Id="rId21" Type="http://schemas.openxmlformats.org/officeDocument/2006/relationships/image" Target="../media/image196.png"/><Relationship Id="rId34" Type="http://schemas.openxmlformats.org/officeDocument/2006/relationships/image" Target="../media/image56.png"/><Relationship Id="rId7" Type="http://schemas.openxmlformats.org/officeDocument/2006/relationships/image" Target="../media/image182.png"/><Relationship Id="rId12" Type="http://schemas.openxmlformats.org/officeDocument/2006/relationships/image" Target="../media/image187.png"/><Relationship Id="rId17" Type="http://schemas.openxmlformats.org/officeDocument/2006/relationships/image" Target="../media/image192.png"/><Relationship Id="rId25" Type="http://schemas.openxmlformats.org/officeDocument/2006/relationships/image" Target="../media/image200.png"/><Relationship Id="rId3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1.png"/><Relationship Id="rId20" Type="http://schemas.openxmlformats.org/officeDocument/2006/relationships/image" Target="../media/image195.png"/><Relationship Id="rId29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1.png"/><Relationship Id="rId11" Type="http://schemas.openxmlformats.org/officeDocument/2006/relationships/image" Target="../media/image186.png"/><Relationship Id="rId24" Type="http://schemas.openxmlformats.org/officeDocument/2006/relationships/image" Target="../media/image199.png"/><Relationship Id="rId32" Type="http://schemas.openxmlformats.org/officeDocument/2006/relationships/image" Target="../media/image206.png"/><Relationship Id="rId5" Type="http://schemas.openxmlformats.org/officeDocument/2006/relationships/image" Target="../media/image14.png"/><Relationship Id="rId15" Type="http://schemas.openxmlformats.org/officeDocument/2006/relationships/image" Target="../media/image190.png"/><Relationship Id="rId23" Type="http://schemas.openxmlformats.org/officeDocument/2006/relationships/image" Target="../media/image198.png"/><Relationship Id="rId28" Type="http://schemas.openxmlformats.org/officeDocument/2006/relationships/image" Target="../media/image202.png"/><Relationship Id="rId10" Type="http://schemas.openxmlformats.org/officeDocument/2006/relationships/image" Target="../media/image185.png"/><Relationship Id="rId19" Type="http://schemas.openxmlformats.org/officeDocument/2006/relationships/image" Target="../media/image194.png"/><Relationship Id="rId31" Type="http://schemas.openxmlformats.org/officeDocument/2006/relationships/image" Target="../media/image205.png"/><Relationship Id="rId4" Type="http://schemas.openxmlformats.org/officeDocument/2006/relationships/image" Target="../media/image2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Relationship Id="rId22" Type="http://schemas.openxmlformats.org/officeDocument/2006/relationships/image" Target="../media/image197.png"/><Relationship Id="rId27" Type="http://schemas.openxmlformats.org/officeDocument/2006/relationships/image" Target="../media/image28.png"/><Relationship Id="rId30" Type="http://schemas.openxmlformats.org/officeDocument/2006/relationships/image" Target="../media/image204.png"/><Relationship Id="rId8" Type="http://schemas.openxmlformats.org/officeDocument/2006/relationships/image" Target="../media/image183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4.png"/><Relationship Id="rId18" Type="http://schemas.openxmlformats.org/officeDocument/2006/relationships/image" Target="../media/image216.png"/><Relationship Id="rId26" Type="http://schemas.openxmlformats.org/officeDocument/2006/relationships/image" Target="../media/image223.png"/><Relationship Id="rId39" Type="http://schemas.openxmlformats.org/officeDocument/2006/relationships/image" Target="../media/image23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7" Type="http://schemas.openxmlformats.org/officeDocument/2006/relationships/image" Target="../media/image208.png"/><Relationship Id="rId12" Type="http://schemas.openxmlformats.org/officeDocument/2006/relationships/image" Target="../media/image183.png"/><Relationship Id="rId17" Type="http://schemas.openxmlformats.org/officeDocument/2006/relationships/image" Target="../media/image215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38" Type="http://schemas.openxmlformats.org/officeDocument/2006/relationships/image" Target="../media/image23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4.png"/><Relationship Id="rId20" Type="http://schemas.openxmlformats.org/officeDocument/2006/relationships/image" Target="../media/image32.png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7.png"/><Relationship Id="rId11" Type="http://schemas.openxmlformats.org/officeDocument/2006/relationships/image" Target="../media/image211.pn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37" Type="http://schemas.openxmlformats.org/officeDocument/2006/relationships/image" Target="../media/image234.png"/><Relationship Id="rId40" Type="http://schemas.openxmlformats.org/officeDocument/2006/relationships/image" Target="../media/image236.png"/><Relationship Id="rId5" Type="http://schemas.openxmlformats.org/officeDocument/2006/relationships/image" Target="../media/image14.png"/><Relationship Id="rId15" Type="http://schemas.openxmlformats.org/officeDocument/2006/relationships/image" Target="../media/image213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36" Type="http://schemas.openxmlformats.org/officeDocument/2006/relationships/image" Target="../media/image233.png"/><Relationship Id="rId10" Type="http://schemas.openxmlformats.org/officeDocument/2006/relationships/image" Target="../media/image210.png"/><Relationship Id="rId19" Type="http://schemas.openxmlformats.org/officeDocument/2006/relationships/image" Target="../media/image217.png"/><Relationship Id="rId31" Type="http://schemas.openxmlformats.org/officeDocument/2006/relationships/image" Target="../media/image228.png"/><Relationship Id="rId4" Type="http://schemas.openxmlformats.org/officeDocument/2006/relationships/image" Target="../media/image2.png"/><Relationship Id="rId9" Type="http://schemas.openxmlformats.org/officeDocument/2006/relationships/image" Target="../media/image209.png"/><Relationship Id="rId14" Type="http://schemas.openxmlformats.org/officeDocument/2006/relationships/image" Target="../media/image212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Relationship Id="rId8" Type="http://schemas.openxmlformats.org/officeDocument/2006/relationships/image" Target="../media/image182.png"/><Relationship Id="rId3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3" Type="http://schemas.openxmlformats.org/officeDocument/2006/relationships/image" Target="../media/image1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242.png"/><Relationship Id="rId5" Type="http://schemas.openxmlformats.org/officeDocument/2006/relationships/image" Target="../media/image237.png"/><Relationship Id="rId15" Type="http://schemas.openxmlformats.org/officeDocument/2006/relationships/image" Target="../media/image246.png"/><Relationship Id="rId10" Type="http://schemas.openxmlformats.org/officeDocument/2006/relationships/image" Target="../media/image241.png"/><Relationship Id="rId4" Type="http://schemas.openxmlformats.org/officeDocument/2006/relationships/image" Target="../media/image2.png"/><Relationship Id="rId9" Type="http://schemas.openxmlformats.org/officeDocument/2006/relationships/image" Target="../media/image240.png"/><Relationship Id="rId14" Type="http://schemas.openxmlformats.org/officeDocument/2006/relationships/image" Target="../media/image2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194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0880" y="1777746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480" y="1777746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4942" y="1777746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2599" y="5473825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37849" y="558812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7215" y="5473825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1040" y="5588125"/>
            <a:ext cx="133350" cy="1524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2324589" y="4942122"/>
            <a:ext cx="7353598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38"/>
              </a:lnSpc>
              <a:buNone/>
            </a:pPr>
            <a:r>
              <a:rPr lang="en-US" sz="1500" b="1" dirty="0">
                <a:solidFill>
                  <a:srgbClr val="F3F4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Segoe UI" pitchFamily="34" charset="-120"/>
              </a:rPr>
              <a:t>사용자 중심의 직관적인 UI/UX를 갖춘 효율적인 온라인 학습 관리 플랫폼</a:t>
            </a:r>
            <a:endParaRPr lang="en-US" sz="1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675999" y="5550025"/>
            <a:ext cx="13310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Segoe UI" pitchFamily="34" charset="-120"/>
              </a:rPr>
              <a:t>팀 프레젠테이션</a:t>
            </a:r>
            <a:endParaRPr 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3"/>
          <p:cNvSpPr/>
          <p:nvPr/>
        </p:nvSpPr>
        <p:spPr>
          <a:xfrm>
            <a:off x="7080615" y="5550025"/>
            <a:ext cx="9354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3F4F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Segoe UI" pitchFamily="34" charset="-120"/>
              </a:rPr>
              <a:t>2025-10-10</a:t>
            </a:r>
            <a:endParaRPr 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3333750" cy="2485171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3292" y="1522952"/>
            <a:ext cx="1905000" cy="47625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0800000">
            <a:off x="7074945" y="4446223"/>
            <a:ext cx="5137224" cy="2485171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958557" y="2293623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45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강사와 학생의 소통 기반</a:t>
            </a:r>
            <a:r>
              <a:rPr lang="en-US" sz="45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500" b="1" dirty="0" smtClean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LMS </a:t>
            </a:r>
            <a:r>
              <a:rPr lang="en-US" sz="4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프로젝트</a:t>
            </a:r>
            <a:endParaRPr lang="en-US" sz="45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174" y="45720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257300"/>
            <a:ext cx="5676900" cy="1962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4859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563" y="158115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3544605"/>
            <a:ext cx="5676900" cy="2324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773205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" y="386845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257300"/>
            <a:ext cx="5676900" cy="4991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8438" y="15811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171700"/>
            <a:ext cx="521970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3050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7025" y="2419350"/>
            <a:ext cx="13335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971800"/>
            <a:ext cx="5219700" cy="647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105150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8450" y="32194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771900"/>
            <a:ext cx="5219700" cy="647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90525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40195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572000"/>
            <a:ext cx="5219700" cy="647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470535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7025" y="48196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372100"/>
            <a:ext cx="5219700" cy="647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5505450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5619750"/>
            <a:ext cx="1905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04800" y="304800"/>
            <a:ext cx="2152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개요</a:t>
            </a:r>
            <a:endParaRPr lang="en-US" sz="22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04800" y="723900"/>
            <a:ext cx="1158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강사와 학생의 소통 기반</a:t>
            </a:r>
            <a:r>
              <a:rPr lang="en-US" altLang="ko-KR" sz="1200" b="1" dirty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 </a:t>
            </a:r>
            <a:r>
              <a:rPr lang="en-US" altLang="ko-KR" sz="1200" b="1" dirty="0" smtClean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LMS </a:t>
            </a:r>
            <a:r>
              <a:rPr lang="en-US" altLang="ko-KR" sz="1200" b="1" dirty="0" err="1" smtClean="0">
                <a:solidFill>
                  <a:srgbClr val="67E8F9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ui-sans-serif" pitchFamily="34" charset="-120"/>
              </a:rPr>
              <a:t>프로젝트</a:t>
            </a:r>
            <a:r>
              <a:rPr lang="en-US" sz="1200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</a:t>
            </a:r>
            <a:r>
              <a:rPr lang="en-US" sz="12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배경, 목표 및 팀원 구성</a:t>
            </a:r>
            <a:endParaRPr lang="en-US" sz="120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43000" y="1581150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배경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33400" y="209550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기존 교육 시스템의 한계점 및 </a:t>
            </a:r>
            <a:r>
              <a:rPr lang="en-US" sz="1200" dirty="0">
                <a:solidFill>
                  <a:srgbClr val="0EA5E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 수요 증가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배경에서,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중심의 직관적인 UI/UX를 갖춘 효율적인 온라인 학습 관리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플랫폼을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구축하는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것이 목표입니다.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143000" y="3868455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목표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62000" y="43828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 중심의 플랫폼 개발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6"/>
          <p:cNvSpPr/>
          <p:nvPr/>
        </p:nvSpPr>
        <p:spPr>
          <a:xfrm>
            <a:off x="762000" y="47257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직관적인 UI/UX 제공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7"/>
          <p:cNvSpPr/>
          <p:nvPr/>
        </p:nvSpPr>
        <p:spPr>
          <a:xfrm>
            <a:off x="762000" y="50686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 온라인 학습 관리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8"/>
          <p:cNvSpPr/>
          <p:nvPr/>
        </p:nvSpPr>
        <p:spPr>
          <a:xfrm>
            <a:off x="762000" y="5411505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교육의 증가된 수요에 적응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9"/>
          <p:cNvSpPr/>
          <p:nvPr/>
        </p:nvSpPr>
        <p:spPr>
          <a:xfrm>
            <a:off x="7048500" y="1581150"/>
            <a:ext cx="1270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팀원 및 역할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7048500" y="2286000"/>
            <a:ext cx="208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 리더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7048500" y="2514600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전체 프로젝트 관리, 팀원 역할 분배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7048500" y="3086100"/>
            <a:ext cx="217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개발자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7048500" y="3314700"/>
            <a:ext cx="26049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서버 및 데이터베이스 개발, API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7048500" y="3886200"/>
            <a:ext cx="2141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프론트엔드 개발자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7048500" y="4114800"/>
            <a:ext cx="25694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UI/UX 개발, 클라이언트 사이드 로직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7048500" y="4686300"/>
            <a:ext cx="2178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데이터베이스 관리자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7048500" y="4914900"/>
            <a:ext cx="2613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DB 설계, 쿼리 최적화, 데이터 모델링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7048500" y="5486400"/>
            <a:ext cx="208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컨텐츠 매니저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7048500" y="5715000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 내용 개발, 교육 커리큘럼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11654284" y="62484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8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811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447800"/>
            <a:ext cx="1141095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3162300"/>
            <a:ext cx="38100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3147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390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1000" y="3162300"/>
            <a:ext cx="3810000" cy="163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3314700"/>
            <a:ext cx="3429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33909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4953000"/>
            <a:ext cx="381000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1054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181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0" y="4953000"/>
            <a:ext cx="381000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51054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19600" y="5181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53400" y="3162300"/>
            <a:ext cx="3810000" cy="3238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5800" y="33147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0" y="3390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5800" y="3733800"/>
            <a:ext cx="3505200" cy="495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0" y="3829050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67725" y="390525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5800" y="4343400"/>
            <a:ext cx="3505200" cy="495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0" y="443865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451485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05800" y="4953000"/>
            <a:ext cx="3505200" cy="495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0" y="5048250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67725" y="5124450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228600" y="228600"/>
            <a:ext cx="21490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개발 일정 및 관리</a:t>
            </a:r>
            <a:endParaRPr lang="en-US" sz="1800" dirty="0"/>
          </a:p>
        </p:txBody>
      </p:sp>
      <p:sp>
        <p:nvSpPr>
          <p:cNvPr id="3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Gantt Chart를 활용한 프로젝트 일정 관리와 주요 작업 내용</a:t>
            </a:r>
            <a:endParaRPr lang="en-US" sz="1050" dirty="0"/>
          </a:p>
        </p:txBody>
      </p:sp>
      <p:sp>
        <p:nvSpPr>
          <p:cNvPr id="35" name="Text 2"/>
          <p:cNvSpPr/>
          <p:nvPr/>
        </p:nvSpPr>
        <p:spPr>
          <a:xfrm>
            <a:off x="590550" y="11430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프로젝트 일정 (8주)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762000" y="3352800"/>
            <a:ext cx="165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1단계 (기획 및 설계)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3810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5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기간: 1주차 ~ 2주차</a:t>
            </a:r>
            <a:endParaRPr lang="en-US" sz="900" dirty="0"/>
          </a:p>
        </p:txBody>
      </p:sp>
      <p:sp>
        <p:nvSpPr>
          <p:cNvPr id="38" name="Text 5"/>
          <p:cNvSpPr/>
          <p:nvPr/>
        </p:nvSpPr>
        <p:spPr>
          <a:xfrm>
            <a:off x="5334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요구사항 분석</a:t>
            </a:r>
            <a:endParaRPr lang="en-US" sz="900" dirty="0"/>
          </a:p>
        </p:txBody>
      </p:sp>
      <p:sp>
        <p:nvSpPr>
          <p:cNvPr id="39" name="Text 6"/>
          <p:cNvSpPr/>
          <p:nvPr/>
        </p:nvSpPr>
        <p:spPr>
          <a:xfrm>
            <a:off x="533400" y="4114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UI/UX 설계</a:t>
            </a:r>
            <a:endParaRPr lang="en-US" sz="900" dirty="0"/>
          </a:p>
        </p:txBody>
      </p:sp>
      <p:sp>
        <p:nvSpPr>
          <p:cNvPr id="40" name="Text 7"/>
          <p:cNvSpPr/>
          <p:nvPr/>
        </p:nvSpPr>
        <p:spPr>
          <a:xfrm>
            <a:off x="533400" y="4305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아키텍처 설계</a:t>
            </a:r>
            <a:endParaRPr lang="en-US" sz="900" dirty="0"/>
          </a:p>
        </p:txBody>
      </p:sp>
      <p:sp>
        <p:nvSpPr>
          <p:cNvPr id="41" name="Text 8"/>
          <p:cNvSpPr/>
          <p:nvPr/>
        </p:nvSpPr>
        <p:spPr>
          <a:xfrm>
            <a:off x="533400" y="4495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설계</a:t>
            </a:r>
            <a:endParaRPr lang="en-US" sz="900" dirty="0"/>
          </a:p>
        </p:txBody>
      </p:sp>
      <p:sp>
        <p:nvSpPr>
          <p:cNvPr id="42" name="Text 9"/>
          <p:cNvSpPr/>
          <p:nvPr/>
        </p:nvSpPr>
        <p:spPr>
          <a:xfrm>
            <a:off x="4762500" y="3352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2단계 (개발)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43434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5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기간: 2주차 ~ 6주차</a:t>
            </a:r>
            <a:endParaRPr lang="en-US" sz="900" dirty="0"/>
          </a:p>
        </p:txBody>
      </p:sp>
      <p:sp>
        <p:nvSpPr>
          <p:cNvPr id="44" name="Text 11"/>
          <p:cNvSpPr/>
          <p:nvPr/>
        </p:nvSpPr>
        <p:spPr>
          <a:xfrm>
            <a:off x="44958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백엔드: 핵심 API 개발, DB 구축</a:t>
            </a:r>
            <a:endParaRPr lang="en-US" sz="900" dirty="0"/>
          </a:p>
        </p:txBody>
      </p:sp>
      <p:sp>
        <p:nvSpPr>
          <p:cNvPr id="45" name="Text 12"/>
          <p:cNvSpPr/>
          <p:nvPr/>
        </p:nvSpPr>
        <p:spPr>
          <a:xfrm>
            <a:off x="4495800" y="41148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프론트엔드: UI 컴포넌트 개발</a:t>
            </a:r>
            <a:endParaRPr lang="en-US" sz="900" dirty="0"/>
          </a:p>
        </p:txBody>
      </p:sp>
      <p:sp>
        <p:nvSpPr>
          <p:cNvPr id="46" name="Text 13"/>
          <p:cNvSpPr/>
          <p:nvPr/>
        </p:nvSpPr>
        <p:spPr>
          <a:xfrm>
            <a:off x="4495800" y="4305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연동</a:t>
            </a:r>
            <a:endParaRPr lang="en-US" sz="900" dirty="0"/>
          </a:p>
        </p:txBody>
      </p:sp>
      <p:sp>
        <p:nvSpPr>
          <p:cNvPr id="47" name="Text 14"/>
          <p:cNvSpPr/>
          <p:nvPr/>
        </p:nvSpPr>
        <p:spPr>
          <a:xfrm>
            <a:off x="762000" y="5143500"/>
            <a:ext cx="1747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3단계 (테스트 및 QA)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3810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5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기간: 6주차 ~ 7주차</a:t>
            </a:r>
            <a:endParaRPr lang="en-US" sz="900" dirty="0"/>
          </a:p>
        </p:txBody>
      </p:sp>
      <p:sp>
        <p:nvSpPr>
          <p:cNvPr id="49" name="Text 16"/>
          <p:cNvSpPr/>
          <p:nvPr/>
        </p:nvSpPr>
        <p:spPr>
          <a:xfrm>
            <a:off x="5334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단위/통합 테스트</a:t>
            </a:r>
            <a:endParaRPr lang="en-US" sz="900" dirty="0"/>
          </a:p>
        </p:txBody>
      </p:sp>
      <p:sp>
        <p:nvSpPr>
          <p:cNvPr id="50" name="Text 17"/>
          <p:cNvSpPr/>
          <p:nvPr/>
        </p:nvSpPr>
        <p:spPr>
          <a:xfrm>
            <a:off x="533400" y="59055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버그 수정</a:t>
            </a:r>
            <a:endParaRPr lang="en-US" sz="900" dirty="0"/>
          </a:p>
        </p:txBody>
      </p:sp>
      <p:sp>
        <p:nvSpPr>
          <p:cNvPr id="51" name="Text 18"/>
          <p:cNvSpPr/>
          <p:nvPr/>
        </p:nvSpPr>
        <p:spPr>
          <a:xfrm>
            <a:off x="533400" y="6096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품질 검증</a:t>
            </a:r>
            <a:endParaRPr lang="en-US" sz="900" dirty="0"/>
          </a:p>
        </p:txBody>
      </p:sp>
      <p:sp>
        <p:nvSpPr>
          <p:cNvPr id="52" name="Text 19"/>
          <p:cNvSpPr/>
          <p:nvPr/>
        </p:nvSpPr>
        <p:spPr>
          <a:xfrm>
            <a:off x="4724400" y="5143500"/>
            <a:ext cx="1838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4단계 (배포 및 안정화)</a:t>
            </a:r>
            <a:endParaRPr lang="en-US" sz="1200" dirty="0"/>
          </a:p>
        </p:txBody>
      </p:sp>
      <p:sp>
        <p:nvSpPr>
          <p:cNvPr id="53" name="Text 20"/>
          <p:cNvSpPr/>
          <p:nvPr/>
        </p:nvSpPr>
        <p:spPr>
          <a:xfrm>
            <a:off x="43434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A5F3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기간: 8주차</a:t>
            </a:r>
            <a:endParaRPr lang="en-US" sz="900" dirty="0"/>
          </a:p>
        </p:txBody>
      </p:sp>
      <p:sp>
        <p:nvSpPr>
          <p:cNvPr id="54" name="Text 21"/>
          <p:cNvSpPr/>
          <p:nvPr/>
        </p:nvSpPr>
        <p:spPr>
          <a:xfrm>
            <a:off x="44958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서버 배포</a:t>
            </a:r>
            <a:endParaRPr lang="en-US" sz="900" dirty="0"/>
          </a:p>
        </p:txBody>
      </p:sp>
      <p:sp>
        <p:nvSpPr>
          <p:cNvPr id="55" name="Text 22"/>
          <p:cNvSpPr/>
          <p:nvPr/>
        </p:nvSpPr>
        <p:spPr>
          <a:xfrm>
            <a:off x="4495800" y="59055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최종 점검</a:t>
            </a:r>
            <a:endParaRPr lang="en-US" sz="900" dirty="0"/>
          </a:p>
        </p:txBody>
      </p:sp>
      <p:sp>
        <p:nvSpPr>
          <p:cNvPr id="56" name="Text 23"/>
          <p:cNvSpPr/>
          <p:nvPr/>
        </p:nvSpPr>
        <p:spPr>
          <a:xfrm>
            <a:off x="4495800" y="6096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발표 준비</a:t>
            </a:r>
            <a:endParaRPr lang="en-US" sz="900" dirty="0"/>
          </a:p>
        </p:txBody>
      </p:sp>
      <p:sp>
        <p:nvSpPr>
          <p:cNvPr id="57" name="Text 24"/>
          <p:cNvSpPr/>
          <p:nvPr/>
        </p:nvSpPr>
        <p:spPr>
          <a:xfrm>
            <a:off x="8686800" y="33528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협업 도구</a:t>
            </a:r>
            <a:endParaRPr lang="en-US" sz="1200" dirty="0"/>
          </a:p>
        </p:txBody>
      </p:sp>
      <p:sp>
        <p:nvSpPr>
          <p:cNvPr id="58" name="Text 25"/>
          <p:cNvSpPr/>
          <p:nvPr/>
        </p:nvSpPr>
        <p:spPr>
          <a:xfrm>
            <a:off x="8763000" y="3810000"/>
            <a:ext cx="863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lang="en-US" sz="1050" dirty="0"/>
          </a:p>
        </p:txBody>
      </p:sp>
      <p:sp>
        <p:nvSpPr>
          <p:cNvPr id="59" name="Text 26"/>
          <p:cNvSpPr/>
          <p:nvPr/>
        </p:nvSpPr>
        <p:spPr>
          <a:xfrm>
            <a:off x="8763000" y="4000500"/>
            <a:ext cx="10363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버전 관리 시스템</a:t>
            </a:r>
            <a:endParaRPr lang="en-US" sz="900" dirty="0"/>
          </a:p>
        </p:txBody>
      </p:sp>
      <p:sp>
        <p:nvSpPr>
          <p:cNvPr id="60" name="Text 27"/>
          <p:cNvSpPr/>
          <p:nvPr/>
        </p:nvSpPr>
        <p:spPr>
          <a:xfrm>
            <a:off x="8763000" y="4419600"/>
            <a:ext cx="13843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</a:t>
            </a:r>
            <a:endParaRPr lang="en-US" sz="1050" dirty="0"/>
          </a:p>
        </p:txBody>
      </p:sp>
      <p:sp>
        <p:nvSpPr>
          <p:cNvPr id="61" name="Text 28"/>
          <p:cNvSpPr/>
          <p:nvPr/>
        </p:nvSpPr>
        <p:spPr>
          <a:xfrm>
            <a:off x="8763000" y="4610100"/>
            <a:ext cx="16612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이슈 추적 및 프로젝트 관리</a:t>
            </a:r>
            <a:endParaRPr lang="en-US" sz="900" dirty="0"/>
          </a:p>
        </p:txBody>
      </p:sp>
      <p:sp>
        <p:nvSpPr>
          <p:cNvPr id="62" name="Text 29"/>
          <p:cNvSpPr/>
          <p:nvPr/>
        </p:nvSpPr>
        <p:spPr>
          <a:xfrm>
            <a:off x="8763000" y="5029200"/>
            <a:ext cx="831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</a:t>
            </a:r>
            <a:endParaRPr lang="en-US" sz="1050" dirty="0"/>
          </a:p>
        </p:txBody>
      </p:sp>
      <p:sp>
        <p:nvSpPr>
          <p:cNvPr id="63" name="Text 30"/>
          <p:cNvSpPr/>
          <p:nvPr/>
        </p:nvSpPr>
        <p:spPr>
          <a:xfrm>
            <a:off x="8763000" y="5219700"/>
            <a:ext cx="9983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팀 커뮤니케이션</a:t>
            </a:r>
            <a:endParaRPr lang="en-US" sz="900" dirty="0"/>
          </a:p>
        </p:txBody>
      </p:sp>
      <p:sp>
        <p:nvSpPr>
          <p:cNvPr id="64" name="Text 31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3759101" cy="525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1181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638" y="12763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1790700"/>
            <a:ext cx="3378101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1905000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00025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2514600"/>
            <a:ext cx="3378101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6289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" y="2724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3238500"/>
            <a:ext cx="3378101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3528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8650" y="3448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9100" y="5600700"/>
            <a:ext cx="3378101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5715000"/>
            <a:ext cx="337810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9472" y="58102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16301" y="990600"/>
            <a:ext cx="3759250" cy="525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06801" y="11811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16338" y="1276350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06801" y="1790700"/>
            <a:ext cx="337825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21101" y="1905000"/>
            <a:ext cx="3429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16351" y="20002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06801" y="2514600"/>
            <a:ext cx="337825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21101" y="2628900"/>
            <a:ext cx="342900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635401" y="272415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06801" y="3238500"/>
            <a:ext cx="337825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21101" y="3352800"/>
            <a:ext cx="342900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35401" y="344805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06801" y="3962400"/>
            <a:ext cx="3378250" cy="609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21101" y="4076700"/>
            <a:ext cx="342900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97301" y="4171950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06801" y="5600700"/>
            <a:ext cx="337825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06801" y="5715000"/>
            <a:ext cx="3378250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3996" y="5810250"/>
            <a:ext cx="1905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204150" y="990600"/>
            <a:ext cx="3759101" cy="5257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94650" y="1181100"/>
            <a:ext cx="457200" cy="457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8000" y="1276350"/>
            <a:ext cx="1905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94650" y="1790700"/>
            <a:ext cx="3378101" cy="6096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08950" y="1905000"/>
            <a:ext cx="342900" cy="3429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23250" y="2000250"/>
            <a:ext cx="11430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94650" y="2514600"/>
            <a:ext cx="3378101" cy="762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08950" y="2628900"/>
            <a:ext cx="342900" cy="3429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604200" y="2724150"/>
            <a:ext cx="15240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94650" y="3390900"/>
            <a:ext cx="3378101" cy="609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08950" y="3505200"/>
            <a:ext cx="342900" cy="3429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604200" y="3600450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94650" y="4114800"/>
            <a:ext cx="3378101" cy="609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08950" y="4229100"/>
            <a:ext cx="342900" cy="3429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94675" y="4324350"/>
            <a:ext cx="17145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94650" y="4838700"/>
            <a:ext cx="3378101" cy="609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508950" y="4953000"/>
            <a:ext cx="342900" cy="3429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85150" y="5048250"/>
            <a:ext cx="1905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94650" y="5600700"/>
            <a:ext cx="3378101" cy="4572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94650" y="5715000"/>
            <a:ext cx="3378101" cy="3429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65022" y="5810250"/>
            <a:ext cx="190500" cy="1524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60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주요 기능 소개</a:t>
            </a:r>
            <a:endParaRPr lang="en-US" sz="1800" dirty="0"/>
          </a:p>
        </p:txBody>
      </p:sp>
      <p:sp>
        <p:nvSpPr>
          <p:cNvPr id="61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관리자, 교수자, 학습자 세 가지 사용자 역할에 따른 주요 기능</a:t>
            </a:r>
            <a:endParaRPr lang="en-US" sz="1050" dirty="0"/>
          </a:p>
        </p:txBody>
      </p:sp>
      <p:sp>
        <p:nvSpPr>
          <p:cNvPr id="62" name="Text 2"/>
          <p:cNvSpPr/>
          <p:nvPr/>
        </p:nvSpPr>
        <p:spPr>
          <a:xfrm>
            <a:off x="99060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관리자</a:t>
            </a:r>
            <a:endParaRPr lang="en-US" sz="1500" dirty="0"/>
          </a:p>
        </p:txBody>
      </p:sp>
      <p:sp>
        <p:nvSpPr>
          <p:cNvPr id="63" name="Text 3"/>
          <p:cNvSpPr/>
          <p:nvPr/>
        </p:nvSpPr>
        <p:spPr>
          <a:xfrm>
            <a:off x="990600" y="1905000"/>
            <a:ext cx="2590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사용자/강의 통합 관리</a:t>
            </a:r>
            <a:endParaRPr lang="en-US" sz="1050" dirty="0"/>
          </a:p>
        </p:txBody>
      </p:sp>
      <p:sp>
        <p:nvSpPr>
          <p:cNvPr id="64" name="Text 4"/>
          <p:cNvSpPr/>
          <p:nvPr/>
        </p:nvSpPr>
        <p:spPr>
          <a:xfrm>
            <a:off x="990600" y="2133600"/>
            <a:ext cx="31091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시스템의 사용자 및 강의를 효과적으로 관리합니다.</a:t>
            </a:r>
            <a:endParaRPr lang="en-US" sz="900" dirty="0"/>
          </a:p>
        </p:txBody>
      </p:sp>
      <p:sp>
        <p:nvSpPr>
          <p:cNvPr id="65" name="Text 5"/>
          <p:cNvSpPr/>
          <p:nvPr/>
        </p:nvSpPr>
        <p:spPr>
          <a:xfrm>
            <a:off x="990600" y="2628900"/>
            <a:ext cx="23940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통계 대시보드</a:t>
            </a:r>
            <a:endParaRPr lang="en-US" sz="1050" dirty="0"/>
          </a:p>
        </p:txBody>
      </p:sp>
      <p:sp>
        <p:nvSpPr>
          <p:cNvPr id="66" name="Text 6"/>
          <p:cNvSpPr/>
          <p:nvPr/>
        </p:nvSpPr>
        <p:spPr>
          <a:xfrm>
            <a:off x="990600" y="2857500"/>
            <a:ext cx="28728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전체 학습 데이터 및 통계 정보를 시각화합니다.</a:t>
            </a:r>
            <a:endParaRPr lang="en-US" sz="900" dirty="0"/>
          </a:p>
        </p:txBody>
      </p:sp>
      <p:sp>
        <p:nvSpPr>
          <p:cNvPr id="67" name="Text 7"/>
          <p:cNvSpPr/>
          <p:nvPr/>
        </p:nvSpPr>
        <p:spPr>
          <a:xfrm>
            <a:off x="990600" y="3352800"/>
            <a:ext cx="22797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 설정 관리</a:t>
            </a:r>
            <a:endParaRPr lang="en-US" sz="1050" dirty="0"/>
          </a:p>
        </p:txBody>
      </p:sp>
      <p:sp>
        <p:nvSpPr>
          <p:cNvPr id="68" name="Text 8"/>
          <p:cNvSpPr/>
          <p:nvPr/>
        </p:nvSpPr>
        <p:spPr>
          <a:xfrm>
            <a:off x="990600" y="3581400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 환경 설정 및 권한 관리를 수행합니다.</a:t>
            </a:r>
            <a:endParaRPr lang="en-US" sz="900" dirty="0"/>
          </a:p>
        </p:txBody>
      </p:sp>
      <p:sp>
        <p:nvSpPr>
          <p:cNvPr id="69" name="Text 9"/>
          <p:cNvSpPr/>
          <p:nvPr/>
        </p:nvSpPr>
        <p:spPr>
          <a:xfrm>
            <a:off x="175617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관리자 대시보드</a:t>
            </a:r>
            <a:endParaRPr lang="en-US" sz="1050" dirty="0"/>
          </a:p>
        </p:txBody>
      </p:sp>
      <p:sp>
        <p:nvSpPr>
          <p:cNvPr id="70" name="Text 10"/>
          <p:cNvSpPr/>
          <p:nvPr/>
        </p:nvSpPr>
        <p:spPr>
          <a:xfrm>
            <a:off x="4978301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교수자</a:t>
            </a:r>
            <a:endParaRPr lang="en-US" sz="1500" dirty="0"/>
          </a:p>
        </p:txBody>
      </p:sp>
      <p:sp>
        <p:nvSpPr>
          <p:cNvPr id="71" name="Text 11"/>
          <p:cNvSpPr/>
          <p:nvPr/>
        </p:nvSpPr>
        <p:spPr>
          <a:xfrm>
            <a:off x="4978301" y="1905000"/>
            <a:ext cx="1841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 개설</a:t>
            </a:r>
            <a:endParaRPr lang="en-US" sz="1050" dirty="0"/>
          </a:p>
        </p:txBody>
      </p:sp>
      <p:sp>
        <p:nvSpPr>
          <p:cNvPr id="72" name="Text 12"/>
          <p:cNvSpPr/>
          <p:nvPr/>
        </p:nvSpPr>
        <p:spPr>
          <a:xfrm>
            <a:off x="4978301" y="2133600"/>
            <a:ext cx="220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새로운 강의를 생성하고 관리합니다.</a:t>
            </a:r>
            <a:endParaRPr lang="en-US" sz="900" dirty="0"/>
          </a:p>
        </p:txBody>
      </p:sp>
      <p:sp>
        <p:nvSpPr>
          <p:cNvPr id="73" name="Text 13"/>
          <p:cNvSpPr/>
          <p:nvPr/>
        </p:nvSpPr>
        <p:spPr>
          <a:xfrm>
            <a:off x="4978301" y="2628900"/>
            <a:ext cx="24575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콘텐츠 관리</a:t>
            </a:r>
            <a:endParaRPr lang="en-US" sz="1050" dirty="0"/>
          </a:p>
        </p:txBody>
      </p:sp>
      <p:sp>
        <p:nvSpPr>
          <p:cNvPr id="74" name="Text 14"/>
          <p:cNvSpPr/>
          <p:nvPr/>
        </p:nvSpPr>
        <p:spPr>
          <a:xfrm>
            <a:off x="4978301" y="2857500"/>
            <a:ext cx="29491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영상, 문서, 퀴즈 등 다양한 콘텐츠를 관리합니다.</a:t>
            </a:r>
            <a:endParaRPr lang="en-US" sz="900" dirty="0"/>
          </a:p>
        </p:txBody>
      </p:sp>
      <p:sp>
        <p:nvSpPr>
          <p:cNvPr id="75" name="Text 15"/>
          <p:cNvSpPr/>
          <p:nvPr/>
        </p:nvSpPr>
        <p:spPr>
          <a:xfrm>
            <a:off x="4978301" y="3352800"/>
            <a:ext cx="244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수강생 성적 및 진도 관리</a:t>
            </a:r>
            <a:endParaRPr lang="en-US" sz="1050" dirty="0"/>
          </a:p>
        </p:txBody>
      </p:sp>
      <p:sp>
        <p:nvSpPr>
          <p:cNvPr id="76" name="Text 16"/>
          <p:cNvSpPr/>
          <p:nvPr/>
        </p:nvSpPr>
        <p:spPr>
          <a:xfrm>
            <a:off x="4978301" y="3581400"/>
            <a:ext cx="29337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수강생의 학습 상태를 모니터링하고 평가합니다.</a:t>
            </a:r>
            <a:endParaRPr lang="en-US" sz="900" dirty="0"/>
          </a:p>
        </p:txBody>
      </p:sp>
      <p:sp>
        <p:nvSpPr>
          <p:cNvPr id="77" name="Text 17"/>
          <p:cNvSpPr/>
          <p:nvPr/>
        </p:nvSpPr>
        <p:spPr>
          <a:xfrm>
            <a:off x="4978301" y="4076700"/>
            <a:ext cx="24766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피드백 제공</a:t>
            </a:r>
            <a:endParaRPr lang="en-US" sz="1050" dirty="0"/>
          </a:p>
        </p:txBody>
      </p:sp>
      <p:sp>
        <p:nvSpPr>
          <p:cNvPr id="78" name="Text 18"/>
          <p:cNvSpPr/>
          <p:nvPr/>
        </p:nvSpPr>
        <p:spPr>
          <a:xfrm>
            <a:off x="4978301" y="4305300"/>
            <a:ext cx="29719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학습자의 과제와 활동에 대한 피드백을 남깁니다.</a:t>
            </a:r>
            <a:endParaRPr lang="en-US" sz="900" dirty="0"/>
          </a:p>
        </p:txBody>
      </p:sp>
      <p:sp>
        <p:nvSpPr>
          <p:cNvPr id="79" name="Text 19"/>
          <p:cNvSpPr/>
          <p:nvPr/>
        </p:nvSpPr>
        <p:spPr>
          <a:xfrm>
            <a:off x="5810696" y="5791200"/>
            <a:ext cx="10045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교수자 강의실</a:t>
            </a:r>
            <a:endParaRPr lang="en-US" sz="1050" dirty="0"/>
          </a:p>
        </p:txBody>
      </p:sp>
      <p:sp>
        <p:nvSpPr>
          <p:cNvPr id="80" name="Text 20"/>
          <p:cNvSpPr/>
          <p:nvPr/>
        </p:nvSpPr>
        <p:spPr>
          <a:xfrm>
            <a:off x="896615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학습자</a:t>
            </a:r>
            <a:endParaRPr lang="en-US" sz="1500" dirty="0"/>
          </a:p>
        </p:txBody>
      </p:sp>
      <p:sp>
        <p:nvSpPr>
          <p:cNvPr id="81" name="Text 21"/>
          <p:cNvSpPr/>
          <p:nvPr/>
        </p:nvSpPr>
        <p:spPr>
          <a:xfrm>
            <a:off x="8966150" y="19050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수강 신청</a:t>
            </a:r>
            <a:endParaRPr lang="en-US" sz="1050" dirty="0"/>
          </a:p>
        </p:txBody>
      </p:sp>
      <p:sp>
        <p:nvSpPr>
          <p:cNvPr id="82" name="Text 22"/>
          <p:cNvSpPr/>
          <p:nvPr/>
        </p:nvSpPr>
        <p:spPr>
          <a:xfrm>
            <a:off x="8966150" y="21336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원하는 강의에 신청하고 수강을 시작합니다.</a:t>
            </a:r>
            <a:endParaRPr lang="en-US" sz="900" dirty="0"/>
          </a:p>
        </p:txBody>
      </p:sp>
      <p:sp>
        <p:nvSpPr>
          <p:cNvPr id="83" name="Text 23"/>
          <p:cNvSpPr/>
          <p:nvPr/>
        </p:nvSpPr>
        <p:spPr>
          <a:xfrm>
            <a:off x="8966150" y="2628900"/>
            <a:ext cx="269230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 수강</a:t>
            </a:r>
            <a:endParaRPr lang="en-US" sz="1050" dirty="0"/>
          </a:p>
        </p:txBody>
      </p:sp>
      <p:sp>
        <p:nvSpPr>
          <p:cNvPr id="84" name="Text 24"/>
          <p:cNvSpPr/>
          <p:nvPr/>
        </p:nvSpPr>
        <p:spPr>
          <a:xfrm>
            <a:off x="8966150" y="2857500"/>
            <a:ext cx="26923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비디오, 문서 등 다양한 형태의 강의 내용을 수강합니다.</a:t>
            </a:r>
            <a:endParaRPr lang="en-US" sz="900" dirty="0"/>
          </a:p>
        </p:txBody>
      </p:sp>
      <p:sp>
        <p:nvSpPr>
          <p:cNvPr id="85" name="Text 25"/>
          <p:cNvSpPr/>
          <p:nvPr/>
        </p:nvSpPr>
        <p:spPr>
          <a:xfrm>
            <a:off x="8966150" y="35052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과제/퀴즈 제출</a:t>
            </a:r>
            <a:endParaRPr lang="en-US" sz="1050" dirty="0"/>
          </a:p>
        </p:txBody>
      </p:sp>
      <p:sp>
        <p:nvSpPr>
          <p:cNvPr id="86" name="Text 26"/>
          <p:cNvSpPr/>
          <p:nvPr/>
        </p:nvSpPr>
        <p:spPr>
          <a:xfrm>
            <a:off x="8966150" y="37338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출제된 과제와 퀴즈에 답변하고 제출합니다.</a:t>
            </a:r>
            <a:endParaRPr lang="en-US" sz="900" dirty="0"/>
          </a:p>
        </p:txBody>
      </p:sp>
      <p:sp>
        <p:nvSpPr>
          <p:cNvPr id="87" name="Text 27"/>
          <p:cNvSpPr/>
          <p:nvPr/>
        </p:nvSpPr>
        <p:spPr>
          <a:xfrm>
            <a:off x="8966150" y="42291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대시보드</a:t>
            </a:r>
            <a:endParaRPr lang="en-US" sz="1050" dirty="0"/>
          </a:p>
        </p:txBody>
      </p:sp>
      <p:sp>
        <p:nvSpPr>
          <p:cNvPr id="88" name="Text 28"/>
          <p:cNvSpPr/>
          <p:nvPr/>
        </p:nvSpPr>
        <p:spPr>
          <a:xfrm>
            <a:off x="8966150" y="44577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 학습 진도와 결과를 확인합니다.</a:t>
            </a:r>
            <a:endParaRPr lang="en-US" sz="900" dirty="0"/>
          </a:p>
        </p:txBody>
      </p:sp>
      <p:sp>
        <p:nvSpPr>
          <p:cNvPr id="89" name="Text 29"/>
          <p:cNvSpPr/>
          <p:nvPr/>
        </p:nvSpPr>
        <p:spPr>
          <a:xfrm>
            <a:off x="8966150" y="49530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소통 및 커뮤니티</a:t>
            </a:r>
            <a:endParaRPr lang="en-US" sz="1050" dirty="0"/>
          </a:p>
        </p:txBody>
      </p:sp>
      <p:sp>
        <p:nvSpPr>
          <p:cNvPr id="90" name="Text 30"/>
          <p:cNvSpPr/>
          <p:nvPr/>
        </p:nvSpPr>
        <p:spPr>
          <a:xfrm>
            <a:off x="8966150" y="51816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교수자 및 다른 학습자와 소통합니다.</a:t>
            </a:r>
            <a:endParaRPr lang="en-US" sz="900" dirty="0"/>
          </a:p>
        </p:txBody>
      </p:sp>
      <p:sp>
        <p:nvSpPr>
          <p:cNvPr id="91" name="Text 31"/>
          <p:cNvSpPr/>
          <p:nvPr/>
        </p:nvSpPr>
        <p:spPr>
          <a:xfrm>
            <a:off x="973172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학습자 대시보드</a:t>
            </a:r>
            <a:endParaRPr lang="en-US" sz="1050" dirty="0"/>
          </a:p>
        </p:txBody>
      </p:sp>
      <p:sp>
        <p:nvSpPr>
          <p:cNvPr id="92" name="Text 32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3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638300"/>
            <a:ext cx="7454801" cy="419442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51435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85350" y="514350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07301" y="5562600"/>
            <a:ext cx="190500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85350" y="5562600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228600" y="228600"/>
            <a:ext cx="22708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 설계 - ERD</a:t>
            </a:r>
            <a:endParaRPr lang="en-US" sz="1800" dirty="0"/>
          </a:p>
        </p:txBody>
      </p:sp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LearnUp LMS의 데이터베이스 구조와 테이블 간 관계도</a:t>
            </a:r>
            <a:endParaRPr lang="en-US" sz="1050" dirty="0"/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데이터베이스 E-R 다이어그램</a:t>
            </a:r>
            <a:endParaRPr lang="en-US" sz="1350" dirty="0"/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주요 엔티티 및 관계</a:t>
            </a:r>
            <a:endParaRPr lang="en-US" sz="1350" dirty="0"/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050" dirty="0"/>
          </a:p>
        </p:txBody>
      </p:sp>
      <p:sp>
        <p:nvSpPr>
          <p:cNvPr id="31" name="Text 5"/>
          <p:cNvSpPr/>
          <p:nvPr/>
        </p:nvSpPr>
        <p:spPr>
          <a:xfrm>
            <a:off x="8407301" y="18669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 사용자 정보. 교수자/학습자로 구분됩니다.</a:t>
            </a:r>
            <a:endParaRPr lang="en-US" sz="900" dirty="0"/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Courses</a:t>
            </a: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8407301" y="243840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 정보를 담고 있는 테이블입니다. 교수자별 강의 개설 가능합니다.</a:t>
            </a:r>
            <a:endParaRPr lang="en-US" sz="900" dirty="0"/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Lectures</a:t>
            </a:r>
            <a:endParaRPr lang="en-US" sz="1050" dirty="0"/>
          </a:p>
        </p:txBody>
      </p:sp>
      <p:sp>
        <p:nvSpPr>
          <p:cNvPr id="35" name="Text 9"/>
          <p:cNvSpPr/>
          <p:nvPr/>
        </p:nvSpPr>
        <p:spPr>
          <a:xfrm>
            <a:off x="8407301" y="31623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강의의 개별 수업입니다. 강의당 여러 수업이 포함됩니다.</a:t>
            </a:r>
            <a:endParaRPr lang="en-US" sz="900" dirty="0"/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Enrollments</a:t>
            </a:r>
            <a:endParaRPr lang="en-US" sz="1050" dirty="0"/>
          </a:p>
        </p:txBody>
      </p:sp>
      <p:sp>
        <p:nvSpPr>
          <p:cNvPr id="37" name="Text 11"/>
          <p:cNvSpPr/>
          <p:nvPr/>
        </p:nvSpPr>
        <p:spPr>
          <a:xfrm>
            <a:off x="8407301" y="37338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수강신청 테이블입니다. 학습자는 여러 강의에 등록 가능합니다.</a:t>
            </a:r>
            <a:endParaRPr lang="en-US" sz="900" dirty="0"/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Submissions</a:t>
            </a: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8407301" y="430530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과제/퀴즈 제출 정보를 담고 있는 테이블입니다.</a:t>
            </a:r>
            <a:endParaRPr lang="en-US" sz="900" dirty="0"/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관계 표현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1:1</a:t>
            </a:r>
            <a:endParaRPr lang="en-US" sz="900" dirty="0"/>
          </a:p>
        </p:txBody>
      </p:sp>
      <p:sp>
        <p:nvSpPr>
          <p:cNvPr id="42" name="Text 16"/>
          <p:cNvSpPr/>
          <p:nvPr/>
        </p:nvSpPr>
        <p:spPr>
          <a:xfrm>
            <a:off x="8635901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일대일</a:t>
            </a:r>
            <a:endParaRPr lang="en-US" sz="900" dirty="0"/>
          </a:p>
        </p:txBody>
      </p:sp>
      <p:sp>
        <p:nvSpPr>
          <p:cNvPr id="43" name="Text 17"/>
          <p:cNvSpPr/>
          <p:nvPr/>
        </p:nvSpPr>
        <p:spPr>
          <a:xfrm>
            <a:off x="10188476" y="5162550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1:N</a:t>
            </a:r>
            <a:endParaRPr lang="en-US" sz="900" dirty="0"/>
          </a:p>
        </p:txBody>
      </p:sp>
      <p:sp>
        <p:nvSpPr>
          <p:cNvPr id="44" name="Text 18"/>
          <p:cNvSpPr/>
          <p:nvPr/>
        </p:nvSpPr>
        <p:spPr>
          <a:xfrm>
            <a:off x="10413950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일대다</a:t>
            </a:r>
            <a:endParaRPr lang="en-US" sz="900" dirty="0"/>
          </a:p>
        </p:txBody>
      </p:sp>
      <p:sp>
        <p:nvSpPr>
          <p:cNvPr id="45" name="Text 19"/>
          <p:cNvSpPr/>
          <p:nvPr/>
        </p:nvSpPr>
        <p:spPr>
          <a:xfrm>
            <a:off x="8394650" y="5581650"/>
            <a:ext cx="2591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M:N</a:t>
            </a:r>
            <a:endParaRPr lang="en-US" sz="900" dirty="0"/>
          </a:p>
        </p:txBody>
      </p:sp>
      <p:sp>
        <p:nvSpPr>
          <p:cNvPr id="46" name="Text 20"/>
          <p:cNvSpPr/>
          <p:nvPr/>
        </p:nvSpPr>
        <p:spPr>
          <a:xfrm>
            <a:off x="8635901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다대다</a:t>
            </a:r>
            <a:endParaRPr lang="en-US" sz="900" dirty="0"/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</a:t>
            </a:r>
            <a:endParaRPr lang="en-US" sz="900" dirty="0"/>
          </a:p>
        </p:txBody>
      </p:sp>
      <p:sp>
        <p:nvSpPr>
          <p:cNvPr id="48" name="Text 22"/>
          <p:cNvSpPr/>
          <p:nvPr/>
        </p:nvSpPr>
        <p:spPr>
          <a:xfrm>
            <a:off x="10413950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외래키</a:t>
            </a:r>
            <a:endParaRPr lang="en-US" sz="900" dirty="0"/>
          </a:p>
        </p:txBody>
      </p:sp>
      <p:sp>
        <p:nvSpPr>
          <p:cNvPr id="49" name="Text 23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905000"/>
            <a:ext cx="11734800" cy="3810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1905000"/>
            <a:ext cx="11734800" cy="3810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2095500"/>
            <a:ext cx="1220539" cy="2762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3048000"/>
            <a:ext cx="1058019" cy="27622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4000500"/>
            <a:ext cx="1279922" cy="27622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4953000"/>
            <a:ext cx="1072455" cy="2762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82150" y="2095500"/>
            <a:ext cx="1905000" cy="1524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82150" y="2095500"/>
            <a:ext cx="19050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96450" y="2247900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09850" y="2095500"/>
            <a:ext cx="1905000" cy="1371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09850" y="2095500"/>
            <a:ext cx="19050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24150" y="2247900"/>
            <a:ext cx="1905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9650" y="3048000"/>
            <a:ext cx="1905000" cy="1524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29650" y="3048000"/>
            <a:ext cx="19050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43950" y="320040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81100" y="3048000"/>
            <a:ext cx="1905000" cy="1524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81100" y="3048000"/>
            <a:ext cx="19050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95400" y="320040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629650" y="4000500"/>
            <a:ext cx="1905000" cy="9906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29650" y="4000500"/>
            <a:ext cx="19050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743950" y="415290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81100" y="4000500"/>
            <a:ext cx="1905000" cy="990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81100" y="4000500"/>
            <a:ext cx="1905000" cy="457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95400" y="4152900"/>
            <a:ext cx="1333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20150" y="4953000"/>
            <a:ext cx="1714500" cy="990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820150" y="4953000"/>
            <a:ext cx="17145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934450" y="5105400"/>
            <a:ext cx="13335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81100" y="4953000"/>
            <a:ext cx="1714500" cy="990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81100" y="4953000"/>
            <a:ext cx="17145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95400" y="5105400"/>
            <a:ext cx="1714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8600" y="5867400"/>
            <a:ext cx="11734800" cy="1638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81000" y="6057900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81000" y="6362700"/>
            <a:ext cx="5638800" cy="4191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95300" y="651510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172200" y="6362700"/>
            <a:ext cx="5638800" cy="4191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86500" y="6515100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81000" y="6934200"/>
            <a:ext cx="5638800" cy="4191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95300" y="7086600"/>
            <a:ext cx="17145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172200" y="6934200"/>
            <a:ext cx="5638800" cy="4191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286500" y="7086600"/>
            <a:ext cx="190500" cy="1524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 설계 - 클래스 다이어그램</a:t>
            </a:r>
            <a:endParaRPr lang="en-US" sz="1800" dirty="0"/>
          </a:p>
        </p:txBody>
      </p:sp>
      <p:sp>
        <p:nvSpPr>
          <p:cNvPr id="4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계층형 아키텍처 기반 LearnUp LMS의 주요 객체 구조 및 관계도</a:t>
            </a:r>
            <a:endParaRPr lang="en-US" sz="1050" dirty="0"/>
          </a:p>
        </p:txBody>
      </p:sp>
      <p:sp>
        <p:nvSpPr>
          <p:cNvPr id="49" name="Text 2"/>
          <p:cNvSpPr/>
          <p:nvPr/>
        </p:nvSpPr>
        <p:spPr>
          <a:xfrm>
            <a:off x="381000" y="11430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계층형 아키텍처(Layered Architecture)</a:t>
            </a: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를 설명합니다.</a:t>
            </a:r>
            <a:endParaRPr lang="en-US" sz="1200" dirty="0"/>
          </a:p>
        </p:txBody>
      </p:sp>
      <p:sp>
        <p:nvSpPr>
          <p:cNvPr id="50" name="Text 3"/>
          <p:cNvSpPr/>
          <p:nvPr/>
        </p:nvSpPr>
        <p:spPr>
          <a:xfrm>
            <a:off x="323850" y="2095500"/>
            <a:ext cx="146464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Layer</a:t>
            </a:r>
            <a:endParaRPr lang="en-US" sz="1050" dirty="0"/>
          </a:p>
        </p:txBody>
      </p:sp>
      <p:sp>
        <p:nvSpPr>
          <p:cNvPr id="51" name="Text 4"/>
          <p:cNvSpPr/>
          <p:nvPr/>
        </p:nvSpPr>
        <p:spPr>
          <a:xfrm>
            <a:off x="323850" y="3048000"/>
            <a:ext cx="12696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Layer</a:t>
            </a:r>
            <a:endParaRPr lang="en-US" sz="1050" dirty="0"/>
          </a:p>
        </p:txBody>
      </p:sp>
      <p:sp>
        <p:nvSpPr>
          <p:cNvPr id="52" name="Text 5"/>
          <p:cNvSpPr/>
          <p:nvPr/>
        </p:nvSpPr>
        <p:spPr>
          <a:xfrm>
            <a:off x="323850" y="4000500"/>
            <a:ext cx="153590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Layer</a:t>
            </a:r>
            <a:endParaRPr lang="en-US" sz="1050" dirty="0"/>
          </a:p>
        </p:txBody>
      </p:sp>
      <p:sp>
        <p:nvSpPr>
          <p:cNvPr id="53" name="Text 6"/>
          <p:cNvSpPr/>
          <p:nvPr/>
        </p:nvSpPr>
        <p:spPr>
          <a:xfrm>
            <a:off x="323850" y="4953000"/>
            <a:ext cx="128694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Layer</a:t>
            </a:r>
            <a:endParaRPr lang="en-US" sz="1050" dirty="0"/>
          </a:p>
        </p:txBody>
      </p:sp>
      <p:sp>
        <p:nvSpPr>
          <p:cNvPr id="54" name="Text 7"/>
          <p:cNvSpPr/>
          <p:nvPr/>
        </p:nvSpPr>
        <p:spPr>
          <a:xfrm>
            <a:off x="9963150" y="2209800"/>
            <a:ext cx="12805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UserController</a:t>
            </a:r>
            <a:endParaRPr lang="en-US" sz="1200" dirty="0"/>
          </a:p>
        </p:txBody>
      </p:sp>
      <p:sp>
        <p:nvSpPr>
          <p:cNvPr id="55" name="Text 8"/>
          <p:cNvSpPr/>
          <p:nvPr/>
        </p:nvSpPr>
        <p:spPr>
          <a:xfrm>
            <a:off x="9696450" y="26670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속성:</a:t>
            </a:r>
            <a:endParaRPr lang="en-US" sz="900" dirty="0"/>
          </a:p>
        </p:txBody>
      </p:sp>
      <p:sp>
        <p:nvSpPr>
          <p:cNvPr id="56" name="Text 9"/>
          <p:cNvSpPr/>
          <p:nvPr/>
        </p:nvSpPr>
        <p:spPr>
          <a:xfrm>
            <a:off x="9810750" y="2819400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userService: UserService</a:t>
            </a:r>
            <a:endParaRPr lang="en-US" sz="900" dirty="0"/>
          </a:p>
        </p:txBody>
      </p:sp>
      <p:sp>
        <p:nvSpPr>
          <p:cNvPr id="57" name="Text 10"/>
          <p:cNvSpPr/>
          <p:nvPr/>
        </p:nvSpPr>
        <p:spPr>
          <a:xfrm>
            <a:off x="9696450" y="30480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메서드:</a:t>
            </a:r>
            <a:endParaRPr lang="en-US" sz="900" dirty="0"/>
          </a:p>
        </p:txBody>
      </p:sp>
      <p:sp>
        <p:nvSpPr>
          <p:cNvPr id="58" name="Text 11"/>
          <p:cNvSpPr/>
          <p:nvPr/>
        </p:nvSpPr>
        <p:spPr>
          <a:xfrm>
            <a:off x="9810750" y="32004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getUser(), createUser(), updateUser()</a:t>
            </a:r>
            <a:endParaRPr lang="en-US" sz="900" dirty="0"/>
          </a:p>
        </p:txBody>
      </p:sp>
      <p:sp>
        <p:nvSpPr>
          <p:cNvPr id="59" name="Text 12"/>
          <p:cNvSpPr/>
          <p:nvPr/>
        </p:nvSpPr>
        <p:spPr>
          <a:xfrm>
            <a:off x="2990850" y="2209800"/>
            <a:ext cx="15039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CourseController</a:t>
            </a:r>
            <a:endParaRPr lang="en-US" sz="1200" dirty="0"/>
          </a:p>
        </p:txBody>
      </p:sp>
      <p:sp>
        <p:nvSpPr>
          <p:cNvPr id="60" name="Text 13"/>
          <p:cNvSpPr/>
          <p:nvPr/>
        </p:nvSpPr>
        <p:spPr>
          <a:xfrm>
            <a:off x="2724150" y="26670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속성:</a:t>
            </a:r>
            <a:endParaRPr lang="en-US" sz="900" dirty="0"/>
          </a:p>
        </p:txBody>
      </p:sp>
      <p:sp>
        <p:nvSpPr>
          <p:cNvPr id="61" name="Text 14"/>
          <p:cNvSpPr/>
          <p:nvPr/>
        </p:nvSpPr>
        <p:spPr>
          <a:xfrm>
            <a:off x="2838450" y="2819400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courseService: CourseService</a:t>
            </a:r>
            <a:endParaRPr lang="en-US" sz="900" dirty="0"/>
          </a:p>
        </p:txBody>
      </p:sp>
      <p:sp>
        <p:nvSpPr>
          <p:cNvPr id="62" name="Text 15"/>
          <p:cNvSpPr/>
          <p:nvPr/>
        </p:nvSpPr>
        <p:spPr>
          <a:xfrm>
            <a:off x="2724150" y="30480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메서드:</a:t>
            </a:r>
            <a:endParaRPr lang="en-US" sz="900" dirty="0"/>
          </a:p>
        </p:txBody>
      </p:sp>
      <p:sp>
        <p:nvSpPr>
          <p:cNvPr id="63" name="Text 16"/>
          <p:cNvSpPr/>
          <p:nvPr/>
        </p:nvSpPr>
        <p:spPr>
          <a:xfrm>
            <a:off x="2838450" y="3200400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getCourses(), createCourse()</a:t>
            </a:r>
            <a:endParaRPr lang="en-US" sz="900" dirty="0"/>
          </a:p>
        </p:txBody>
      </p:sp>
      <p:sp>
        <p:nvSpPr>
          <p:cNvPr id="64" name="Text 17"/>
          <p:cNvSpPr/>
          <p:nvPr/>
        </p:nvSpPr>
        <p:spPr>
          <a:xfrm>
            <a:off x="9010650" y="3162300"/>
            <a:ext cx="10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UserService</a:t>
            </a:r>
            <a:endParaRPr lang="en-US" sz="1200" dirty="0"/>
          </a:p>
        </p:txBody>
      </p:sp>
      <p:sp>
        <p:nvSpPr>
          <p:cNvPr id="65" name="Text 18"/>
          <p:cNvSpPr/>
          <p:nvPr/>
        </p:nvSpPr>
        <p:spPr>
          <a:xfrm>
            <a:off x="8743950" y="36195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속성:</a:t>
            </a:r>
            <a:endParaRPr lang="en-US" sz="900" dirty="0"/>
          </a:p>
        </p:txBody>
      </p:sp>
      <p:sp>
        <p:nvSpPr>
          <p:cNvPr id="66" name="Text 19"/>
          <p:cNvSpPr/>
          <p:nvPr/>
        </p:nvSpPr>
        <p:spPr>
          <a:xfrm>
            <a:off x="8858250" y="37719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userRepository: UserRepository</a:t>
            </a:r>
            <a:endParaRPr lang="en-US" sz="900" dirty="0"/>
          </a:p>
        </p:txBody>
      </p:sp>
      <p:sp>
        <p:nvSpPr>
          <p:cNvPr id="67" name="Text 20"/>
          <p:cNvSpPr/>
          <p:nvPr/>
        </p:nvSpPr>
        <p:spPr>
          <a:xfrm>
            <a:off x="8743950" y="41529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메서드:</a:t>
            </a:r>
            <a:endParaRPr lang="en-US" sz="900" dirty="0"/>
          </a:p>
        </p:txBody>
      </p:sp>
      <p:sp>
        <p:nvSpPr>
          <p:cNvPr id="68" name="Text 21"/>
          <p:cNvSpPr/>
          <p:nvPr/>
        </p:nvSpPr>
        <p:spPr>
          <a:xfrm>
            <a:off x="8858250" y="4305300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getUserById(), saveUser()</a:t>
            </a:r>
            <a:endParaRPr lang="en-US" sz="900" dirty="0"/>
          </a:p>
        </p:txBody>
      </p:sp>
      <p:sp>
        <p:nvSpPr>
          <p:cNvPr id="69" name="Text 22"/>
          <p:cNvSpPr/>
          <p:nvPr/>
        </p:nvSpPr>
        <p:spPr>
          <a:xfrm>
            <a:off x="1543050" y="3162300"/>
            <a:ext cx="12808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CourseService</a:t>
            </a:r>
            <a:endParaRPr lang="en-US" sz="1200" dirty="0"/>
          </a:p>
        </p:txBody>
      </p:sp>
      <p:sp>
        <p:nvSpPr>
          <p:cNvPr id="70" name="Text 23"/>
          <p:cNvSpPr/>
          <p:nvPr/>
        </p:nvSpPr>
        <p:spPr>
          <a:xfrm>
            <a:off x="1295400" y="36195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속성:</a:t>
            </a:r>
            <a:endParaRPr lang="en-US" sz="900" dirty="0"/>
          </a:p>
        </p:txBody>
      </p:sp>
      <p:sp>
        <p:nvSpPr>
          <p:cNvPr id="71" name="Text 24"/>
          <p:cNvSpPr/>
          <p:nvPr/>
        </p:nvSpPr>
        <p:spPr>
          <a:xfrm>
            <a:off x="1409700" y="377190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courseRepository: CourseRepository</a:t>
            </a:r>
            <a:endParaRPr lang="en-US" sz="900" dirty="0"/>
          </a:p>
        </p:txBody>
      </p:sp>
      <p:sp>
        <p:nvSpPr>
          <p:cNvPr id="72" name="Text 25"/>
          <p:cNvSpPr/>
          <p:nvPr/>
        </p:nvSpPr>
        <p:spPr>
          <a:xfrm>
            <a:off x="1295400" y="41529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메서드:</a:t>
            </a:r>
            <a:endParaRPr lang="en-US" sz="900" dirty="0"/>
          </a:p>
        </p:txBody>
      </p:sp>
      <p:sp>
        <p:nvSpPr>
          <p:cNvPr id="73" name="Text 26"/>
          <p:cNvSpPr/>
          <p:nvPr/>
        </p:nvSpPr>
        <p:spPr>
          <a:xfrm>
            <a:off x="1409700" y="4305300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getCourse(), createCourse()</a:t>
            </a:r>
            <a:endParaRPr lang="en-US" sz="900" dirty="0"/>
          </a:p>
        </p:txBody>
      </p:sp>
      <p:sp>
        <p:nvSpPr>
          <p:cNvPr id="74" name="Text 27"/>
          <p:cNvSpPr/>
          <p:nvPr/>
        </p:nvSpPr>
        <p:spPr>
          <a:xfrm>
            <a:off x="8953500" y="4114800"/>
            <a:ext cx="1361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UserRepository</a:t>
            </a:r>
            <a:endParaRPr lang="en-US" sz="1200" dirty="0"/>
          </a:p>
        </p:txBody>
      </p:sp>
      <p:sp>
        <p:nvSpPr>
          <p:cNvPr id="75" name="Text 28"/>
          <p:cNvSpPr/>
          <p:nvPr/>
        </p:nvSpPr>
        <p:spPr>
          <a:xfrm>
            <a:off x="8743950" y="45720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메서드:</a:t>
            </a:r>
            <a:endParaRPr lang="en-US" sz="900" dirty="0"/>
          </a:p>
        </p:txBody>
      </p:sp>
      <p:sp>
        <p:nvSpPr>
          <p:cNvPr id="76" name="Text 29"/>
          <p:cNvSpPr/>
          <p:nvPr/>
        </p:nvSpPr>
        <p:spPr>
          <a:xfrm>
            <a:off x="8858250" y="4724400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findById(), save()</a:t>
            </a:r>
            <a:endParaRPr lang="en-US" sz="900" dirty="0"/>
          </a:p>
        </p:txBody>
      </p:sp>
      <p:sp>
        <p:nvSpPr>
          <p:cNvPr id="77" name="Text 30"/>
          <p:cNvSpPr/>
          <p:nvPr/>
        </p:nvSpPr>
        <p:spPr>
          <a:xfrm>
            <a:off x="1504950" y="4114800"/>
            <a:ext cx="1585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CourseRepository</a:t>
            </a:r>
            <a:endParaRPr lang="en-US" sz="1200" dirty="0"/>
          </a:p>
        </p:txBody>
      </p:sp>
      <p:sp>
        <p:nvSpPr>
          <p:cNvPr id="78" name="Text 31"/>
          <p:cNvSpPr/>
          <p:nvPr/>
        </p:nvSpPr>
        <p:spPr>
          <a:xfrm>
            <a:off x="1295400" y="4572000"/>
            <a:ext cx="1676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메서드:</a:t>
            </a:r>
            <a:endParaRPr lang="en-US" sz="900" dirty="0"/>
          </a:p>
        </p:txBody>
      </p:sp>
      <p:sp>
        <p:nvSpPr>
          <p:cNvPr id="79" name="Text 32"/>
          <p:cNvSpPr/>
          <p:nvPr/>
        </p:nvSpPr>
        <p:spPr>
          <a:xfrm>
            <a:off x="1409700" y="4724400"/>
            <a:ext cx="20116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findAll(), findOne()</a:t>
            </a:r>
            <a:endParaRPr lang="en-US" sz="900" dirty="0"/>
          </a:p>
        </p:txBody>
      </p:sp>
      <p:sp>
        <p:nvSpPr>
          <p:cNvPr id="80" name="Text 33"/>
          <p:cNvSpPr/>
          <p:nvPr/>
        </p:nvSpPr>
        <p:spPr>
          <a:xfrm>
            <a:off x="9144000" y="5067300"/>
            <a:ext cx="406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200" dirty="0"/>
          </a:p>
        </p:txBody>
      </p:sp>
      <p:sp>
        <p:nvSpPr>
          <p:cNvPr id="81" name="Text 34"/>
          <p:cNvSpPr/>
          <p:nvPr/>
        </p:nvSpPr>
        <p:spPr>
          <a:xfrm>
            <a:off x="8934450" y="55245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속성:</a:t>
            </a:r>
            <a:endParaRPr lang="en-US" sz="900" dirty="0"/>
          </a:p>
        </p:txBody>
      </p:sp>
      <p:sp>
        <p:nvSpPr>
          <p:cNvPr id="82" name="Text 35"/>
          <p:cNvSpPr/>
          <p:nvPr/>
        </p:nvSpPr>
        <p:spPr>
          <a:xfrm>
            <a:off x="9048750" y="5676900"/>
            <a:ext cx="1783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name, email, role</a:t>
            </a:r>
            <a:endParaRPr lang="en-US" sz="900" dirty="0"/>
          </a:p>
        </p:txBody>
      </p:sp>
      <p:sp>
        <p:nvSpPr>
          <p:cNvPr id="83" name="Text 36"/>
          <p:cNvSpPr/>
          <p:nvPr/>
        </p:nvSpPr>
        <p:spPr>
          <a:xfrm>
            <a:off x="1543050" y="5067300"/>
            <a:ext cx="630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</a:t>
            </a:r>
            <a:endParaRPr lang="en-US" sz="1200" dirty="0"/>
          </a:p>
        </p:txBody>
      </p:sp>
      <p:sp>
        <p:nvSpPr>
          <p:cNvPr id="84" name="Text 37"/>
          <p:cNvSpPr/>
          <p:nvPr/>
        </p:nvSpPr>
        <p:spPr>
          <a:xfrm>
            <a:off x="1295400" y="5524500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속성:</a:t>
            </a:r>
            <a:endParaRPr lang="en-US" sz="900" dirty="0"/>
          </a:p>
        </p:txBody>
      </p:sp>
      <p:sp>
        <p:nvSpPr>
          <p:cNvPr id="85" name="Text 38"/>
          <p:cNvSpPr/>
          <p:nvPr/>
        </p:nvSpPr>
        <p:spPr>
          <a:xfrm>
            <a:off x="1409700" y="5676900"/>
            <a:ext cx="17830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id, title, description</a:t>
            </a:r>
            <a:endParaRPr lang="en-US" sz="900" dirty="0"/>
          </a:p>
        </p:txBody>
      </p:sp>
      <p:sp>
        <p:nvSpPr>
          <p:cNvPr id="86" name="Text 39"/>
          <p:cNvSpPr/>
          <p:nvPr/>
        </p:nvSpPr>
        <p:spPr>
          <a:xfrm>
            <a:off x="609600" y="60198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클래스 다이어그램의 주요 특징</a:t>
            </a:r>
            <a:endParaRPr lang="en-US" sz="1200" dirty="0"/>
          </a:p>
        </p:txBody>
      </p:sp>
      <p:sp>
        <p:nvSpPr>
          <p:cNvPr id="87" name="Text 40"/>
          <p:cNvSpPr/>
          <p:nvPr/>
        </p:nvSpPr>
        <p:spPr>
          <a:xfrm>
            <a:off x="723900" y="6477000"/>
            <a:ext cx="46111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900" dirty="0"/>
          </a:p>
        </p:txBody>
      </p:sp>
      <p:sp>
        <p:nvSpPr>
          <p:cNvPr id="88" name="Text 41"/>
          <p:cNvSpPr/>
          <p:nvPr/>
        </p:nvSpPr>
        <p:spPr>
          <a:xfrm>
            <a:off x="6515100" y="6477000"/>
            <a:ext cx="34981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Service는 Repository를 통해 데이터베이스와 통신합니다.</a:t>
            </a:r>
            <a:endParaRPr lang="en-US" sz="900" dirty="0"/>
          </a:p>
        </p:txBody>
      </p:sp>
      <p:sp>
        <p:nvSpPr>
          <p:cNvPr id="89" name="Text 42"/>
          <p:cNvSpPr/>
          <p:nvPr/>
        </p:nvSpPr>
        <p:spPr>
          <a:xfrm>
            <a:off x="742950" y="7048500"/>
            <a:ext cx="46946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900" dirty="0"/>
          </a:p>
        </p:txBody>
      </p:sp>
      <p:sp>
        <p:nvSpPr>
          <p:cNvPr id="90" name="Text 43"/>
          <p:cNvSpPr/>
          <p:nvPr/>
        </p:nvSpPr>
        <p:spPr>
          <a:xfrm>
            <a:off x="6553200" y="7048500"/>
            <a:ext cx="38636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도메인 객체(User, Course)는 핵심 비즈니스 로직을 포함합니다.</a:t>
            </a:r>
            <a:endParaRPr lang="en-US" sz="900" dirty="0"/>
          </a:p>
        </p:txBody>
      </p:sp>
      <p:sp>
        <p:nvSpPr>
          <p:cNvPr id="91" name="Text 44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0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2552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8614" y="1190625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905000"/>
            <a:ext cx="16764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9225" y="2057400"/>
            <a:ext cx="3619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2075" y="2381250"/>
            <a:ext cx="1333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9101" y="1905000"/>
            <a:ext cx="1676400" cy="1143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4426" y="2057400"/>
            <a:ext cx="285750" cy="342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9176" y="2381250"/>
            <a:ext cx="1333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56202" y="1905000"/>
            <a:ext cx="1676400" cy="1143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13427" y="2057400"/>
            <a:ext cx="36195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6277" y="238125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3302" y="1905000"/>
            <a:ext cx="1676400" cy="1143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67677" y="2057400"/>
            <a:ext cx="2476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" y="3771900"/>
            <a:ext cx="2819400" cy="2933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3924300"/>
            <a:ext cx="25146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39243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61963" y="3981450"/>
            <a:ext cx="21907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4495800"/>
            <a:ext cx="25146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457200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46482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5029200"/>
            <a:ext cx="2514600" cy="457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51054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6725" y="5181600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81000" y="5638800"/>
            <a:ext cx="3048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76250" y="5715000"/>
            <a:ext cx="1143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0400" y="3771900"/>
            <a:ext cx="2819400" cy="2933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2800" y="3924300"/>
            <a:ext cx="2514600" cy="4572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52800" y="3924300"/>
            <a:ext cx="381000" cy="381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48050" y="3981450"/>
            <a:ext cx="190500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52800" y="4495800"/>
            <a:ext cx="2514600" cy="4572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352800" y="4572000"/>
            <a:ext cx="304800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448050" y="4648200"/>
            <a:ext cx="1143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52800" y="5029200"/>
            <a:ext cx="2514600" cy="4572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52800" y="5105400"/>
            <a:ext cx="304800" cy="304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429000" y="5181600"/>
            <a:ext cx="152400" cy="152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52800" y="5562600"/>
            <a:ext cx="2514600" cy="4572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352800" y="5638800"/>
            <a:ext cx="304800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429000" y="5715000"/>
            <a:ext cx="152400" cy="152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52800" y="6172200"/>
            <a:ext cx="304800" cy="3048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438525" y="6248400"/>
            <a:ext cx="13335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72200" y="3771900"/>
            <a:ext cx="2819400" cy="29337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3924300"/>
            <a:ext cx="2514600" cy="4572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324600" y="3924300"/>
            <a:ext cx="381000" cy="381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29375" y="3981450"/>
            <a:ext cx="171450" cy="2667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4495800"/>
            <a:ext cx="2514600" cy="4572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324600" y="4572000"/>
            <a:ext cx="304800" cy="3048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10325" y="4648200"/>
            <a:ext cx="133350" cy="152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5029200"/>
            <a:ext cx="2514600" cy="4572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324600" y="5105400"/>
            <a:ext cx="304800" cy="3048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10325" y="5181600"/>
            <a:ext cx="133350" cy="152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24600" y="5638800"/>
            <a:ext cx="304800" cy="3048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391275" y="5715000"/>
            <a:ext cx="171450" cy="1524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0" y="3771900"/>
            <a:ext cx="2819400" cy="29337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6400" y="3924300"/>
            <a:ext cx="2514600" cy="4572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96400" y="3924300"/>
            <a:ext cx="381000" cy="3810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367838" y="3981450"/>
            <a:ext cx="238125" cy="266700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96400" y="4495800"/>
            <a:ext cx="2514600" cy="457200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96400" y="4572000"/>
            <a:ext cx="304800" cy="304800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353550" y="4648200"/>
            <a:ext cx="190500" cy="152400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96400" y="5029200"/>
            <a:ext cx="2514600" cy="45720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96400" y="5105400"/>
            <a:ext cx="304800" cy="304800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9353550" y="5181600"/>
            <a:ext cx="190500" cy="152400"/>
          </a:xfrm>
          <a:prstGeom prst="rect">
            <a:avLst/>
          </a:prstGeom>
        </p:spPr>
      </p:pic>
      <p:pic>
        <p:nvPicPr>
          <p:cNvPr id="67" name="Image 6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96400" y="5562600"/>
            <a:ext cx="2514600" cy="457200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296400" y="5638800"/>
            <a:ext cx="304800" cy="304800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372600" y="5715000"/>
            <a:ext cx="152400" cy="152400"/>
          </a:xfrm>
          <a:prstGeom prst="rect">
            <a:avLst/>
          </a:prstGeom>
        </p:spPr>
      </p:pic>
      <p:pic>
        <p:nvPicPr>
          <p:cNvPr id="70" name="Image 6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96400" y="6172200"/>
            <a:ext cx="304800" cy="304800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382125" y="6248400"/>
            <a:ext cx="133350" cy="152400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73" name="Text 0"/>
          <p:cNvSpPr/>
          <p:nvPr/>
        </p:nvSpPr>
        <p:spPr>
          <a:xfrm>
            <a:off x="228600" y="228600"/>
            <a:ext cx="26976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적용 기술 및 아키텍처</a:t>
            </a:r>
            <a:endParaRPr lang="en-US" sz="1800" dirty="0"/>
          </a:p>
        </p:txBody>
      </p:sp>
      <p:sp>
        <p:nvSpPr>
          <p:cNvPr id="7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LearnUp LMS의 기술 스택 및 시스템 아키텍처 구성</a:t>
            </a:r>
            <a:endParaRPr lang="en-US" sz="1050" dirty="0"/>
          </a:p>
        </p:txBody>
      </p:sp>
      <p:sp>
        <p:nvSpPr>
          <p:cNvPr id="75" name="Text 2"/>
          <p:cNvSpPr/>
          <p:nvPr/>
        </p:nvSpPr>
        <p:spPr>
          <a:xfrm>
            <a:off x="5605314" y="11430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 아키텍처</a:t>
            </a:r>
            <a:endParaRPr lang="en-US" sz="1350" dirty="0"/>
          </a:p>
        </p:txBody>
      </p:sp>
      <p:sp>
        <p:nvSpPr>
          <p:cNvPr id="76" name="Text 3"/>
          <p:cNvSpPr/>
          <p:nvPr/>
        </p:nvSpPr>
        <p:spPr>
          <a:xfrm>
            <a:off x="914400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클라이언트</a:t>
            </a:r>
            <a:endParaRPr lang="en-US" sz="1200" dirty="0"/>
          </a:p>
        </p:txBody>
      </p:sp>
      <p:sp>
        <p:nvSpPr>
          <p:cNvPr id="77" name="Text 4"/>
          <p:cNvSpPr/>
          <p:nvPr/>
        </p:nvSpPr>
        <p:spPr>
          <a:xfrm>
            <a:off x="914400" y="27051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브라우저/앱</a:t>
            </a:r>
            <a:endParaRPr lang="en-US" sz="1050" dirty="0"/>
          </a:p>
        </p:txBody>
      </p:sp>
      <p:sp>
        <p:nvSpPr>
          <p:cNvPr id="78" name="Text 5"/>
          <p:cNvSpPr/>
          <p:nvPr/>
        </p:nvSpPr>
        <p:spPr>
          <a:xfrm>
            <a:off x="3911501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웹 서버</a:t>
            </a:r>
            <a:endParaRPr lang="en-US" sz="1200" dirty="0"/>
          </a:p>
        </p:txBody>
      </p:sp>
      <p:sp>
        <p:nvSpPr>
          <p:cNvPr id="79" name="Text 6"/>
          <p:cNvSpPr/>
          <p:nvPr/>
        </p:nvSpPr>
        <p:spPr>
          <a:xfrm>
            <a:off x="3911501" y="270510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</a:t>
            </a:r>
            <a:endParaRPr lang="en-US" sz="1050" dirty="0"/>
          </a:p>
        </p:txBody>
      </p:sp>
      <p:sp>
        <p:nvSpPr>
          <p:cNvPr id="80" name="Text 7"/>
          <p:cNvSpPr/>
          <p:nvPr/>
        </p:nvSpPr>
        <p:spPr>
          <a:xfrm>
            <a:off x="6908602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</a:t>
            </a:r>
            <a:endParaRPr lang="en-US" sz="1200" dirty="0"/>
          </a:p>
        </p:txBody>
      </p:sp>
      <p:sp>
        <p:nvSpPr>
          <p:cNvPr id="81" name="Text 8"/>
          <p:cNvSpPr/>
          <p:nvPr/>
        </p:nvSpPr>
        <p:spPr>
          <a:xfrm>
            <a:off x="6771442" y="2705100"/>
            <a:ext cx="1645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82" name="Text 9"/>
          <p:cNvSpPr/>
          <p:nvPr/>
        </p:nvSpPr>
        <p:spPr>
          <a:xfrm>
            <a:off x="9905702" y="24765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83" name="Text 10"/>
          <p:cNvSpPr/>
          <p:nvPr/>
        </p:nvSpPr>
        <p:spPr>
          <a:xfrm>
            <a:off x="9768542" y="2705100"/>
            <a:ext cx="1645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MySQL/PostgreSQL</a:t>
            </a:r>
            <a:endParaRPr lang="en-US" sz="1050" dirty="0"/>
          </a:p>
        </p:txBody>
      </p:sp>
      <p:sp>
        <p:nvSpPr>
          <p:cNvPr id="84" name="Text 11"/>
          <p:cNvSpPr/>
          <p:nvPr/>
        </p:nvSpPr>
        <p:spPr>
          <a:xfrm>
            <a:off x="876300" y="3981450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프론트엔드</a:t>
            </a:r>
            <a:endParaRPr lang="en-US" sz="1350" dirty="0"/>
          </a:p>
        </p:txBody>
      </p:sp>
      <p:sp>
        <p:nvSpPr>
          <p:cNvPr id="85" name="Text 12"/>
          <p:cNvSpPr/>
          <p:nvPr/>
        </p:nvSpPr>
        <p:spPr>
          <a:xfrm>
            <a:off x="762000" y="4629150"/>
            <a:ext cx="132516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(TypeScript)</a:t>
            </a:r>
            <a:endParaRPr lang="en-US" sz="1050" dirty="0"/>
          </a:p>
        </p:txBody>
      </p:sp>
      <p:sp>
        <p:nvSpPr>
          <p:cNvPr id="86" name="Text 13"/>
          <p:cNvSpPr/>
          <p:nvPr/>
        </p:nvSpPr>
        <p:spPr>
          <a:xfrm>
            <a:off x="762000" y="5162550"/>
            <a:ext cx="12358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Recoil (상태관리)</a:t>
            </a:r>
            <a:endParaRPr lang="en-US" sz="1050" dirty="0"/>
          </a:p>
        </p:txBody>
      </p:sp>
      <p:sp>
        <p:nvSpPr>
          <p:cNvPr id="87" name="Text 14"/>
          <p:cNvSpPr/>
          <p:nvPr/>
        </p:nvSpPr>
        <p:spPr>
          <a:xfrm>
            <a:off x="762000" y="5695950"/>
            <a:ext cx="8983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TailwindCSS</a:t>
            </a:r>
            <a:endParaRPr lang="en-US" sz="1050" dirty="0"/>
          </a:p>
        </p:txBody>
      </p:sp>
      <p:sp>
        <p:nvSpPr>
          <p:cNvPr id="88" name="Text 15"/>
          <p:cNvSpPr/>
          <p:nvPr/>
        </p:nvSpPr>
        <p:spPr>
          <a:xfrm>
            <a:off x="3848100" y="3981450"/>
            <a:ext cx="6172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백엔드</a:t>
            </a:r>
            <a:endParaRPr lang="en-US" sz="1350" dirty="0"/>
          </a:p>
        </p:txBody>
      </p:sp>
      <p:sp>
        <p:nvSpPr>
          <p:cNvPr id="89" name="Text 16"/>
          <p:cNvSpPr/>
          <p:nvPr/>
        </p:nvSpPr>
        <p:spPr>
          <a:xfrm>
            <a:off x="3733800" y="4629150"/>
            <a:ext cx="3380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</a:t>
            </a:r>
            <a:endParaRPr lang="en-US" sz="1050" dirty="0"/>
          </a:p>
        </p:txBody>
      </p:sp>
      <p:sp>
        <p:nvSpPr>
          <p:cNvPr id="90" name="Text 17"/>
          <p:cNvSpPr/>
          <p:nvPr/>
        </p:nvSpPr>
        <p:spPr>
          <a:xfrm>
            <a:off x="3733800" y="5162550"/>
            <a:ext cx="836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</a:t>
            </a:r>
            <a:endParaRPr lang="en-US" sz="1050" dirty="0"/>
          </a:p>
        </p:txBody>
      </p:sp>
      <p:sp>
        <p:nvSpPr>
          <p:cNvPr id="91" name="Text 18"/>
          <p:cNvSpPr/>
          <p:nvPr/>
        </p:nvSpPr>
        <p:spPr>
          <a:xfrm>
            <a:off x="3733800" y="5695950"/>
            <a:ext cx="1085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Security</a:t>
            </a:r>
            <a:endParaRPr lang="en-US" sz="1050" dirty="0"/>
          </a:p>
        </p:txBody>
      </p:sp>
      <p:sp>
        <p:nvSpPr>
          <p:cNvPr id="92" name="Text 19"/>
          <p:cNvSpPr/>
          <p:nvPr/>
        </p:nvSpPr>
        <p:spPr>
          <a:xfrm>
            <a:off x="3733800" y="6229350"/>
            <a:ext cx="2816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JPA</a:t>
            </a:r>
            <a:endParaRPr lang="en-US" sz="1050" dirty="0"/>
          </a:p>
        </p:txBody>
      </p:sp>
      <p:sp>
        <p:nvSpPr>
          <p:cNvPr id="93" name="Text 20"/>
          <p:cNvSpPr/>
          <p:nvPr/>
        </p:nvSpPr>
        <p:spPr>
          <a:xfrm>
            <a:off x="6819900" y="3981450"/>
            <a:ext cx="12344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데이터베이스</a:t>
            </a:r>
            <a:endParaRPr lang="en-US" sz="1350" dirty="0"/>
          </a:p>
        </p:txBody>
      </p:sp>
      <p:sp>
        <p:nvSpPr>
          <p:cNvPr id="94" name="Text 21"/>
          <p:cNvSpPr/>
          <p:nvPr/>
        </p:nvSpPr>
        <p:spPr>
          <a:xfrm>
            <a:off x="6705600" y="4629150"/>
            <a:ext cx="5336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</a:t>
            </a:r>
            <a:endParaRPr lang="en-US" sz="1050" dirty="0"/>
          </a:p>
        </p:txBody>
      </p:sp>
      <p:sp>
        <p:nvSpPr>
          <p:cNvPr id="95" name="Text 22"/>
          <p:cNvSpPr/>
          <p:nvPr/>
        </p:nvSpPr>
        <p:spPr>
          <a:xfrm>
            <a:off x="6705600" y="5162550"/>
            <a:ext cx="8717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96" name="Text 23"/>
          <p:cNvSpPr/>
          <p:nvPr/>
        </p:nvSpPr>
        <p:spPr>
          <a:xfrm>
            <a:off x="6705600" y="5695950"/>
            <a:ext cx="880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(캐싱)</a:t>
            </a:r>
            <a:endParaRPr lang="en-US" sz="1050" dirty="0"/>
          </a:p>
        </p:txBody>
      </p:sp>
      <p:sp>
        <p:nvSpPr>
          <p:cNvPr id="97" name="Text 24"/>
          <p:cNvSpPr/>
          <p:nvPr/>
        </p:nvSpPr>
        <p:spPr>
          <a:xfrm>
            <a:off x="9791700" y="3981450"/>
            <a:ext cx="411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배포</a:t>
            </a:r>
            <a:endParaRPr lang="en-US" sz="1350" dirty="0"/>
          </a:p>
        </p:txBody>
      </p:sp>
      <p:sp>
        <p:nvSpPr>
          <p:cNvPr id="98" name="Text 25"/>
          <p:cNvSpPr/>
          <p:nvPr/>
        </p:nvSpPr>
        <p:spPr>
          <a:xfrm>
            <a:off x="9677400" y="4629150"/>
            <a:ext cx="71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EC2</a:t>
            </a:r>
            <a:endParaRPr lang="en-US" sz="1050" dirty="0"/>
          </a:p>
        </p:txBody>
      </p:sp>
      <p:sp>
        <p:nvSpPr>
          <p:cNvPr id="99" name="Text 26"/>
          <p:cNvSpPr/>
          <p:nvPr/>
        </p:nvSpPr>
        <p:spPr>
          <a:xfrm>
            <a:off x="9677400" y="5162550"/>
            <a:ext cx="5070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</a:t>
            </a:r>
            <a:endParaRPr lang="en-US" sz="1050" dirty="0"/>
          </a:p>
        </p:txBody>
      </p:sp>
      <p:sp>
        <p:nvSpPr>
          <p:cNvPr id="100" name="Text 27"/>
          <p:cNvSpPr/>
          <p:nvPr/>
        </p:nvSpPr>
        <p:spPr>
          <a:xfrm>
            <a:off x="9677400" y="5695950"/>
            <a:ext cx="409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Nginx</a:t>
            </a:r>
            <a:endParaRPr lang="en-US" sz="1050" dirty="0"/>
          </a:p>
        </p:txBody>
      </p:sp>
      <p:sp>
        <p:nvSpPr>
          <p:cNvPr id="101" name="Text 28"/>
          <p:cNvSpPr/>
          <p:nvPr/>
        </p:nvSpPr>
        <p:spPr>
          <a:xfrm>
            <a:off x="9677400" y="622935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파이프라인</a:t>
            </a:r>
            <a:endParaRPr lang="en-US" sz="1050" dirty="0"/>
          </a:p>
        </p:txBody>
      </p:sp>
      <p:sp>
        <p:nvSpPr>
          <p:cNvPr id="102" name="Text 29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43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12573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600" y="1828800"/>
            <a:ext cx="11734800" cy="2628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1828800"/>
            <a:ext cx="2705100" cy="2628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1981200"/>
            <a:ext cx="2400300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6350" y="1981200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8275" y="21336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8500" y="1828800"/>
            <a:ext cx="2705100" cy="262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0900" y="1981200"/>
            <a:ext cx="24003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86250" y="1981200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76750" y="21336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48400" y="1828800"/>
            <a:ext cx="2705100" cy="2628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981200"/>
            <a:ext cx="24003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96150" y="1981200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86650" y="213360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58300" y="1828800"/>
            <a:ext cx="2705100" cy="2628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0700" y="1981200"/>
            <a:ext cx="2400300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06050" y="1981200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67975" y="2133600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8600" y="4762500"/>
            <a:ext cx="11734800" cy="1295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4953000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81000" y="5295900"/>
            <a:ext cx="3708350" cy="609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5300" y="5410200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90550" y="55245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41750" y="5295900"/>
            <a:ext cx="3708350" cy="609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56050" y="5410200"/>
            <a:ext cx="3810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51300" y="5524500"/>
            <a:ext cx="1905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02501" y="5295900"/>
            <a:ext cx="3708499" cy="609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16801" y="5410200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31101" y="5524500"/>
            <a:ext cx="15240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기능 시연</a:t>
            </a:r>
            <a:endParaRPr lang="en-US" sz="1800" dirty="0"/>
          </a:p>
        </p:txBody>
      </p:sp>
      <p:sp>
        <p:nvSpPr>
          <p:cNvPr id="3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LearnUp LMS의 사용자 시나리오 기반 주요 기능 시연</a:t>
            </a:r>
            <a:endParaRPr lang="en-US" sz="1050" dirty="0"/>
          </a:p>
        </p:txBody>
      </p:sp>
      <p:sp>
        <p:nvSpPr>
          <p:cNvPr id="39" name="Text 2"/>
          <p:cNvSpPr/>
          <p:nvPr/>
        </p:nvSpPr>
        <p:spPr>
          <a:xfrm>
            <a:off x="876300" y="1219200"/>
            <a:ext cx="5821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라이브 시연:</a:t>
            </a:r>
            <a:r>
              <a:rPr lang="en-US" sz="12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준비된 시나리오에 따라 핵심 기능을 라이브로 시연합니다.</a:t>
            </a:r>
            <a:endParaRPr lang="en-US" sz="1200" dirty="0"/>
          </a:p>
        </p:txBody>
      </p:sp>
      <p:sp>
        <p:nvSpPr>
          <p:cNvPr id="40" name="Text 3"/>
          <p:cNvSpPr/>
          <p:nvPr/>
        </p:nvSpPr>
        <p:spPr>
          <a:xfrm>
            <a:off x="700876" y="2705100"/>
            <a:ext cx="17603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교수자의 강의 개설</a:t>
            </a:r>
            <a:endParaRPr lang="en-US" sz="1350" dirty="0"/>
          </a:p>
        </p:txBody>
      </p:sp>
      <p:sp>
        <p:nvSpPr>
          <p:cNvPr id="41" name="Text 4"/>
          <p:cNvSpPr/>
          <p:nvPr/>
        </p:nvSpPr>
        <p:spPr>
          <a:xfrm>
            <a:off x="6096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 정보 입력</a:t>
            </a:r>
            <a:endParaRPr lang="en-US" sz="1050" dirty="0"/>
          </a:p>
        </p:txBody>
      </p:sp>
      <p:sp>
        <p:nvSpPr>
          <p:cNvPr id="42" name="Text 5"/>
          <p:cNvSpPr/>
          <p:nvPr/>
        </p:nvSpPr>
        <p:spPr>
          <a:xfrm>
            <a:off x="6096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콘텐츠 업로드</a:t>
            </a:r>
            <a:endParaRPr lang="en-US" sz="1050" dirty="0"/>
          </a:p>
        </p:txBody>
      </p:sp>
      <p:sp>
        <p:nvSpPr>
          <p:cNvPr id="43" name="Text 6"/>
          <p:cNvSpPr/>
          <p:nvPr/>
        </p:nvSpPr>
        <p:spPr>
          <a:xfrm>
            <a:off x="6096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과제 설정</a:t>
            </a:r>
            <a:endParaRPr lang="en-US" sz="1050" dirty="0"/>
          </a:p>
        </p:txBody>
      </p:sp>
      <p:sp>
        <p:nvSpPr>
          <p:cNvPr id="44" name="Text 7"/>
          <p:cNvSpPr/>
          <p:nvPr/>
        </p:nvSpPr>
        <p:spPr>
          <a:xfrm>
            <a:off x="6096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공지사항 등록</a:t>
            </a:r>
            <a:endParaRPr lang="en-US" sz="1050" dirty="0"/>
          </a:p>
        </p:txBody>
      </p:sp>
      <p:sp>
        <p:nvSpPr>
          <p:cNvPr id="45" name="Text 8"/>
          <p:cNvSpPr/>
          <p:nvPr/>
        </p:nvSpPr>
        <p:spPr>
          <a:xfrm>
            <a:off x="3945091" y="2705100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학습자의 수강</a:t>
            </a:r>
            <a:endParaRPr lang="en-US" sz="1350" dirty="0"/>
          </a:p>
        </p:txBody>
      </p:sp>
      <p:sp>
        <p:nvSpPr>
          <p:cNvPr id="46" name="Text 9"/>
          <p:cNvSpPr/>
          <p:nvPr/>
        </p:nvSpPr>
        <p:spPr>
          <a:xfrm>
            <a:off x="36195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 목록 확인</a:t>
            </a:r>
            <a:endParaRPr lang="en-US" sz="1050" dirty="0"/>
          </a:p>
        </p:txBody>
      </p:sp>
      <p:sp>
        <p:nvSpPr>
          <p:cNvPr id="47" name="Text 10"/>
          <p:cNvSpPr/>
          <p:nvPr/>
        </p:nvSpPr>
        <p:spPr>
          <a:xfrm>
            <a:off x="36195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수강 신청</a:t>
            </a:r>
            <a:endParaRPr lang="en-US" sz="1050" dirty="0"/>
          </a:p>
        </p:txBody>
      </p:sp>
      <p:sp>
        <p:nvSpPr>
          <p:cNvPr id="48" name="Text 11"/>
          <p:cNvSpPr/>
          <p:nvPr/>
        </p:nvSpPr>
        <p:spPr>
          <a:xfrm>
            <a:off x="36195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강의 내용 보기</a:t>
            </a:r>
            <a:endParaRPr lang="en-US" sz="1050" dirty="0"/>
          </a:p>
        </p:txBody>
      </p:sp>
      <p:sp>
        <p:nvSpPr>
          <p:cNvPr id="49" name="Text 12"/>
          <p:cNvSpPr/>
          <p:nvPr/>
        </p:nvSpPr>
        <p:spPr>
          <a:xfrm>
            <a:off x="36195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노트 작성</a:t>
            </a:r>
            <a:endParaRPr lang="en-US" sz="1050" dirty="0"/>
          </a:p>
        </p:txBody>
      </p:sp>
      <p:sp>
        <p:nvSpPr>
          <p:cNvPr id="50" name="Text 13"/>
          <p:cNvSpPr/>
          <p:nvPr/>
        </p:nvSpPr>
        <p:spPr>
          <a:xfrm>
            <a:off x="7160731" y="270510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과제 제출</a:t>
            </a:r>
            <a:endParaRPr lang="en-US" sz="1350" dirty="0"/>
          </a:p>
        </p:txBody>
      </p:sp>
      <p:sp>
        <p:nvSpPr>
          <p:cNvPr id="51" name="Text 14"/>
          <p:cNvSpPr/>
          <p:nvPr/>
        </p:nvSpPr>
        <p:spPr>
          <a:xfrm>
            <a:off x="66294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과제 받기</a:t>
            </a:r>
            <a:endParaRPr lang="en-US" sz="1050" dirty="0"/>
          </a:p>
        </p:txBody>
      </p:sp>
      <p:sp>
        <p:nvSpPr>
          <p:cNvPr id="52" name="Text 15"/>
          <p:cNvSpPr/>
          <p:nvPr/>
        </p:nvSpPr>
        <p:spPr>
          <a:xfrm>
            <a:off x="66294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답안 작성</a:t>
            </a:r>
            <a:endParaRPr lang="en-US" sz="1050" dirty="0"/>
          </a:p>
        </p:txBody>
      </p:sp>
      <p:sp>
        <p:nvSpPr>
          <p:cNvPr id="53" name="Text 16"/>
          <p:cNvSpPr/>
          <p:nvPr/>
        </p:nvSpPr>
        <p:spPr>
          <a:xfrm>
            <a:off x="66294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파일 첨부</a:t>
            </a:r>
            <a:endParaRPr lang="en-US" sz="1050" dirty="0"/>
          </a:p>
        </p:txBody>
      </p:sp>
      <p:sp>
        <p:nvSpPr>
          <p:cNvPr id="54" name="Text 17"/>
          <p:cNvSpPr/>
          <p:nvPr/>
        </p:nvSpPr>
        <p:spPr>
          <a:xfrm>
            <a:off x="66294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제출하기</a:t>
            </a:r>
            <a:endParaRPr lang="en-US" sz="1050" dirty="0"/>
          </a:p>
        </p:txBody>
      </p:sp>
      <p:sp>
        <p:nvSpPr>
          <p:cNvPr id="55" name="Text 18"/>
          <p:cNvSpPr/>
          <p:nvPr/>
        </p:nvSpPr>
        <p:spPr>
          <a:xfrm>
            <a:off x="9862021" y="2705100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교수자의 피드백</a:t>
            </a:r>
            <a:endParaRPr lang="en-US" sz="1350" dirty="0"/>
          </a:p>
        </p:txBody>
      </p:sp>
      <p:sp>
        <p:nvSpPr>
          <p:cNvPr id="56" name="Text 19"/>
          <p:cNvSpPr/>
          <p:nvPr/>
        </p:nvSpPr>
        <p:spPr>
          <a:xfrm>
            <a:off x="9639300" y="32004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답안 확인</a:t>
            </a:r>
            <a:endParaRPr lang="en-US" sz="1050" dirty="0"/>
          </a:p>
        </p:txBody>
      </p:sp>
      <p:sp>
        <p:nvSpPr>
          <p:cNvPr id="57" name="Text 20"/>
          <p:cNvSpPr/>
          <p:nvPr/>
        </p:nvSpPr>
        <p:spPr>
          <a:xfrm>
            <a:off x="9639300" y="35052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평가</a:t>
            </a:r>
            <a:endParaRPr lang="en-US" sz="1050" dirty="0"/>
          </a:p>
        </p:txBody>
      </p:sp>
      <p:sp>
        <p:nvSpPr>
          <p:cNvPr id="58" name="Text 21"/>
          <p:cNvSpPr/>
          <p:nvPr/>
        </p:nvSpPr>
        <p:spPr>
          <a:xfrm>
            <a:off x="9639300" y="38100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개별 피드백 제공</a:t>
            </a:r>
            <a:endParaRPr lang="en-US" sz="1050" dirty="0"/>
          </a:p>
        </p:txBody>
      </p:sp>
      <p:sp>
        <p:nvSpPr>
          <p:cNvPr id="59" name="Text 22"/>
          <p:cNvSpPr/>
          <p:nvPr/>
        </p:nvSpPr>
        <p:spPr>
          <a:xfrm>
            <a:off x="9639300" y="4114800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성적 관리</a:t>
            </a:r>
            <a:endParaRPr lang="en-US" sz="1050" dirty="0"/>
          </a:p>
        </p:txBody>
      </p:sp>
      <p:sp>
        <p:nvSpPr>
          <p:cNvPr id="60" name="Text 23"/>
          <p:cNvSpPr/>
          <p:nvPr/>
        </p:nvSpPr>
        <p:spPr>
          <a:xfrm>
            <a:off x="571500" y="49149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시연 특징</a:t>
            </a:r>
            <a:endParaRPr lang="en-US" sz="1200" dirty="0"/>
          </a:p>
        </p:txBody>
      </p:sp>
      <p:sp>
        <p:nvSpPr>
          <p:cNvPr id="61" name="Text 24"/>
          <p:cNvSpPr/>
          <p:nvPr/>
        </p:nvSpPr>
        <p:spPr>
          <a:xfrm>
            <a:off x="990600" y="5410200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실제로 실행되는 시스템을 통해 모든 기능의 연속성을 보여줍니다.</a:t>
            </a:r>
            <a:endParaRPr lang="en-US" sz="900" dirty="0"/>
          </a:p>
        </p:txBody>
      </p:sp>
      <p:sp>
        <p:nvSpPr>
          <p:cNvPr id="62" name="Text 25"/>
          <p:cNvSpPr/>
          <p:nvPr/>
        </p:nvSpPr>
        <p:spPr>
          <a:xfrm>
            <a:off x="4851350" y="5410200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다양한 사용자 역할의 동시 작동을 통해 시스템의 인터랙션을 설명합니다.</a:t>
            </a:r>
            <a:endParaRPr lang="en-US" sz="900" dirty="0"/>
          </a:p>
        </p:txBody>
      </p:sp>
      <p:sp>
        <p:nvSpPr>
          <p:cNvPr id="63" name="Text 26"/>
          <p:cNvSpPr/>
          <p:nvPr/>
        </p:nvSpPr>
        <p:spPr>
          <a:xfrm>
            <a:off x="8712101" y="5410200"/>
            <a:ext cx="29845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시스템의 반응 시간과 성능을 실시간으로 측정하여 최적화된 결과를 제공합니다.</a:t>
            </a:r>
            <a:endParaRPr lang="en-US" sz="900" dirty="0"/>
          </a:p>
        </p:txBody>
      </p:sp>
      <p:sp>
        <p:nvSpPr>
          <p:cNvPr id="64" name="Text 27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31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5753100" cy="2971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43000"/>
            <a:ext cx="54483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11430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120015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1752600"/>
            <a:ext cx="54483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18669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1943100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2476500"/>
            <a:ext cx="54483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25908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450" y="2667000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200400"/>
            <a:ext cx="54483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3314700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0550" y="3390900"/>
            <a:ext cx="1143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600" y="4114800"/>
            <a:ext cx="5753100" cy="3695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4267200"/>
            <a:ext cx="54483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4267200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4825" y="4324350"/>
            <a:ext cx="1333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4876800"/>
            <a:ext cx="544830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4991100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0673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5600700"/>
            <a:ext cx="54483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5300" y="571500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1025" y="5791200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1000" y="6324600"/>
            <a:ext cx="54483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5300" y="643890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65151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7048500"/>
            <a:ext cx="5448300" cy="609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95300" y="7162800"/>
            <a:ext cx="304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81025" y="7239000"/>
            <a:ext cx="13335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0300" y="990600"/>
            <a:ext cx="5753100" cy="6819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700" y="1143000"/>
            <a:ext cx="544830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62700" y="1143000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57950" y="1200150"/>
            <a:ext cx="190500" cy="2667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62700" y="1752600"/>
            <a:ext cx="2647950" cy="15240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19975" y="1905000"/>
            <a:ext cx="533400" cy="533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577138" y="2038350"/>
            <a:ext cx="219075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63050" y="1752600"/>
            <a:ext cx="2647950" cy="1524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220325" y="1905000"/>
            <a:ext cx="533400" cy="533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415588" y="2038350"/>
            <a:ext cx="142875" cy="2667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62700" y="3429000"/>
            <a:ext cx="2647950" cy="1524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19975" y="3581400"/>
            <a:ext cx="533400" cy="5334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591425" y="3714750"/>
            <a:ext cx="190500" cy="2667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63050" y="3429000"/>
            <a:ext cx="2647950" cy="1524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220325" y="3581400"/>
            <a:ext cx="533400" cy="5334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0391775" y="3714750"/>
            <a:ext cx="190500" cy="2667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362700" y="5105400"/>
            <a:ext cx="2647950" cy="15240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19975" y="5257800"/>
            <a:ext cx="533400" cy="533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91425" y="5391150"/>
            <a:ext cx="190500" cy="2667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63050" y="5105400"/>
            <a:ext cx="2647950" cy="15240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220325" y="5257800"/>
            <a:ext cx="533400" cy="533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367963" y="5391150"/>
            <a:ext cx="238125" cy="2667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57" name="Text 0"/>
          <p:cNvSpPr/>
          <p:nvPr/>
        </p:nvSpPr>
        <p:spPr>
          <a:xfrm>
            <a:off x="228600" y="228600"/>
            <a:ext cx="33986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문제 해결 과정 및 향후 계획</a:t>
            </a:r>
            <a:endParaRPr lang="en-US" sz="1800" dirty="0"/>
          </a:p>
        </p:txBody>
      </p:sp>
      <p:sp>
        <p:nvSpPr>
          <p:cNvPr id="5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LearnUp LMS 개발 과정에서 직면한 주요 문제와 해결 방안, 그리고 미래 발전 방향</a:t>
            </a:r>
            <a:endParaRPr lang="en-US" sz="1050" dirty="0"/>
          </a:p>
        </p:txBody>
      </p:sp>
      <p:sp>
        <p:nvSpPr>
          <p:cNvPr id="59" name="Text 2"/>
          <p:cNvSpPr/>
          <p:nvPr/>
        </p:nvSpPr>
        <p:spPr>
          <a:xfrm>
            <a:off x="876300" y="1200150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발생한 문제</a:t>
            </a:r>
            <a:endParaRPr lang="en-US" sz="1350" dirty="0"/>
          </a:p>
        </p:txBody>
      </p:sp>
      <p:sp>
        <p:nvSpPr>
          <p:cNvPr id="60" name="Text 3"/>
          <p:cNvSpPr/>
          <p:nvPr/>
        </p:nvSpPr>
        <p:spPr>
          <a:xfrm>
            <a:off x="914400" y="1866900"/>
            <a:ext cx="27356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대용량 비디오 스트리밍 문제</a:t>
            </a:r>
            <a:endParaRPr lang="en-US" sz="1050" dirty="0"/>
          </a:p>
        </p:txBody>
      </p:sp>
      <p:sp>
        <p:nvSpPr>
          <p:cNvPr id="61" name="Text 4"/>
          <p:cNvSpPr/>
          <p:nvPr/>
        </p:nvSpPr>
        <p:spPr>
          <a:xfrm>
            <a:off x="914400" y="2095500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고해상도 강의 영상 버퍼링 및 로드 지연 발생</a:t>
            </a:r>
            <a:endParaRPr lang="en-US" sz="900" dirty="0"/>
          </a:p>
        </p:txBody>
      </p:sp>
      <p:sp>
        <p:nvSpPr>
          <p:cNvPr id="62" name="Text 5"/>
          <p:cNvSpPr/>
          <p:nvPr/>
        </p:nvSpPr>
        <p:spPr>
          <a:xfrm>
            <a:off x="914400" y="2590800"/>
            <a:ext cx="23813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동시 접속자 수 증가</a:t>
            </a:r>
            <a:endParaRPr lang="en-US" sz="1050" dirty="0"/>
          </a:p>
        </p:txBody>
      </p:sp>
      <p:sp>
        <p:nvSpPr>
          <p:cNvPr id="63" name="Text 6"/>
          <p:cNvSpPr/>
          <p:nvPr/>
        </p:nvSpPr>
        <p:spPr>
          <a:xfrm>
            <a:off x="914400" y="2819400"/>
            <a:ext cx="28576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과부하로 인한 API 응답 지연 및 서버 성능 저하</a:t>
            </a:r>
            <a:endParaRPr lang="en-US" sz="900" dirty="0"/>
          </a:p>
        </p:txBody>
      </p:sp>
      <p:sp>
        <p:nvSpPr>
          <p:cNvPr id="64" name="Text 7"/>
          <p:cNvSpPr/>
          <p:nvPr/>
        </p:nvSpPr>
        <p:spPr>
          <a:xfrm>
            <a:off x="914400" y="3314700"/>
            <a:ext cx="2751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다양한 디바이스 호환성 문제</a:t>
            </a:r>
            <a:endParaRPr lang="en-US" sz="1050" dirty="0"/>
          </a:p>
        </p:txBody>
      </p:sp>
      <p:sp>
        <p:nvSpPr>
          <p:cNvPr id="65" name="Text 8"/>
          <p:cNvSpPr/>
          <p:nvPr/>
        </p:nvSpPr>
        <p:spPr>
          <a:xfrm>
            <a:off x="914400" y="3543300"/>
            <a:ext cx="27510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모바일 및 태블릿에서 최적화되지 않은 UI/UX</a:t>
            </a:r>
            <a:endParaRPr lang="en-US" sz="900" dirty="0"/>
          </a:p>
        </p:txBody>
      </p:sp>
      <p:sp>
        <p:nvSpPr>
          <p:cNvPr id="66" name="Text 9"/>
          <p:cNvSpPr/>
          <p:nvPr/>
        </p:nvSpPr>
        <p:spPr>
          <a:xfrm>
            <a:off x="876300" y="4324350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해결 방법</a:t>
            </a:r>
            <a:endParaRPr lang="en-US" sz="1350" dirty="0"/>
          </a:p>
        </p:txBody>
      </p:sp>
      <p:sp>
        <p:nvSpPr>
          <p:cNvPr id="67" name="Text 10"/>
          <p:cNvSpPr/>
          <p:nvPr/>
        </p:nvSpPr>
        <p:spPr>
          <a:xfrm>
            <a:off x="914400" y="4991100"/>
            <a:ext cx="33084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HLS 프로토콜 도입</a:t>
            </a:r>
            <a:endParaRPr lang="en-US" sz="1050" dirty="0"/>
          </a:p>
        </p:txBody>
      </p:sp>
      <p:sp>
        <p:nvSpPr>
          <p:cNvPr id="68" name="Text 11"/>
          <p:cNvSpPr/>
          <p:nvPr/>
        </p:nvSpPr>
        <p:spPr>
          <a:xfrm>
            <a:off x="914400" y="5219700"/>
            <a:ext cx="39701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적응형 비트레이트 스트리밍으로 네트워크 환경에 맞는 품질 제공</a:t>
            </a:r>
            <a:endParaRPr lang="en-US" sz="900" dirty="0"/>
          </a:p>
        </p:txBody>
      </p:sp>
      <p:sp>
        <p:nvSpPr>
          <p:cNvPr id="69" name="Text 12"/>
          <p:cNvSpPr/>
          <p:nvPr/>
        </p:nvSpPr>
        <p:spPr>
          <a:xfrm>
            <a:off x="914400" y="5715000"/>
            <a:ext cx="31244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응답 캐싱 및 로드 밸런싱</a:t>
            </a:r>
            <a:endParaRPr lang="en-US" sz="1050" dirty="0"/>
          </a:p>
        </p:txBody>
      </p:sp>
      <p:sp>
        <p:nvSpPr>
          <p:cNvPr id="70" name="Text 13"/>
          <p:cNvSpPr/>
          <p:nvPr/>
        </p:nvSpPr>
        <p:spPr>
          <a:xfrm>
            <a:off x="914400" y="5943600"/>
            <a:ext cx="37493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캐시 적용과 서버 부하 분산 처리를 통한 응답 속도 개선</a:t>
            </a:r>
            <a:endParaRPr lang="en-US" sz="900" dirty="0"/>
          </a:p>
        </p:txBody>
      </p:sp>
      <p:sp>
        <p:nvSpPr>
          <p:cNvPr id="71" name="Text 14"/>
          <p:cNvSpPr/>
          <p:nvPr/>
        </p:nvSpPr>
        <p:spPr>
          <a:xfrm>
            <a:off x="914400" y="6438900"/>
            <a:ext cx="299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쿼리 최적화 및 DB 인덱싱</a:t>
            </a:r>
            <a:endParaRPr lang="en-US" sz="1050" dirty="0"/>
          </a:p>
        </p:txBody>
      </p:sp>
      <p:sp>
        <p:nvSpPr>
          <p:cNvPr id="72" name="Text 15"/>
          <p:cNvSpPr/>
          <p:nvPr/>
        </p:nvSpPr>
        <p:spPr>
          <a:xfrm>
            <a:off x="914400" y="6667500"/>
            <a:ext cx="3596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데이터베이스 쿼리 재설계 및 인덱스 개선을 통한 성능 향상</a:t>
            </a:r>
            <a:endParaRPr lang="en-US" sz="900" dirty="0"/>
          </a:p>
        </p:txBody>
      </p:sp>
      <p:sp>
        <p:nvSpPr>
          <p:cNvPr id="73" name="Text 16"/>
          <p:cNvSpPr/>
          <p:nvPr/>
        </p:nvSpPr>
        <p:spPr>
          <a:xfrm>
            <a:off x="914400" y="7162800"/>
            <a:ext cx="2590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반응형 UI 구현</a:t>
            </a:r>
            <a:endParaRPr lang="en-US" sz="1050" dirty="0"/>
          </a:p>
        </p:txBody>
      </p:sp>
      <p:sp>
        <p:nvSpPr>
          <p:cNvPr id="74" name="Text 17"/>
          <p:cNvSpPr/>
          <p:nvPr/>
        </p:nvSpPr>
        <p:spPr>
          <a:xfrm>
            <a:off x="914400" y="7391400"/>
            <a:ext cx="31091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모든 화면 크기에 최적화된 사용자 인터페이스 개발</a:t>
            </a:r>
            <a:endParaRPr lang="en-US" sz="900" dirty="0"/>
          </a:p>
        </p:txBody>
      </p:sp>
      <p:sp>
        <p:nvSpPr>
          <p:cNvPr id="75" name="Text 18"/>
          <p:cNvSpPr/>
          <p:nvPr/>
        </p:nvSpPr>
        <p:spPr>
          <a:xfrm>
            <a:off x="6858000" y="1200150"/>
            <a:ext cx="13489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향후 개선 계획</a:t>
            </a:r>
            <a:endParaRPr lang="en-US" sz="1350" dirty="0"/>
          </a:p>
        </p:txBody>
      </p:sp>
      <p:sp>
        <p:nvSpPr>
          <p:cNvPr id="76" name="Text 19"/>
          <p:cNvSpPr/>
          <p:nvPr/>
        </p:nvSpPr>
        <p:spPr>
          <a:xfrm>
            <a:off x="7082135" y="2552700"/>
            <a:ext cx="12090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실시간 화상 강의</a:t>
            </a:r>
            <a:endParaRPr lang="en-US" sz="1050" dirty="0"/>
          </a:p>
        </p:txBody>
      </p:sp>
      <p:sp>
        <p:nvSpPr>
          <p:cNvPr id="77" name="Text 20"/>
          <p:cNvSpPr/>
          <p:nvPr/>
        </p:nvSpPr>
        <p:spPr>
          <a:xfrm>
            <a:off x="6515100" y="28194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교수자와 학습자간 실시간 인터랙션을 위한 비디오 채팅 기능</a:t>
            </a:r>
            <a:endParaRPr lang="en-US" sz="900" dirty="0"/>
          </a:p>
        </p:txBody>
      </p:sp>
      <p:sp>
        <p:nvSpPr>
          <p:cNvPr id="78" name="Text 21"/>
          <p:cNvSpPr/>
          <p:nvPr/>
        </p:nvSpPr>
        <p:spPr>
          <a:xfrm>
            <a:off x="9744626" y="2552700"/>
            <a:ext cx="148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모바일 애플리케이션</a:t>
            </a:r>
            <a:endParaRPr lang="en-US" sz="1050" dirty="0"/>
          </a:p>
        </p:txBody>
      </p:sp>
      <p:sp>
        <p:nvSpPr>
          <p:cNvPr id="79" name="Text 22"/>
          <p:cNvSpPr/>
          <p:nvPr/>
        </p:nvSpPr>
        <p:spPr>
          <a:xfrm>
            <a:off x="9315450" y="28194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언제 어디서나 학습 가능한 네이티브 모바일 앱 개발</a:t>
            </a:r>
            <a:endParaRPr lang="en-US" sz="900" dirty="0"/>
          </a:p>
        </p:txBody>
      </p:sp>
      <p:sp>
        <p:nvSpPr>
          <p:cNvPr id="80" name="Text 23"/>
          <p:cNvSpPr/>
          <p:nvPr/>
        </p:nvSpPr>
        <p:spPr>
          <a:xfrm>
            <a:off x="6979816" y="4229100"/>
            <a:ext cx="1413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기반 맞춤형 학습</a:t>
            </a:r>
            <a:endParaRPr lang="en-US" sz="1050" dirty="0"/>
          </a:p>
        </p:txBody>
      </p:sp>
      <p:sp>
        <p:nvSpPr>
          <p:cNvPr id="81" name="Text 24"/>
          <p:cNvSpPr/>
          <p:nvPr/>
        </p:nvSpPr>
        <p:spPr>
          <a:xfrm>
            <a:off x="6515100" y="44958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학생의 학습 데이터 분석으로 개인화된 학습 경로 추천</a:t>
            </a:r>
            <a:endParaRPr lang="en-US" sz="900" dirty="0"/>
          </a:p>
        </p:txBody>
      </p:sp>
      <p:sp>
        <p:nvSpPr>
          <p:cNvPr id="82" name="Text 25"/>
          <p:cNvSpPr/>
          <p:nvPr/>
        </p:nvSpPr>
        <p:spPr>
          <a:xfrm>
            <a:off x="9802475" y="4229100"/>
            <a:ext cx="136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분석 대시보드</a:t>
            </a:r>
            <a:endParaRPr lang="en-US" sz="1050" dirty="0"/>
          </a:p>
        </p:txBody>
      </p:sp>
      <p:sp>
        <p:nvSpPr>
          <p:cNvPr id="83" name="Text 26"/>
          <p:cNvSpPr/>
          <p:nvPr/>
        </p:nvSpPr>
        <p:spPr>
          <a:xfrm>
            <a:off x="9315450" y="44958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알고리즘 기반 학습 데이터 분석과 실시간 피드백 제공</a:t>
            </a:r>
            <a:endParaRPr lang="en-US" sz="900" dirty="0"/>
          </a:p>
        </p:txBody>
      </p:sp>
      <p:sp>
        <p:nvSpPr>
          <p:cNvPr id="84" name="Text 27"/>
          <p:cNvSpPr/>
          <p:nvPr/>
        </p:nvSpPr>
        <p:spPr>
          <a:xfrm>
            <a:off x="7264316" y="5905500"/>
            <a:ext cx="8445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다국어 지원</a:t>
            </a:r>
            <a:endParaRPr lang="en-US" sz="1050" dirty="0"/>
          </a:p>
        </p:txBody>
      </p:sp>
      <p:sp>
        <p:nvSpPr>
          <p:cNvPr id="85" name="Text 28"/>
          <p:cNvSpPr/>
          <p:nvPr/>
        </p:nvSpPr>
        <p:spPr>
          <a:xfrm>
            <a:off x="6515100" y="61722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국제화를 위한 다국어 인터페이스 및 자막 시스템 구현</a:t>
            </a:r>
            <a:endParaRPr lang="en-US" sz="900" dirty="0"/>
          </a:p>
        </p:txBody>
      </p:sp>
      <p:sp>
        <p:nvSpPr>
          <p:cNvPr id="86" name="Text 29"/>
          <p:cNvSpPr/>
          <p:nvPr/>
        </p:nvSpPr>
        <p:spPr>
          <a:xfrm>
            <a:off x="9962495" y="5905500"/>
            <a:ext cx="1049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협업 학습 도구</a:t>
            </a:r>
            <a:endParaRPr lang="en-US" sz="1050" dirty="0"/>
          </a:p>
        </p:txBody>
      </p:sp>
      <p:sp>
        <p:nvSpPr>
          <p:cNvPr id="87" name="Text 30"/>
          <p:cNvSpPr/>
          <p:nvPr/>
        </p:nvSpPr>
        <p:spPr>
          <a:xfrm>
            <a:off x="9315450" y="617220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실시간 문서 공동 편집 및 그룹 프로젝트 관리 기능</a:t>
            </a:r>
            <a:endParaRPr lang="en-US" sz="900" dirty="0"/>
          </a:p>
        </p:txBody>
      </p:sp>
      <p:sp>
        <p:nvSpPr>
          <p:cNvPr id="88" name="Text 31"/>
          <p:cNvSpPr/>
          <p:nvPr/>
        </p:nvSpPr>
        <p:spPr>
          <a:xfrm>
            <a:off x="11730484" y="63246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0" y="36195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154305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8813" y="1866900"/>
            <a:ext cx="714375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5752" y="5086350"/>
            <a:ext cx="1756916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0552" y="520065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8664" y="5314950"/>
            <a:ext cx="104775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7468" y="5086350"/>
            <a:ext cx="1756916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2268" y="5200650"/>
            <a:ext cx="3810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0380" y="5314950"/>
            <a:ext cx="104775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9184" y="5086350"/>
            <a:ext cx="1756916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83984" y="52006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22096" y="5314950"/>
            <a:ext cx="104775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5209" y="5753100"/>
            <a:ext cx="4561582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3809" y="58483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82400" y="6248400"/>
            <a:ext cx="381000" cy="3810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228600" y="22860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질의응답</a:t>
            </a:r>
            <a:endParaRPr lang="en-US" sz="1800" dirty="0"/>
          </a:p>
        </p:txBody>
      </p:sp>
      <p:sp>
        <p:nvSpPr>
          <p:cNvPr id="21" name="Text 1"/>
          <p:cNvSpPr/>
          <p:nvPr/>
        </p:nvSpPr>
        <p:spPr>
          <a:xfrm>
            <a:off x="10371088" y="266700"/>
            <a:ext cx="191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67E8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LearnUp LMS 프로젝트</a:t>
            </a:r>
            <a:endParaRPr lang="en-US" sz="1200" dirty="0"/>
          </a:p>
        </p:txBody>
      </p:sp>
      <p:sp>
        <p:nvSpPr>
          <p:cNvPr id="22" name="Text 2"/>
          <p:cNvSpPr/>
          <p:nvPr/>
        </p:nvSpPr>
        <p:spPr>
          <a:xfrm>
            <a:off x="3123754" y="2990850"/>
            <a:ext cx="59443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감사합니다!</a:t>
            </a:r>
            <a:endParaRPr lang="en-US" sz="2700" dirty="0"/>
          </a:p>
        </p:txBody>
      </p:sp>
      <p:sp>
        <p:nvSpPr>
          <p:cNvPr id="23" name="Text 3"/>
          <p:cNvSpPr/>
          <p:nvPr/>
        </p:nvSpPr>
        <p:spPr>
          <a:xfrm>
            <a:off x="3123754" y="3600450"/>
            <a:ext cx="59443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이제 질문 시간입니다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2529319" y="4057650"/>
            <a:ext cx="71332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LearnUp LMS 프로젝트에 대한 세부 사항이나 기능에 관한 질문을 환영합니다.</a:t>
            </a:r>
            <a:endParaRPr lang="en-US" sz="1350" dirty="0"/>
          </a:p>
        </p:txBody>
      </p:sp>
      <p:sp>
        <p:nvSpPr>
          <p:cNvPr id="25" name="Text 5"/>
          <p:cNvSpPr/>
          <p:nvPr/>
        </p:nvSpPr>
        <p:spPr>
          <a:xfrm>
            <a:off x="3955852" y="527685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6017568" y="527685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구현 방법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8079284" y="527685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미래 계획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4310509" y="5829300"/>
            <a:ext cx="46052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질문 및 답변을 통해 프로젝트에 대한 더 많은 이해를 돕겠습니다.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11688068" y="6324600"/>
            <a:ext cx="2034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1058</Words>
  <Application>Microsoft Office PowerPoint</Application>
  <PresentationFormat>와이드스크린</PresentationFormat>
  <Paragraphs>271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Noto Sans KR</vt:lpstr>
      <vt:lpstr>Noto Sans KR Medium</vt:lpstr>
      <vt:lpstr>ui-sans-serif</vt:lpstr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DW</cp:lastModifiedBy>
  <cp:revision>3</cp:revision>
  <dcterms:created xsi:type="dcterms:W3CDTF">2025-10-10T08:15:55Z</dcterms:created>
  <dcterms:modified xsi:type="dcterms:W3CDTF">2025-10-10T08:26:52Z</dcterms:modified>
</cp:coreProperties>
</file>