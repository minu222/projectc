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9" Type="http://schemas.openxmlformats.org/officeDocument/2006/relationships/image" Target="../media/image88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37" Type="http://schemas.openxmlformats.org/officeDocument/2006/relationships/image" Target="../media/image41.png"/><Relationship Id="rId5" Type="http://schemas.openxmlformats.org/officeDocument/2006/relationships/image" Target="../media/image14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openxmlformats.org/officeDocument/2006/relationships/image" Target="../media/image86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8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1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2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2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21" Type="http://schemas.openxmlformats.org/officeDocument/2006/relationships/image" Target="../media/image133.png"/><Relationship Id="rId34" Type="http://schemas.openxmlformats.org/officeDocument/2006/relationships/image" Target="../media/image146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5" Type="http://schemas.openxmlformats.org/officeDocument/2006/relationships/image" Target="../media/image137.png"/><Relationship Id="rId33" Type="http://schemas.openxmlformats.org/officeDocument/2006/relationships/image" Target="../media/image145.png"/><Relationship Id="rId38" Type="http://schemas.openxmlformats.org/officeDocument/2006/relationships/image" Target="../media/image14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29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136.png"/><Relationship Id="rId32" Type="http://schemas.openxmlformats.org/officeDocument/2006/relationships/image" Target="../media/image144.png"/><Relationship Id="rId37" Type="http://schemas.openxmlformats.org/officeDocument/2006/relationships/image" Target="../media/image148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36" Type="http://schemas.openxmlformats.org/officeDocument/2006/relationships/image" Target="../media/image147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31" Type="http://schemas.openxmlformats.org/officeDocument/2006/relationships/image" Target="../media/image143.png"/><Relationship Id="rId4" Type="http://schemas.openxmlformats.org/officeDocument/2006/relationships/image" Target="../media/image2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Relationship Id="rId35" Type="http://schemas.openxmlformats.org/officeDocument/2006/relationships/image" Target="../media/image32.png"/><Relationship Id="rId8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26" Type="http://schemas.openxmlformats.org/officeDocument/2006/relationships/image" Target="../media/image170.png"/><Relationship Id="rId3" Type="http://schemas.openxmlformats.org/officeDocument/2006/relationships/image" Target="../media/image1.png"/><Relationship Id="rId21" Type="http://schemas.openxmlformats.org/officeDocument/2006/relationships/image" Target="../media/image165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5" Type="http://schemas.openxmlformats.org/officeDocument/2006/relationships/image" Target="../media/image169.png"/><Relationship Id="rId33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0.png"/><Relationship Id="rId20" Type="http://schemas.openxmlformats.org/officeDocument/2006/relationships/image" Target="../media/image164.png"/><Relationship Id="rId29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24" Type="http://schemas.openxmlformats.org/officeDocument/2006/relationships/image" Target="../media/image168.png"/><Relationship Id="rId32" Type="http://schemas.openxmlformats.org/officeDocument/2006/relationships/image" Target="../media/image175.png"/><Relationship Id="rId5" Type="http://schemas.openxmlformats.org/officeDocument/2006/relationships/image" Target="../media/image14.png"/><Relationship Id="rId15" Type="http://schemas.openxmlformats.org/officeDocument/2006/relationships/image" Target="../media/image159.png"/><Relationship Id="rId23" Type="http://schemas.openxmlformats.org/officeDocument/2006/relationships/image" Target="../media/image167.png"/><Relationship Id="rId28" Type="http://schemas.openxmlformats.org/officeDocument/2006/relationships/image" Target="../media/image171.png"/><Relationship Id="rId10" Type="http://schemas.openxmlformats.org/officeDocument/2006/relationships/image" Target="../media/image154.png"/><Relationship Id="rId19" Type="http://schemas.openxmlformats.org/officeDocument/2006/relationships/image" Target="../media/image163.png"/><Relationship Id="rId31" Type="http://schemas.openxmlformats.org/officeDocument/2006/relationships/image" Target="../media/image174.png"/><Relationship Id="rId4" Type="http://schemas.openxmlformats.org/officeDocument/2006/relationships/image" Target="../media/image2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Relationship Id="rId22" Type="http://schemas.openxmlformats.org/officeDocument/2006/relationships/image" Target="../media/image166.png"/><Relationship Id="rId27" Type="http://schemas.openxmlformats.org/officeDocument/2006/relationships/image" Target="../media/image28.png"/><Relationship Id="rId30" Type="http://schemas.openxmlformats.org/officeDocument/2006/relationships/image" Target="../media/image173.png"/><Relationship Id="rId8" Type="http://schemas.openxmlformats.org/officeDocument/2006/relationships/image" Target="../media/image15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3.png"/><Relationship Id="rId18" Type="http://schemas.openxmlformats.org/officeDocument/2006/relationships/image" Target="../media/image185.png"/><Relationship Id="rId26" Type="http://schemas.openxmlformats.org/officeDocument/2006/relationships/image" Target="../media/image192.png"/><Relationship Id="rId3" Type="http://schemas.openxmlformats.org/officeDocument/2006/relationships/image" Target="../media/image1.png"/><Relationship Id="rId21" Type="http://schemas.openxmlformats.org/officeDocument/2006/relationships/image" Target="../media/image187.png"/><Relationship Id="rId34" Type="http://schemas.openxmlformats.org/officeDocument/2006/relationships/image" Target="../media/image23.png"/><Relationship Id="rId7" Type="http://schemas.openxmlformats.org/officeDocument/2006/relationships/image" Target="../media/image177.png"/><Relationship Id="rId12" Type="http://schemas.openxmlformats.org/officeDocument/2006/relationships/image" Target="../media/image152.png"/><Relationship Id="rId17" Type="http://schemas.openxmlformats.org/officeDocument/2006/relationships/image" Target="../media/image184.png"/><Relationship Id="rId25" Type="http://schemas.openxmlformats.org/officeDocument/2006/relationships/image" Target="../media/image191.png"/><Relationship Id="rId33" Type="http://schemas.openxmlformats.org/officeDocument/2006/relationships/image" Target="../media/image19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3.png"/><Relationship Id="rId20" Type="http://schemas.openxmlformats.org/officeDocument/2006/relationships/image" Target="../media/image186.png"/><Relationship Id="rId29" Type="http://schemas.openxmlformats.org/officeDocument/2006/relationships/image" Target="../media/image1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0.png"/><Relationship Id="rId24" Type="http://schemas.openxmlformats.org/officeDocument/2006/relationships/image" Target="../media/image190.png"/><Relationship Id="rId32" Type="http://schemas.openxmlformats.org/officeDocument/2006/relationships/image" Target="../media/image198.png"/><Relationship Id="rId5" Type="http://schemas.openxmlformats.org/officeDocument/2006/relationships/image" Target="../media/image14.png"/><Relationship Id="rId15" Type="http://schemas.openxmlformats.org/officeDocument/2006/relationships/image" Target="../media/image182.png"/><Relationship Id="rId23" Type="http://schemas.openxmlformats.org/officeDocument/2006/relationships/image" Target="../media/image189.png"/><Relationship Id="rId28" Type="http://schemas.openxmlformats.org/officeDocument/2006/relationships/image" Target="../media/image194.png"/><Relationship Id="rId10" Type="http://schemas.openxmlformats.org/officeDocument/2006/relationships/image" Target="../media/image179.png"/><Relationship Id="rId19" Type="http://schemas.openxmlformats.org/officeDocument/2006/relationships/image" Target="../media/image32.png"/><Relationship Id="rId31" Type="http://schemas.openxmlformats.org/officeDocument/2006/relationships/image" Target="../media/image197.png"/><Relationship Id="rId4" Type="http://schemas.openxmlformats.org/officeDocument/2006/relationships/image" Target="../media/image2.png"/><Relationship Id="rId9" Type="http://schemas.openxmlformats.org/officeDocument/2006/relationships/image" Target="../media/image178.png"/><Relationship Id="rId14" Type="http://schemas.openxmlformats.org/officeDocument/2006/relationships/image" Target="../media/image181.png"/><Relationship Id="rId22" Type="http://schemas.openxmlformats.org/officeDocument/2006/relationships/image" Target="../media/image188.png"/><Relationship Id="rId27" Type="http://schemas.openxmlformats.org/officeDocument/2006/relationships/image" Target="../media/image193.png"/><Relationship Id="rId30" Type="http://schemas.openxmlformats.org/officeDocument/2006/relationships/image" Target="../media/image196.png"/><Relationship Id="rId8" Type="http://schemas.openxmlformats.org/officeDocument/2006/relationships/image" Target="../media/image1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.pn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00.png"/><Relationship Id="rId10" Type="http://schemas.openxmlformats.org/officeDocument/2006/relationships/image" Target="../media/image109.png"/><Relationship Id="rId4" Type="http://schemas.openxmlformats.org/officeDocument/2006/relationships/image" Target="../media/image2.png"/><Relationship Id="rId9" Type="http://schemas.openxmlformats.org/officeDocument/2006/relationships/image" Target="../media/image2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26194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90880" y="1777746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81480" y="1777746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14942" y="1777746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85399" y="547382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780649" y="558812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090015" y="5473825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13840" y="5588125"/>
            <a:ext cx="133350" cy="1524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2324589" y="4942122"/>
            <a:ext cx="7353598" cy="30956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38"/>
              </a:lnSpc>
              <a:buNone/>
              <a:defRPr/>
            </a:pPr>
            <a:r>
              <a:rPr lang="en-US" sz="15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사용자 중심의 직관적인 UI/UX를 갖춘 효율적인 온라인 학습 관리 플랫폼</a:t>
            </a:r>
            <a:endParaRPr lang="en-US" sz="1500" b="1">
              <a:latin typeface="Noto Sans KR"/>
              <a:ea typeface="Noto Sans KR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218799" y="5550025"/>
            <a:ext cx="133105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팀 프레젠테이션</a:t>
            </a:r>
            <a:endParaRPr lang="en-US" sz="1200" b="1">
              <a:latin typeface="Noto Sans KR"/>
              <a:ea typeface="Noto Sans KR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623415" y="5550025"/>
            <a:ext cx="2353641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2025</a:t>
            </a:r>
            <a:r>
              <a:rPr lang="en-US" altLang="ko-KR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.09.03</a:t>
            </a:r>
            <a:r>
              <a:rPr lang="ko-KR" alt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~</a:t>
            </a:r>
            <a:r>
              <a:rPr lang="ko-KR" altLang="en-US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"/>
                <a:ea typeface="Noto Sans KR"/>
                <a:cs typeface="Segoe UI"/>
              </a:rPr>
              <a:t>2025.10.14</a:t>
            </a: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0" y="0"/>
            <a:ext cx="3333750" cy="2485171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853292" y="1522952"/>
            <a:ext cx="1905000" cy="4762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10800000">
            <a:off x="7054776" y="4497939"/>
            <a:ext cx="5137224" cy="248517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958557" y="2293623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ko-KR" altLang="en-US" sz="4500" b="1">
                <a:solidFill>
                  <a:srgbClr val="FFFFFF"/>
                </a:solidFill>
                <a:latin typeface="Noto Sans KR"/>
                <a:ea typeface="Noto Sans KR"/>
                <a:cs typeface="ui-sans-serif"/>
              </a:rPr>
              <a:t>강사와 학생의 소통 기반</a:t>
            </a:r>
            <a:r>
              <a:rPr lang="en-US" sz="4500" b="1">
                <a:solidFill>
                  <a:srgbClr val="FFFFFF"/>
                </a:solidFill>
                <a:latin typeface="Noto Sans KR"/>
                <a:ea typeface="Noto Sans KR"/>
                <a:cs typeface="ui-sans-serif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4500" b="1">
                <a:solidFill>
                  <a:srgbClr val="FFFFFF"/>
                </a:solidFill>
                <a:latin typeface="Noto Sans KR"/>
                <a:ea typeface="Noto Sans KR"/>
                <a:cs typeface="ui-sans-serif"/>
              </a:rPr>
              <a:t>LMS 프로젝트</a:t>
            </a:r>
            <a:endParaRPr lang="en-US" sz="4500" b="1">
              <a:latin typeface="Noto Sans KR"/>
              <a:ea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174" y="45720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34" y="1585653"/>
            <a:ext cx="5676900" cy="1962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34" y="1814253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7" y="1909503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034" y="3872957"/>
            <a:ext cx="5676900" cy="236089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34" y="4101558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984" y="4196808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257300"/>
            <a:ext cx="5676900" cy="532638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8438" y="15811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171700"/>
            <a:ext cx="5219700" cy="7429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3812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249555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213215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8450" y="3327515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4038254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4152554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888231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7025" y="5002531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754833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869133"/>
            <a:ext cx="1905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04800" y="304800"/>
            <a:ext cx="2152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개요</a:t>
            </a:r>
            <a:endParaRPr lang="en-US" sz="22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04800" y="723900"/>
            <a:ext cx="1158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강사와 학생의 소통 기반</a:t>
            </a:r>
            <a:r>
              <a:rPr lang="en-US" altLang="ko-KR" sz="1200" b="1" dirty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altLang="ko-KR" sz="1200" b="1" dirty="0" smtClean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LMS </a:t>
            </a:r>
            <a:r>
              <a:rPr lang="en-US" altLang="ko-KR" sz="1200" b="1" dirty="0" err="1" smtClean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프로젝트</a:t>
            </a:r>
            <a:r>
              <a:rPr lang="en-US" sz="12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</a:t>
            </a:r>
            <a:r>
              <a:rPr lang="en-US" sz="12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배경, 목표 및 팀원 구성</a:t>
            </a:r>
            <a:endParaRPr lang="en-US" sz="120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8234" y="1909503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배경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98634" y="2423853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기존 교육 시스템의 한계점 및 </a:t>
            </a:r>
            <a:r>
              <a:rPr lang="en-US" sz="1200" dirty="0">
                <a:solidFill>
                  <a:srgbClr val="0EA5E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 수요 증가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배경에서,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중심의 직관적인 UI/UX를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갖춘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온라인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관리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플랫폼을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구축하는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것이 목표입니다.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108234" y="4196808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목표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27234" y="47111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 중심의 플랫폼 개발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727234" y="50540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직관적인 UI/UX 제공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727234" y="53969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 온라인 학습 관리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727234" y="57398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교육의 증가된 수요에 적응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7048500" y="1581150"/>
            <a:ext cx="1270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팀원 및 역할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7048500" y="22860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리더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7048500" y="2583526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전체 프로젝트 관리, 팀원 역할 분배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7048499" y="3160913"/>
            <a:ext cx="3633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강성웅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이민우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7048500" y="3447704"/>
            <a:ext cx="2604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서버 및 데이터베이스 개발, API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7048499" y="3985952"/>
            <a:ext cx="2818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프론트엔드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윤서연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7048500" y="4272743"/>
            <a:ext cx="25694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UI/UX 개발, 클라이언트 사이드 로직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7048499" y="4835929"/>
            <a:ext cx="4098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관리자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 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강성웅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이민우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7048500" y="5122720"/>
            <a:ext cx="2613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DB 설계, 쿼리 최적화, 데이터 모델링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7048500" y="5702531"/>
            <a:ext cx="2403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컨텐츠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매니저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7048500" y="5989322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 내용 개발, 교육 커리큘럼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11654284" y="62484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21503"/>
            <a:ext cx="5219700" cy="742950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849832"/>
            <a:ext cx="5219700" cy="742950"/>
          </a:xfrm>
          <a:prstGeom prst="rect">
            <a:avLst/>
          </a:prstGeom>
        </p:spPr>
      </p:pic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705350"/>
            <a:ext cx="5219700" cy="742950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589097"/>
            <a:ext cx="5219700" cy="74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1718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811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1447800"/>
            <a:ext cx="1141095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28600" y="3162300"/>
            <a:ext cx="38100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3147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57200" y="3390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191000" y="3162300"/>
            <a:ext cx="3810000" cy="163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343400" y="33147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419600" y="33909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228600" y="4953000"/>
            <a:ext cx="38100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57200" y="5181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191000" y="4953000"/>
            <a:ext cx="38100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343400" y="51054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419600" y="5181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8153400" y="3162300"/>
            <a:ext cx="3810000" cy="3238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05800" y="33147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8382000" y="3390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305800" y="3733800"/>
            <a:ext cx="3505200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8382000" y="382905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8467725" y="39052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8305800" y="4343400"/>
            <a:ext cx="3505200" cy="495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0" y="44386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58200" y="45148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305800" y="4953000"/>
            <a:ext cx="3505200" cy="495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0" y="5048250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8467725" y="5124450"/>
            <a:ext cx="13335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28600" y="228600"/>
            <a:ext cx="214901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개발 일정 및 관리</a:t>
            </a:r>
            <a:endParaRPr lang="en-US" sz="1800"/>
          </a:p>
        </p:txBody>
      </p:sp>
      <p:sp>
        <p:nvSpPr>
          <p:cNvPr id="3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Gantt Chart를 활용한 프로젝트 일정 관리와 주요 작업 내용</a:t>
            </a:r>
            <a:endParaRPr lang="en-US" sz="1050"/>
          </a:p>
        </p:txBody>
      </p:sp>
      <p:sp>
        <p:nvSpPr>
          <p:cNvPr id="35" name="Text 2"/>
          <p:cNvSpPr/>
          <p:nvPr/>
        </p:nvSpPr>
        <p:spPr>
          <a:xfrm>
            <a:off x="590550" y="11430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프로젝트 일정 (8주)</a:t>
            </a:r>
            <a:endParaRPr lang="en-US" sz="1200"/>
          </a:p>
        </p:txBody>
      </p:sp>
      <p:sp>
        <p:nvSpPr>
          <p:cNvPr id="36" name="Text 3"/>
          <p:cNvSpPr/>
          <p:nvPr/>
        </p:nvSpPr>
        <p:spPr>
          <a:xfrm>
            <a:off x="762000" y="3352800"/>
            <a:ext cx="16561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1단계 (기획 및 설계)</a:t>
            </a:r>
            <a:endParaRPr lang="en-US" sz="1200"/>
          </a:p>
        </p:txBody>
      </p:sp>
      <p:sp>
        <p:nvSpPr>
          <p:cNvPr id="37" name="Text 4"/>
          <p:cNvSpPr/>
          <p:nvPr/>
        </p:nvSpPr>
        <p:spPr>
          <a:xfrm>
            <a:off x="3810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1주차 ~ 2주차</a:t>
            </a:r>
            <a:endParaRPr lang="en-US" sz="900"/>
          </a:p>
        </p:txBody>
      </p:sp>
      <p:sp>
        <p:nvSpPr>
          <p:cNvPr id="38" name="Text 5"/>
          <p:cNvSpPr/>
          <p:nvPr/>
        </p:nvSpPr>
        <p:spPr>
          <a:xfrm>
            <a:off x="5334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요구사항 분석</a:t>
            </a:r>
            <a:endParaRPr lang="en-US" sz="900"/>
          </a:p>
        </p:txBody>
      </p:sp>
      <p:sp>
        <p:nvSpPr>
          <p:cNvPr id="39" name="Text 6"/>
          <p:cNvSpPr/>
          <p:nvPr/>
        </p:nvSpPr>
        <p:spPr>
          <a:xfrm>
            <a:off x="533400" y="4114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UI/UX 설계</a:t>
            </a:r>
            <a:endParaRPr lang="en-US" sz="900"/>
          </a:p>
        </p:txBody>
      </p:sp>
      <p:sp>
        <p:nvSpPr>
          <p:cNvPr id="40" name="Text 7"/>
          <p:cNvSpPr/>
          <p:nvPr/>
        </p:nvSpPr>
        <p:spPr>
          <a:xfrm>
            <a:off x="533400" y="4305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아키텍처 설계</a:t>
            </a:r>
            <a:endParaRPr lang="en-US" sz="900"/>
          </a:p>
        </p:txBody>
      </p:sp>
      <p:sp>
        <p:nvSpPr>
          <p:cNvPr id="41" name="Text 8"/>
          <p:cNvSpPr/>
          <p:nvPr/>
        </p:nvSpPr>
        <p:spPr>
          <a:xfrm>
            <a:off x="533400" y="4495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DB 설계</a:t>
            </a:r>
            <a:endParaRPr lang="en-US" sz="900"/>
          </a:p>
        </p:txBody>
      </p:sp>
      <p:sp>
        <p:nvSpPr>
          <p:cNvPr id="42" name="Text 9"/>
          <p:cNvSpPr/>
          <p:nvPr/>
        </p:nvSpPr>
        <p:spPr>
          <a:xfrm>
            <a:off x="4762500" y="3352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2단계 (개발)</a:t>
            </a:r>
            <a:endParaRPr lang="en-US" sz="1200"/>
          </a:p>
        </p:txBody>
      </p:sp>
      <p:sp>
        <p:nvSpPr>
          <p:cNvPr id="43" name="Text 10"/>
          <p:cNvSpPr/>
          <p:nvPr/>
        </p:nvSpPr>
        <p:spPr>
          <a:xfrm>
            <a:off x="43434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2주차 ~ 6주차</a:t>
            </a:r>
            <a:endParaRPr lang="en-US" sz="900"/>
          </a:p>
        </p:txBody>
      </p:sp>
      <p:sp>
        <p:nvSpPr>
          <p:cNvPr id="44" name="Text 11"/>
          <p:cNvSpPr/>
          <p:nvPr/>
        </p:nvSpPr>
        <p:spPr>
          <a:xfrm>
            <a:off x="44958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백엔드: 핵심 API 개발, DB 구축</a:t>
            </a:r>
            <a:endParaRPr lang="en-US" sz="900"/>
          </a:p>
        </p:txBody>
      </p:sp>
      <p:sp>
        <p:nvSpPr>
          <p:cNvPr id="45" name="Text 12"/>
          <p:cNvSpPr/>
          <p:nvPr/>
        </p:nvSpPr>
        <p:spPr>
          <a:xfrm>
            <a:off x="4495800" y="4114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프론트엔드: UI 컴포넌트 개발</a:t>
            </a:r>
            <a:endParaRPr lang="en-US" sz="900"/>
          </a:p>
        </p:txBody>
      </p:sp>
      <p:sp>
        <p:nvSpPr>
          <p:cNvPr id="46" name="Text 13"/>
          <p:cNvSpPr/>
          <p:nvPr/>
        </p:nvSpPr>
        <p:spPr>
          <a:xfrm>
            <a:off x="4495800" y="4305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API 연동</a:t>
            </a:r>
            <a:endParaRPr lang="en-US" sz="900"/>
          </a:p>
        </p:txBody>
      </p:sp>
      <p:sp>
        <p:nvSpPr>
          <p:cNvPr id="47" name="Text 14"/>
          <p:cNvSpPr/>
          <p:nvPr/>
        </p:nvSpPr>
        <p:spPr>
          <a:xfrm>
            <a:off x="762000" y="5143500"/>
            <a:ext cx="17475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3단계 (테스트 및 QA)</a:t>
            </a:r>
            <a:endParaRPr lang="en-US" sz="1200"/>
          </a:p>
        </p:txBody>
      </p:sp>
      <p:sp>
        <p:nvSpPr>
          <p:cNvPr id="48" name="Text 15"/>
          <p:cNvSpPr/>
          <p:nvPr/>
        </p:nvSpPr>
        <p:spPr>
          <a:xfrm>
            <a:off x="3810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6주차 ~ 7주차</a:t>
            </a:r>
            <a:endParaRPr lang="en-US" sz="900"/>
          </a:p>
        </p:txBody>
      </p:sp>
      <p:sp>
        <p:nvSpPr>
          <p:cNvPr id="49" name="Text 16"/>
          <p:cNvSpPr/>
          <p:nvPr/>
        </p:nvSpPr>
        <p:spPr>
          <a:xfrm>
            <a:off x="5334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단위/통합 테스트</a:t>
            </a:r>
            <a:endParaRPr lang="en-US" sz="900"/>
          </a:p>
        </p:txBody>
      </p:sp>
      <p:sp>
        <p:nvSpPr>
          <p:cNvPr id="50" name="Text 17"/>
          <p:cNvSpPr/>
          <p:nvPr/>
        </p:nvSpPr>
        <p:spPr>
          <a:xfrm>
            <a:off x="533400" y="59055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버그 수정</a:t>
            </a:r>
            <a:endParaRPr lang="en-US" sz="900"/>
          </a:p>
        </p:txBody>
      </p:sp>
      <p:sp>
        <p:nvSpPr>
          <p:cNvPr id="51" name="Text 18"/>
          <p:cNvSpPr/>
          <p:nvPr/>
        </p:nvSpPr>
        <p:spPr>
          <a:xfrm>
            <a:off x="533400" y="6096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품질 검증</a:t>
            </a:r>
            <a:endParaRPr lang="en-US" sz="900"/>
          </a:p>
        </p:txBody>
      </p:sp>
      <p:sp>
        <p:nvSpPr>
          <p:cNvPr id="52" name="Text 19"/>
          <p:cNvSpPr/>
          <p:nvPr/>
        </p:nvSpPr>
        <p:spPr>
          <a:xfrm>
            <a:off x="4724400" y="5143500"/>
            <a:ext cx="183898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4단계 (배포 및 안정화)</a:t>
            </a:r>
            <a:endParaRPr lang="en-US" sz="1200"/>
          </a:p>
        </p:txBody>
      </p:sp>
      <p:sp>
        <p:nvSpPr>
          <p:cNvPr id="53" name="Text 20"/>
          <p:cNvSpPr/>
          <p:nvPr/>
        </p:nvSpPr>
        <p:spPr>
          <a:xfrm>
            <a:off x="43434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A5F3FC"/>
                </a:solidFill>
                <a:latin typeface="Segoe UI"/>
                <a:ea typeface="Segoe UI"/>
                <a:cs typeface="Segoe UI"/>
              </a:rPr>
              <a:t>기간: 8주차</a:t>
            </a:r>
            <a:endParaRPr lang="en-US" sz="900"/>
          </a:p>
        </p:txBody>
      </p:sp>
      <p:sp>
        <p:nvSpPr>
          <p:cNvPr id="54" name="Text 21"/>
          <p:cNvSpPr/>
          <p:nvPr/>
        </p:nvSpPr>
        <p:spPr>
          <a:xfrm>
            <a:off x="44958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서버 배포</a:t>
            </a:r>
            <a:endParaRPr lang="en-US" sz="900"/>
          </a:p>
        </p:txBody>
      </p:sp>
      <p:sp>
        <p:nvSpPr>
          <p:cNvPr id="55" name="Text 22"/>
          <p:cNvSpPr/>
          <p:nvPr/>
        </p:nvSpPr>
        <p:spPr>
          <a:xfrm>
            <a:off x="4495800" y="59055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최종 점검</a:t>
            </a:r>
            <a:endParaRPr lang="en-US" sz="900"/>
          </a:p>
        </p:txBody>
      </p:sp>
      <p:sp>
        <p:nvSpPr>
          <p:cNvPr id="56" name="Text 23"/>
          <p:cNvSpPr/>
          <p:nvPr/>
        </p:nvSpPr>
        <p:spPr>
          <a:xfrm>
            <a:off x="4495800" y="6096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발표 준비</a:t>
            </a:r>
            <a:endParaRPr lang="en-US" sz="900"/>
          </a:p>
        </p:txBody>
      </p:sp>
      <p:sp>
        <p:nvSpPr>
          <p:cNvPr id="57" name="Text 24"/>
          <p:cNvSpPr/>
          <p:nvPr/>
        </p:nvSpPr>
        <p:spPr>
          <a:xfrm>
            <a:off x="8686800" y="33528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협업 도구</a:t>
            </a:r>
            <a:endParaRPr lang="en-US" sz="1200"/>
          </a:p>
        </p:txBody>
      </p:sp>
      <p:sp>
        <p:nvSpPr>
          <p:cNvPr id="58" name="Text 25"/>
          <p:cNvSpPr/>
          <p:nvPr/>
        </p:nvSpPr>
        <p:spPr>
          <a:xfrm>
            <a:off x="8763000" y="3810000"/>
            <a:ext cx="863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Git</a:t>
            </a:r>
            <a:endParaRPr lang="en-US" sz="1050"/>
          </a:p>
        </p:txBody>
      </p:sp>
      <p:sp>
        <p:nvSpPr>
          <p:cNvPr id="59" name="Text 26"/>
          <p:cNvSpPr/>
          <p:nvPr/>
        </p:nvSpPr>
        <p:spPr>
          <a:xfrm>
            <a:off x="8763000" y="4000500"/>
            <a:ext cx="10363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버전 관리 시스템</a:t>
            </a:r>
            <a:endParaRPr lang="en-US" sz="900"/>
          </a:p>
        </p:txBody>
      </p:sp>
      <p:sp>
        <p:nvSpPr>
          <p:cNvPr id="60" name="Text 27"/>
          <p:cNvSpPr/>
          <p:nvPr/>
        </p:nvSpPr>
        <p:spPr>
          <a:xfrm>
            <a:off x="8763000" y="4419600"/>
            <a:ext cx="1384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Jira</a:t>
            </a:r>
            <a:endParaRPr lang="en-US" sz="1050"/>
          </a:p>
        </p:txBody>
      </p:sp>
      <p:sp>
        <p:nvSpPr>
          <p:cNvPr id="61" name="Text 28"/>
          <p:cNvSpPr/>
          <p:nvPr/>
        </p:nvSpPr>
        <p:spPr>
          <a:xfrm>
            <a:off x="8763000" y="4610100"/>
            <a:ext cx="16612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이슈 추적 및 프로젝트 관리</a:t>
            </a:r>
            <a:endParaRPr lang="en-US" sz="900"/>
          </a:p>
        </p:txBody>
      </p:sp>
      <p:sp>
        <p:nvSpPr>
          <p:cNvPr id="62" name="Text 29"/>
          <p:cNvSpPr/>
          <p:nvPr/>
        </p:nvSpPr>
        <p:spPr>
          <a:xfrm>
            <a:off x="8763000" y="5029200"/>
            <a:ext cx="831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Slack</a:t>
            </a:r>
            <a:endParaRPr lang="en-US" sz="1050"/>
          </a:p>
        </p:txBody>
      </p:sp>
      <p:sp>
        <p:nvSpPr>
          <p:cNvPr id="63" name="Text 30"/>
          <p:cNvSpPr/>
          <p:nvPr/>
        </p:nvSpPr>
        <p:spPr>
          <a:xfrm>
            <a:off x="8763000" y="5219700"/>
            <a:ext cx="9983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팀 커뮤니케이션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3759101" cy="525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9100" y="1181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28638" y="12763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1790700"/>
            <a:ext cx="33781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19050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09600" y="200025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2514600"/>
            <a:ext cx="33781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26289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28650" y="2724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3238500"/>
            <a:ext cx="3378101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33528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8650" y="3448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19100" y="5600700"/>
            <a:ext cx="3378101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19100" y="5715000"/>
            <a:ext cx="337810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489472" y="58102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216301" y="990600"/>
            <a:ext cx="3759250" cy="525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406801" y="11811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516338" y="12763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1790700"/>
            <a:ext cx="337825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1905000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616351" y="20002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2514600"/>
            <a:ext cx="337825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2628900"/>
            <a:ext cx="34290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4635401" y="272415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3238500"/>
            <a:ext cx="337825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3352800"/>
            <a:ext cx="3429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635401" y="344805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406801" y="3962400"/>
            <a:ext cx="337825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4076700"/>
            <a:ext cx="34290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597301" y="4171950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4406801" y="5600700"/>
            <a:ext cx="337825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406801" y="5715000"/>
            <a:ext cx="3378250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5543996" y="5810250"/>
            <a:ext cx="1905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8204150" y="990600"/>
            <a:ext cx="3759101" cy="5257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394650" y="1181100"/>
            <a:ext cx="457200" cy="457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528000" y="1276350"/>
            <a:ext cx="1905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1790700"/>
            <a:ext cx="3378101" cy="609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1905000"/>
            <a:ext cx="342900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8623250" y="2000250"/>
            <a:ext cx="11430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8394650" y="2514600"/>
            <a:ext cx="3378101" cy="762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2628900"/>
            <a:ext cx="342900" cy="3429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8604200" y="2724150"/>
            <a:ext cx="15240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3390900"/>
            <a:ext cx="3378101" cy="609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3505200"/>
            <a:ext cx="342900" cy="3429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8604200" y="3600450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4114800"/>
            <a:ext cx="3378101" cy="609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4229100"/>
            <a:ext cx="342900" cy="3429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8594675" y="4324350"/>
            <a:ext cx="17145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4838700"/>
            <a:ext cx="3378101" cy="609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4953000"/>
            <a:ext cx="342900" cy="3429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8585150" y="5048250"/>
            <a:ext cx="1905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94650" y="5600700"/>
            <a:ext cx="3378101" cy="4572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 rotWithShape="1">
          <a:blip r:embed="rId39"/>
          <a:stretch>
            <a:fillRect/>
          </a:stretch>
        </p:blipFill>
        <p:spPr>
          <a:xfrm>
            <a:off x="8394650" y="5715000"/>
            <a:ext cx="3378101" cy="3429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465022" y="5810250"/>
            <a:ext cx="190500" cy="152400"/>
          </a:xfrm>
          <a:prstGeom prst="rect">
            <a:avLst/>
          </a:prstGeom>
        </p:spPr>
      </p:pic>
      <p:sp>
        <p:nvSpPr>
          <p:cNvPr id="60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주요 기능 소개</a:t>
            </a:r>
            <a:endParaRPr lang="en-US" sz="1800"/>
          </a:p>
        </p:txBody>
      </p:sp>
      <p:sp>
        <p:nvSpPr>
          <p:cNvPr id="61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관리자, 교수자, 학습자 세 가지 사용자 역할에 따른 주요 기능</a:t>
            </a:r>
            <a:endParaRPr lang="en-US" sz="1050"/>
          </a:p>
        </p:txBody>
      </p:sp>
      <p:sp>
        <p:nvSpPr>
          <p:cNvPr id="62" name="Text 2"/>
          <p:cNvSpPr/>
          <p:nvPr/>
        </p:nvSpPr>
        <p:spPr>
          <a:xfrm>
            <a:off x="99060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관리자</a:t>
            </a:r>
            <a:endParaRPr lang="en-US" sz="1500"/>
          </a:p>
        </p:txBody>
      </p:sp>
      <p:sp>
        <p:nvSpPr>
          <p:cNvPr id="63" name="Text 3"/>
          <p:cNvSpPr/>
          <p:nvPr/>
        </p:nvSpPr>
        <p:spPr>
          <a:xfrm>
            <a:off x="990600" y="1905000"/>
            <a:ext cx="2590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사용자/강의 통합 관리</a:t>
            </a:r>
            <a:endParaRPr lang="en-US" sz="1050"/>
          </a:p>
        </p:txBody>
      </p:sp>
      <p:sp>
        <p:nvSpPr>
          <p:cNvPr id="64" name="Text 4"/>
          <p:cNvSpPr/>
          <p:nvPr/>
        </p:nvSpPr>
        <p:spPr>
          <a:xfrm>
            <a:off x="990600" y="2133600"/>
            <a:ext cx="3109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시스템의 사용자 및 강의를 효과적으로 관리합니다.</a:t>
            </a:r>
            <a:endParaRPr lang="en-US" sz="900"/>
          </a:p>
        </p:txBody>
      </p:sp>
      <p:sp>
        <p:nvSpPr>
          <p:cNvPr id="65" name="Text 5"/>
          <p:cNvSpPr/>
          <p:nvPr/>
        </p:nvSpPr>
        <p:spPr>
          <a:xfrm>
            <a:off x="990600" y="2628900"/>
            <a:ext cx="23940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 통계 대시보드</a:t>
            </a:r>
            <a:endParaRPr lang="en-US" sz="1050"/>
          </a:p>
        </p:txBody>
      </p:sp>
      <p:sp>
        <p:nvSpPr>
          <p:cNvPr id="66" name="Text 6"/>
          <p:cNvSpPr/>
          <p:nvPr/>
        </p:nvSpPr>
        <p:spPr>
          <a:xfrm>
            <a:off x="990600" y="2857500"/>
            <a:ext cx="287285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전체 학습 데이터 및 통계 정보를 시각화합니다.</a:t>
            </a:r>
            <a:endParaRPr lang="en-US" sz="900"/>
          </a:p>
        </p:txBody>
      </p:sp>
      <p:sp>
        <p:nvSpPr>
          <p:cNvPr id="67" name="Text 7"/>
          <p:cNvSpPr/>
          <p:nvPr/>
        </p:nvSpPr>
        <p:spPr>
          <a:xfrm>
            <a:off x="990600" y="3352800"/>
            <a:ext cx="22797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설정 관리</a:t>
            </a:r>
            <a:endParaRPr lang="en-US" sz="1050"/>
          </a:p>
        </p:txBody>
      </p:sp>
      <p:sp>
        <p:nvSpPr>
          <p:cNvPr id="68" name="Text 8"/>
          <p:cNvSpPr/>
          <p:nvPr/>
        </p:nvSpPr>
        <p:spPr>
          <a:xfrm>
            <a:off x="990600" y="35814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 환경 설정 및 권한 관리를 수행합니다.</a:t>
            </a:r>
            <a:endParaRPr lang="en-US" sz="900"/>
          </a:p>
        </p:txBody>
      </p:sp>
      <p:sp>
        <p:nvSpPr>
          <p:cNvPr id="69" name="Text 9"/>
          <p:cNvSpPr/>
          <p:nvPr/>
        </p:nvSpPr>
        <p:spPr>
          <a:xfrm>
            <a:off x="175617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관리자 대시보드</a:t>
            </a:r>
            <a:endParaRPr lang="en-US" sz="1050"/>
          </a:p>
        </p:txBody>
      </p:sp>
      <p:sp>
        <p:nvSpPr>
          <p:cNvPr id="70" name="Text 10"/>
          <p:cNvSpPr/>
          <p:nvPr/>
        </p:nvSpPr>
        <p:spPr>
          <a:xfrm>
            <a:off x="4978301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교수자</a:t>
            </a:r>
            <a:endParaRPr lang="en-US" sz="1500"/>
          </a:p>
        </p:txBody>
      </p:sp>
      <p:sp>
        <p:nvSpPr>
          <p:cNvPr id="71" name="Text 11"/>
          <p:cNvSpPr/>
          <p:nvPr/>
        </p:nvSpPr>
        <p:spPr>
          <a:xfrm>
            <a:off x="4978301" y="1905000"/>
            <a:ext cx="1841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강의 개설</a:t>
            </a:r>
            <a:endParaRPr lang="en-US" sz="1050"/>
          </a:p>
        </p:txBody>
      </p:sp>
      <p:sp>
        <p:nvSpPr>
          <p:cNvPr id="72" name="Text 12"/>
          <p:cNvSpPr/>
          <p:nvPr/>
        </p:nvSpPr>
        <p:spPr>
          <a:xfrm>
            <a:off x="4978301" y="2133600"/>
            <a:ext cx="22099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새로운 강의를 생성하고 관리합니다.</a:t>
            </a:r>
            <a:endParaRPr lang="en-US" sz="900"/>
          </a:p>
        </p:txBody>
      </p:sp>
      <p:sp>
        <p:nvSpPr>
          <p:cNvPr id="73" name="Text 13"/>
          <p:cNvSpPr/>
          <p:nvPr/>
        </p:nvSpPr>
        <p:spPr>
          <a:xfrm>
            <a:off x="4978301" y="2628900"/>
            <a:ext cx="2457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콘텐츠 관리</a:t>
            </a:r>
            <a:endParaRPr lang="en-US" sz="1050"/>
          </a:p>
        </p:txBody>
      </p:sp>
      <p:sp>
        <p:nvSpPr>
          <p:cNvPr id="74" name="Text 14"/>
          <p:cNvSpPr/>
          <p:nvPr/>
        </p:nvSpPr>
        <p:spPr>
          <a:xfrm>
            <a:off x="4978301" y="2857500"/>
            <a:ext cx="29491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영상, 문서, 퀴즈 등 다양한 콘텐츠를 관리합니다.</a:t>
            </a:r>
            <a:endParaRPr lang="en-US" sz="900"/>
          </a:p>
        </p:txBody>
      </p:sp>
      <p:sp>
        <p:nvSpPr>
          <p:cNvPr id="75" name="Text 15"/>
          <p:cNvSpPr/>
          <p:nvPr/>
        </p:nvSpPr>
        <p:spPr>
          <a:xfrm>
            <a:off x="4978301" y="3352800"/>
            <a:ext cx="244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수강생 성적 및 진도 관리</a:t>
            </a:r>
            <a:endParaRPr lang="en-US" sz="1050"/>
          </a:p>
        </p:txBody>
      </p:sp>
      <p:sp>
        <p:nvSpPr>
          <p:cNvPr id="76" name="Text 16"/>
          <p:cNvSpPr/>
          <p:nvPr/>
        </p:nvSpPr>
        <p:spPr>
          <a:xfrm>
            <a:off x="4978301" y="3581400"/>
            <a:ext cx="29337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수강생의 학습 상태를 모니터링하고 평가합니다.</a:t>
            </a:r>
            <a:endParaRPr lang="en-US" sz="900"/>
          </a:p>
        </p:txBody>
      </p:sp>
      <p:sp>
        <p:nvSpPr>
          <p:cNvPr id="77" name="Text 17"/>
          <p:cNvSpPr/>
          <p:nvPr/>
        </p:nvSpPr>
        <p:spPr>
          <a:xfrm>
            <a:off x="4978301" y="4076700"/>
            <a:ext cx="24766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피드백 제공</a:t>
            </a:r>
            <a:endParaRPr lang="en-US" sz="1050"/>
          </a:p>
        </p:txBody>
      </p:sp>
      <p:sp>
        <p:nvSpPr>
          <p:cNvPr id="78" name="Text 18"/>
          <p:cNvSpPr/>
          <p:nvPr/>
        </p:nvSpPr>
        <p:spPr>
          <a:xfrm>
            <a:off x="4978301" y="4305300"/>
            <a:ext cx="29719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학습자의 과제와 활동에 대한 피드백을 남깁니다.</a:t>
            </a:r>
            <a:endParaRPr lang="en-US" sz="900"/>
          </a:p>
        </p:txBody>
      </p:sp>
      <p:sp>
        <p:nvSpPr>
          <p:cNvPr id="79" name="Text 19"/>
          <p:cNvSpPr/>
          <p:nvPr/>
        </p:nvSpPr>
        <p:spPr>
          <a:xfrm>
            <a:off x="5810696" y="5791200"/>
            <a:ext cx="100459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교수자 강의실</a:t>
            </a:r>
            <a:endParaRPr lang="en-US" sz="1050"/>
          </a:p>
        </p:txBody>
      </p:sp>
      <p:sp>
        <p:nvSpPr>
          <p:cNvPr id="80" name="Text 20"/>
          <p:cNvSpPr/>
          <p:nvPr/>
        </p:nvSpPr>
        <p:spPr>
          <a:xfrm>
            <a:off x="896615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학습자</a:t>
            </a:r>
            <a:endParaRPr lang="en-US" sz="1500"/>
          </a:p>
        </p:txBody>
      </p:sp>
      <p:sp>
        <p:nvSpPr>
          <p:cNvPr id="81" name="Text 21"/>
          <p:cNvSpPr/>
          <p:nvPr/>
        </p:nvSpPr>
        <p:spPr>
          <a:xfrm>
            <a:off x="8966150" y="19050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수강 신청</a:t>
            </a:r>
            <a:endParaRPr lang="en-US" sz="1050"/>
          </a:p>
        </p:txBody>
      </p:sp>
      <p:sp>
        <p:nvSpPr>
          <p:cNvPr id="82" name="Text 22"/>
          <p:cNvSpPr/>
          <p:nvPr/>
        </p:nvSpPr>
        <p:spPr>
          <a:xfrm>
            <a:off x="8966150" y="21336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원하는 강의에 신청하고 수강을 시작합니다.</a:t>
            </a:r>
            <a:endParaRPr lang="en-US" sz="900"/>
          </a:p>
        </p:txBody>
      </p:sp>
      <p:sp>
        <p:nvSpPr>
          <p:cNvPr id="83" name="Text 23"/>
          <p:cNvSpPr/>
          <p:nvPr/>
        </p:nvSpPr>
        <p:spPr>
          <a:xfrm>
            <a:off x="8966150" y="2628900"/>
            <a:ext cx="2692301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강의 수강</a:t>
            </a:r>
            <a:endParaRPr lang="en-US" sz="1050"/>
          </a:p>
        </p:txBody>
      </p:sp>
      <p:sp>
        <p:nvSpPr>
          <p:cNvPr id="84" name="Text 24"/>
          <p:cNvSpPr/>
          <p:nvPr/>
        </p:nvSpPr>
        <p:spPr>
          <a:xfrm>
            <a:off x="8966150" y="2857500"/>
            <a:ext cx="2692301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비디오, 문서 등 다양한 형태의 강의 내용을 수강합니다.</a:t>
            </a:r>
            <a:endParaRPr lang="en-US" sz="900"/>
          </a:p>
        </p:txBody>
      </p:sp>
      <p:sp>
        <p:nvSpPr>
          <p:cNvPr id="85" name="Text 25"/>
          <p:cNvSpPr/>
          <p:nvPr/>
        </p:nvSpPr>
        <p:spPr>
          <a:xfrm>
            <a:off x="8966150" y="35052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과제/퀴즈 제출</a:t>
            </a:r>
            <a:endParaRPr lang="en-US" sz="1050"/>
          </a:p>
        </p:txBody>
      </p:sp>
      <p:sp>
        <p:nvSpPr>
          <p:cNvPr id="86" name="Text 26"/>
          <p:cNvSpPr/>
          <p:nvPr/>
        </p:nvSpPr>
        <p:spPr>
          <a:xfrm>
            <a:off x="8966150" y="37338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출제된 과제와 퀴즈에 답변하고 제출합니다.</a:t>
            </a:r>
            <a:endParaRPr lang="en-US" sz="900"/>
          </a:p>
        </p:txBody>
      </p:sp>
      <p:sp>
        <p:nvSpPr>
          <p:cNvPr id="87" name="Text 27"/>
          <p:cNvSpPr/>
          <p:nvPr/>
        </p:nvSpPr>
        <p:spPr>
          <a:xfrm>
            <a:off x="8966150" y="42291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 대시보드</a:t>
            </a:r>
            <a:endParaRPr lang="en-US" sz="1050"/>
          </a:p>
        </p:txBody>
      </p:sp>
      <p:sp>
        <p:nvSpPr>
          <p:cNvPr id="88" name="Text 28"/>
          <p:cNvSpPr/>
          <p:nvPr/>
        </p:nvSpPr>
        <p:spPr>
          <a:xfrm>
            <a:off x="8966150" y="44577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개인 학습 진도와 결과를 확인합니다.</a:t>
            </a:r>
            <a:endParaRPr lang="en-US" sz="900"/>
          </a:p>
        </p:txBody>
      </p:sp>
      <p:sp>
        <p:nvSpPr>
          <p:cNvPr id="89" name="Text 29"/>
          <p:cNvSpPr/>
          <p:nvPr/>
        </p:nvSpPr>
        <p:spPr>
          <a:xfrm>
            <a:off x="8966150" y="49530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소통 및 커뮤니티</a:t>
            </a:r>
            <a:endParaRPr lang="en-US" sz="1050"/>
          </a:p>
        </p:txBody>
      </p:sp>
      <p:sp>
        <p:nvSpPr>
          <p:cNvPr id="90" name="Text 30"/>
          <p:cNvSpPr/>
          <p:nvPr/>
        </p:nvSpPr>
        <p:spPr>
          <a:xfrm>
            <a:off x="8966150" y="51816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교수자 및 다른 학습자와 소통합니다.</a:t>
            </a:r>
            <a:endParaRPr lang="en-US" sz="900"/>
          </a:p>
        </p:txBody>
      </p:sp>
      <p:sp>
        <p:nvSpPr>
          <p:cNvPr id="91" name="Text 31"/>
          <p:cNvSpPr/>
          <p:nvPr/>
        </p:nvSpPr>
        <p:spPr>
          <a:xfrm>
            <a:off x="973172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학습자 대시보드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1" y="51435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42899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85350" y="5562600"/>
            <a:ext cx="19050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 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데이터베이스 구조와 테이블 간 관계도</a:t>
            </a: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주요 엔티티 및 관계</a:t>
            </a:r>
            <a:endParaRPr lang="en-US" sz="1350"/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Users</a:t>
            </a:r>
            <a:endParaRPr lang="en-US" sz="1050"/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 사용자 정보. 교수자/학습자로 구분됩니다.</a:t>
            </a:r>
            <a:endParaRPr lang="en-US" sz="900"/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Courses</a:t>
            </a:r>
            <a:endParaRPr lang="en-US" sz="1050"/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Lectures</a:t>
            </a:r>
            <a:endParaRPr lang="en-US" sz="1050"/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Enrollments</a:t>
            </a:r>
            <a:endParaRPr lang="en-US" sz="1050"/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Submissions</a:t>
            </a:r>
            <a:endParaRPr lang="en-US" sz="1050"/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관계 표현</a:t>
            </a:r>
            <a:endParaRPr lang="en-US" sz="1050"/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1:1</a:t>
            </a:r>
            <a:endParaRPr lang="en-US" sz="900"/>
          </a:p>
        </p:txBody>
      </p:sp>
      <p:sp>
        <p:nvSpPr>
          <p:cNvPr id="42" name="Text 16"/>
          <p:cNvSpPr/>
          <p:nvPr/>
        </p:nvSpPr>
        <p:spPr>
          <a:xfrm>
            <a:off x="8635901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일대일</a:t>
            </a:r>
            <a:endParaRPr lang="en-US" sz="900"/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1:N</a:t>
            </a:r>
            <a:endParaRPr lang="en-US" sz="900" dirty="0"/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일대다</a:t>
            </a:r>
            <a:endParaRPr lang="en-US" sz="900" dirty="0"/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M:N</a:t>
            </a:r>
            <a:endParaRPr lang="en-US" sz="900" dirty="0"/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다대다</a:t>
            </a:r>
            <a:endParaRPr lang="en-US" sz="900" dirty="0"/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FK</a:t>
            </a:r>
            <a:endParaRPr lang="en-US" sz="900"/>
          </a:p>
        </p:txBody>
      </p:sp>
      <p:sp>
        <p:nvSpPr>
          <p:cNvPr id="48" name="Text 22"/>
          <p:cNvSpPr/>
          <p:nvPr/>
        </p:nvSpPr>
        <p:spPr>
          <a:xfrm>
            <a:off x="10413950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외래키</a:t>
            </a:r>
            <a:endParaRPr lang="en-US" sz="900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228600" y="1571625"/>
            <a:ext cx="7759601" cy="4324350"/>
          </a:xfrm>
          <a:prstGeom prst="rect">
            <a:avLst/>
          </a:prstGeom>
        </p:spPr>
      </p:pic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설계 - 클래스 다이어그램</a:t>
            </a:r>
            <a:endParaRPr lang="en-US" sz="1800"/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1248" y="5147743"/>
            <a:ext cx="342899" cy="200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8600" y="1905000"/>
            <a:ext cx="11734800" cy="3810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28600" y="5886450"/>
            <a:ext cx="11734800" cy="73342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000" y="605790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6362700"/>
            <a:ext cx="5638800" cy="4191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651510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172200" y="6362700"/>
            <a:ext cx="5638800" cy="4191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286500" y="6515100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81000" y="6934200"/>
            <a:ext cx="5638800" cy="4191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95300" y="7086600"/>
            <a:ext cx="17145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172200" y="6934200"/>
            <a:ext cx="5638800" cy="4191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6286500" y="7086600"/>
            <a:ext cx="190500" cy="15240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설계 - 클래스 다이어그램</a:t>
            </a:r>
            <a:endParaRPr lang="en-US" sz="1800"/>
          </a:p>
        </p:txBody>
      </p:sp>
      <p:sp>
        <p:nvSpPr>
          <p:cNvPr id="4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계층형 아키텍처 기반 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의 주요 객체 구조 및 관계도</a:t>
            </a:r>
          </a:p>
        </p:txBody>
      </p:sp>
      <p:sp>
        <p:nvSpPr>
          <p:cNvPr id="49" name="Text 2"/>
          <p:cNvSpPr/>
          <p:nvPr/>
        </p:nvSpPr>
        <p:spPr>
          <a:xfrm>
            <a:off x="381000" y="1143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백엔드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시스템의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주요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객체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(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클래스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)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들의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구조와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관계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, 각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클래스가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가지는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속성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(Attribute)과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메서드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(Method)를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통해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endParaRPr lang="en-US" sz="1200" dirty="0" smtClean="0">
              <a:solidFill>
                <a:srgbClr val="E5E7EB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smtClean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MVC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패턴이나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계층형</a:t>
            </a:r>
            <a:r>
              <a:rPr lang="en-US" sz="1200" dirty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아키텍처</a:t>
            </a:r>
            <a:r>
              <a:rPr lang="en-US" sz="1200" dirty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(Layered Architecture)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를 </a:t>
            </a:r>
            <a:r>
              <a:rPr lang="en-US" sz="1200" dirty="0" err="1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설명합니다</a:t>
            </a:r>
            <a:r>
              <a:rPr lang="en-US" sz="1200" dirty="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1200" dirty="0"/>
          </a:p>
        </p:txBody>
      </p:sp>
      <p:sp>
        <p:nvSpPr>
          <p:cNvPr id="86" name="Text 39"/>
          <p:cNvSpPr/>
          <p:nvPr/>
        </p:nvSpPr>
        <p:spPr>
          <a:xfrm>
            <a:off x="609600" y="60198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클래스 다이어그램의 주요 특징</a:t>
            </a:r>
            <a:endParaRPr lang="en-US" sz="1200"/>
          </a:p>
        </p:txBody>
      </p:sp>
      <p:sp>
        <p:nvSpPr>
          <p:cNvPr id="87" name="Text 40"/>
          <p:cNvSpPr/>
          <p:nvPr/>
        </p:nvSpPr>
        <p:spPr>
          <a:xfrm>
            <a:off x="723900" y="6477000"/>
            <a:ext cx="4611112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Controller는 Service에 의존(Dependency)하여 비즈니스 로직을 처리합니다.</a:t>
            </a:r>
            <a:endParaRPr lang="en-US" sz="900"/>
          </a:p>
        </p:txBody>
      </p:sp>
      <p:sp>
        <p:nvSpPr>
          <p:cNvPr id="88" name="Text 41"/>
          <p:cNvSpPr/>
          <p:nvPr/>
        </p:nvSpPr>
        <p:spPr>
          <a:xfrm>
            <a:off x="6515100" y="6477000"/>
            <a:ext cx="3498116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Service는 Repository를 통해 데이터베이스와 통신합니다.</a:t>
            </a:r>
            <a:endParaRPr lang="en-US" sz="900"/>
          </a:p>
        </p:txBody>
      </p:sp>
      <p:sp>
        <p:nvSpPr>
          <p:cNvPr id="89" name="Text 42"/>
          <p:cNvSpPr/>
          <p:nvPr/>
        </p:nvSpPr>
        <p:spPr>
          <a:xfrm>
            <a:off x="742950" y="7048500"/>
            <a:ext cx="4694694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계층형 아키텍처(Layered Architecture)로 구성하여 유지보수성을 높였습니다.</a:t>
            </a:r>
            <a:endParaRPr lang="en-US" sz="900"/>
          </a:p>
        </p:txBody>
      </p:sp>
      <p:sp>
        <p:nvSpPr>
          <p:cNvPr id="90" name="Text 43"/>
          <p:cNvSpPr/>
          <p:nvPr/>
        </p:nvSpPr>
        <p:spPr>
          <a:xfrm>
            <a:off x="6553200" y="7048500"/>
            <a:ext cx="3863697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도메인 객체(User, Course)는 핵심 비즈니스 로직을 포함합니다.</a:t>
            </a:r>
            <a:endParaRPr lang="en-US" sz="900"/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227054" y="1905000"/>
            <a:ext cx="11737892" cy="4339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6290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71550"/>
            <a:ext cx="11734800" cy="2552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338614" y="11906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000" y="1905000"/>
            <a:ext cx="16764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419225" y="2057400"/>
            <a:ext cx="3619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759101" y="1905000"/>
            <a:ext cx="16764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454426" y="20574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756202" y="1905000"/>
            <a:ext cx="1676400" cy="1143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7413427" y="20574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960808" y="2381249"/>
            <a:ext cx="278590" cy="31838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9753302" y="1905000"/>
            <a:ext cx="1676400" cy="1143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0467677" y="205740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794689" y="3733800"/>
            <a:ext cx="2819400" cy="2933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947089" y="3886200"/>
            <a:ext cx="25146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947089" y="38862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2028052" y="394335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947089" y="4457700"/>
            <a:ext cx="25146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947089" y="45339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2023289" y="46101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947089" y="4991100"/>
            <a:ext cx="25146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1947089" y="50673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2032814" y="5143500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1947089" y="56007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2042339" y="56769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766489" y="3733800"/>
            <a:ext cx="2819400" cy="2933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918889" y="3886200"/>
            <a:ext cx="25146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918889" y="38862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5014139" y="3943350"/>
            <a:ext cx="19050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918889" y="4457700"/>
            <a:ext cx="25146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918889" y="4533900"/>
            <a:ext cx="304800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5014139" y="4610100"/>
            <a:ext cx="1143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918889" y="4991100"/>
            <a:ext cx="2514600" cy="457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918889" y="5067300"/>
            <a:ext cx="304800" cy="304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995089" y="5143500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918889" y="5600700"/>
            <a:ext cx="3048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4995089" y="5676900"/>
            <a:ext cx="1524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7738289" y="3733800"/>
            <a:ext cx="2819400" cy="29337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7890689" y="3886200"/>
            <a:ext cx="2514600" cy="4572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7890689" y="3886200"/>
            <a:ext cx="381000" cy="381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995464" y="3943350"/>
            <a:ext cx="171450" cy="2667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7890689" y="4457700"/>
            <a:ext cx="2514600" cy="4572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7890689" y="4533900"/>
            <a:ext cx="304800" cy="3048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7976414" y="4610100"/>
            <a:ext cx="133350" cy="152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7890689" y="4991100"/>
            <a:ext cx="2514600" cy="4572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7890689" y="5067300"/>
            <a:ext cx="304800" cy="3048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7976414" y="5143500"/>
            <a:ext cx="133350" cy="152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7890689" y="5600700"/>
            <a:ext cx="304800" cy="3048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7957364" y="5676900"/>
            <a:ext cx="171450" cy="152400"/>
          </a:xfrm>
          <a:prstGeom prst="rect">
            <a:avLst/>
          </a:prstGeom>
        </p:spPr>
      </p:pic>
      <p:sp>
        <p:nvSpPr>
          <p:cNvPr id="73" name="Text 0"/>
          <p:cNvSpPr/>
          <p:nvPr/>
        </p:nvSpPr>
        <p:spPr>
          <a:xfrm>
            <a:off x="228600" y="228600"/>
            <a:ext cx="269765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적용 기술 및 아키텍처</a:t>
            </a:r>
            <a:endParaRPr lang="en-US" sz="1800"/>
          </a:p>
        </p:txBody>
      </p:sp>
      <p:sp>
        <p:nvSpPr>
          <p:cNvPr id="7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의 기술 스택 및 시스템 아키텍처 구성</a:t>
            </a:r>
          </a:p>
        </p:txBody>
      </p:sp>
      <p:sp>
        <p:nvSpPr>
          <p:cNvPr id="75" name="Text 2"/>
          <p:cNvSpPr/>
          <p:nvPr/>
        </p:nvSpPr>
        <p:spPr>
          <a:xfrm>
            <a:off x="5605314" y="11430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시스템 아키텍처</a:t>
            </a:r>
            <a:endParaRPr lang="en-US" sz="1350"/>
          </a:p>
        </p:txBody>
      </p:sp>
      <p:sp>
        <p:nvSpPr>
          <p:cNvPr id="76" name="Text 3"/>
          <p:cNvSpPr/>
          <p:nvPr/>
        </p:nvSpPr>
        <p:spPr>
          <a:xfrm>
            <a:off x="914400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클라이언트</a:t>
            </a:r>
            <a:endParaRPr lang="en-US" sz="1200"/>
          </a:p>
        </p:txBody>
      </p:sp>
      <p:sp>
        <p:nvSpPr>
          <p:cNvPr id="77" name="Text 4"/>
          <p:cNvSpPr/>
          <p:nvPr/>
        </p:nvSpPr>
        <p:spPr>
          <a:xfrm>
            <a:off x="914400" y="27051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브라우저/앱</a:t>
            </a:r>
            <a:endParaRPr lang="en-US" sz="1050"/>
          </a:p>
        </p:txBody>
      </p:sp>
      <p:sp>
        <p:nvSpPr>
          <p:cNvPr id="78" name="Text 5"/>
          <p:cNvSpPr/>
          <p:nvPr/>
        </p:nvSpPr>
        <p:spPr>
          <a:xfrm>
            <a:off x="3911501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웹 서버</a:t>
            </a:r>
            <a:endParaRPr lang="en-US" sz="1200"/>
          </a:p>
        </p:txBody>
      </p:sp>
      <p:sp>
        <p:nvSpPr>
          <p:cNvPr id="79" name="Text 6"/>
          <p:cNvSpPr/>
          <p:nvPr/>
        </p:nvSpPr>
        <p:spPr>
          <a:xfrm>
            <a:off x="3911501" y="27051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Nginx</a:t>
            </a:r>
            <a:endParaRPr lang="en-US" sz="1050"/>
          </a:p>
        </p:txBody>
      </p:sp>
      <p:sp>
        <p:nvSpPr>
          <p:cNvPr id="80" name="Text 7"/>
          <p:cNvSpPr/>
          <p:nvPr/>
        </p:nvSpPr>
        <p:spPr>
          <a:xfrm>
            <a:off x="6908602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WAS</a:t>
            </a:r>
            <a:endParaRPr lang="en-US" sz="1200"/>
          </a:p>
        </p:txBody>
      </p:sp>
      <p:sp>
        <p:nvSpPr>
          <p:cNvPr id="81" name="Text 8"/>
          <p:cNvSpPr/>
          <p:nvPr/>
        </p:nvSpPr>
        <p:spPr>
          <a:xfrm>
            <a:off x="6771442" y="2705100"/>
            <a:ext cx="164592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Spring Boot</a:t>
            </a:r>
            <a:endParaRPr lang="en-US" sz="1050"/>
          </a:p>
        </p:txBody>
      </p:sp>
      <p:sp>
        <p:nvSpPr>
          <p:cNvPr id="82" name="Text 9"/>
          <p:cNvSpPr/>
          <p:nvPr/>
        </p:nvSpPr>
        <p:spPr>
          <a:xfrm>
            <a:off x="9905702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데이터베이스</a:t>
            </a:r>
            <a:endParaRPr lang="en-US" sz="1200"/>
          </a:p>
        </p:txBody>
      </p:sp>
      <p:sp>
        <p:nvSpPr>
          <p:cNvPr id="83" name="Text 10"/>
          <p:cNvSpPr/>
          <p:nvPr/>
        </p:nvSpPr>
        <p:spPr>
          <a:xfrm>
            <a:off x="9768542" y="2705100"/>
            <a:ext cx="164592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MySQL/PostgreSQL</a:t>
            </a:r>
            <a:endParaRPr lang="en-US" sz="1050"/>
          </a:p>
        </p:txBody>
      </p:sp>
      <p:sp>
        <p:nvSpPr>
          <p:cNvPr id="84" name="Text 11"/>
          <p:cNvSpPr/>
          <p:nvPr/>
        </p:nvSpPr>
        <p:spPr>
          <a:xfrm>
            <a:off x="2442389" y="39433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프론트엔드</a:t>
            </a:r>
            <a:endParaRPr lang="en-US" sz="1350"/>
          </a:p>
        </p:txBody>
      </p:sp>
      <p:sp>
        <p:nvSpPr>
          <p:cNvPr id="85" name="Text 12"/>
          <p:cNvSpPr/>
          <p:nvPr/>
        </p:nvSpPr>
        <p:spPr>
          <a:xfrm>
            <a:off x="2328089" y="4591050"/>
            <a:ext cx="1325166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React (TypeScript)</a:t>
            </a:r>
            <a:endParaRPr lang="en-US" sz="1050"/>
          </a:p>
        </p:txBody>
      </p:sp>
      <p:sp>
        <p:nvSpPr>
          <p:cNvPr id="86" name="Text 13"/>
          <p:cNvSpPr/>
          <p:nvPr/>
        </p:nvSpPr>
        <p:spPr>
          <a:xfrm>
            <a:off x="2328089" y="5124450"/>
            <a:ext cx="123586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Recoil (</a:t>
            </a:r>
            <a:r>
              <a:rPr lang="en-US" sz="105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상태관리</a:t>
            </a:r>
            <a:r>
              <a:rPr lang="en-US" sz="105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)</a:t>
            </a:r>
            <a:endParaRPr lang="en-US" sz="1050" dirty="0"/>
          </a:p>
        </p:txBody>
      </p:sp>
      <p:sp>
        <p:nvSpPr>
          <p:cNvPr id="87" name="Text 14"/>
          <p:cNvSpPr/>
          <p:nvPr/>
        </p:nvSpPr>
        <p:spPr>
          <a:xfrm>
            <a:off x="2328089" y="5657850"/>
            <a:ext cx="898327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TailwindCSS</a:t>
            </a:r>
            <a:endParaRPr lang="en-US" sz="1050"/>
          </a:p>
        </p:txBody>
      </p:sp>
      <p:sp>
        <p:nvSpPr>
          <p:cNvPr id="88" name="Text 15"/>
          <p:cNvSpPr/>
          <p:nvPr/>
        </p:nvSpPr>
        <p:spPr>
          <a:xfrm>
            <a:off x="5414189" y="3943350"/>
            <a:ext cx="61722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백엔드</a:t>
            </a:r>
            <a:endParaRPr lang="en-US" sz="1350"/>
          </a:p>
        </p:txBody>
      </p:sp>
      <p:sp>
        <p:nvSpPr>
          <p:cNvPr id="89" name="Text 16"/>
          <p:cNvSpPr/>
          <p:nvPr/>
        </p:nvSpPr>
        <p:spPr>
          <a:xfrm>
            <a:off x="5299888" y="4610100"/>
            <a:ext cx="1549301" cy="17145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Java 17 / </a:t>
            </a:r>
            <a:r>
              <a:rPr lang="en-US" sz="105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Gradle</a:t>
            </a:r>
            <a:endParaRPr lang="en-US" sz="1050" dirty="0"/>
          </a:p>
        </p:txBody>
      </p:sp>
      <p:sp>
        <p:nvSpPr>
          <p:cNvPr id="90" name="Text 17"/>
          <p:cNvSpPr/>
          <p:nvPr/>
        </p:nvSpPr>
        <p:spPr>
          <a:xfrm>
            <a:off x="5325190" y="4991100"/>
            <a:ext cx="1604814" cy="32385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Spring </a:t>
            </a:r>
            <a:r>
              <a:rPr lang="en-US" sz="105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Data</a:t>
            </a:r>
          </a:p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smtClean="0">
                <a:solidFill>
                  <a:srgbClr val="D1D5DB"/>
                </a:solidFill>
                <a:latin typeface="Segoe UI"/>
                <a:cs typeface="Segoe UI"/>
              </a:rPr>
              <a:t>JDBC + </a:t>
            </a:r>
            <a:r>
              <a:rPr lang="en-US" sz="1050" dirty="0" err="1" smtClean="0">
                <a:solidFill>
                  <a:srgbClr val="D1D5DB"/>
                </a:solidFill>
                <a:latin typeface="Segoe UI"/>
                <a:cs typeface="Segoe UI"/>
              </a:rPr>
              <a:t>MyBatis</a:t>
            </a:r>
            <a:endParaRPr lang="en-US" sz="1050" dirty="0"/>
          </a:p>
        </p:txBody>
      </p:sp>
      <p:sp>
        <p:nvSpPr>
          <p:cNvPr id="91" name="Text 18"/>
          <p:cNvSpPr/>
          <p:nvPr/>
        </p:nvSpPr>
        <p:spPr>
          <a:xfrm>
            <a:off x="5324442" y="5524500"/>
            <a:ext cx="1413933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Velidation</a:t>
            </a:r>
            <a:r>
              <a:rPr lang="en-US" sz="105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/ Mail /</a:t>
            </a:r>
          </a:p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err="1" smtClean="0">
                <a:solidFill>
                  <a:srgbClr val="D1D5DB"/>
                </a:solidFill>
                <a:latin typeface="Segoe UI"/>
                <a:cs typeface="Segoe UI"/>
              </a:rPr>
              <a:t>DevTools</a:t>
            </a:r>
            <a:r>
              <a:rPr lang="en-US" sz="1050" dirty="0" smtClean="0">
                <a:solidFill>
                  <a:srgbClr val="D1D5DB"/>
                </a:solidFill>
                <a:latin typeface="Segoe UI"/>
                <a:cs typeface="Segoe UI"/>
              </a:rPr>
              <a:t> / Lombok</a:t>
            </a:r>
            <a:endParaRPr lang="en-US" sz="1050" dirty="0"/>
          </a:p>
        </p:txBody>
      </p:sp>
      <p:sp>
        <p:nvSpPr>
          <p:cNvPr id="93" name="Text 20"/>
          <p:cNvSpPr/>
          <p:nvPr/>
        </p:nvSpPr>
        <p:spPr>
          <a:xfrm>
            <a:off x="8385989" y="3943350"/>
            <a:ext cx="123444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데이터베이스</a:t>
            </a:r>
            <a:endParaRPr lang="en-US" sz="1350"/>
          </a:p>
        </p:txBody>
      </p:sp>
      <p:sp>
        <p:nvSpPr>
          <p:cNvPr id="94" name="Text 21"/>
          <p:cNvSpPr/>
          <p:nvPr/>
        </p:nvSpPr>
        <p:spPr>
          <a:xfrm>
            <a:off x="8271689" y="4591050"/>
            <a:ext cx="53363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MySQL</a:t>
            </a:r>
            <a:endParaRPr lang="en-US" sz="1050"/>
          </a:p>
        </p:txBody>
      </p:sp>
      <p:sp>
        <p:nvSpPr>
          <p:cNvPr id="95" name="Text 22"/>
          <p:cNvSpPr/>
          <p:nvPr/>
        </p:nvSpPr>
        <p:spPr>
          <a:xfrm>
            <a:off x="8271689" y="5124450"/>
            <a:ext cx="871716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PostgreSQL</a:t>
            </a:r>
            <a:endParaRPr lang="en-US" sz="1050"/>
          </a:p>
        </p:txBody>
      </p:sp>
      <p:sp>
        <p:nvSpPr>
          <p:cNvPr id="96" name="Text 23"/>
          <p:cNvSpPr/>
          <p:nvPr/>
        </p:nvSpPr>
        <p:spPr>
          <a:xfrm>
            <a:off x="8271689" y="5657850"/>
            <a:ext cx="88028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err="1" smtClean="0">
                <a:solidFill>
                  <a:srgbClr val="D1D5DB"/>
                </a:solidFill>
                <a:latin typeface="Segoe UI"/>
                <a:cs typeface="Segoe UI"/>
              </a:rPr>
              <a:t>HeidiSQL</a:t>
            </a:r>
            <a:endParaRPr lang="en-US" sz="1050" dirty="0"/>
          </a:p>
        </p:txBody>
      </p:sp>
      <p:pic>
        <p:nvPicPr>
          <p:cNvPr id="103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956556" y="2381249"/>
            <a:ext cx="278590" cy="318389"/>
          </a:xfrm>
          <a:prstGeom prst="rect">
            <a:avLst/>
          </a:prstGeom>
        </p:spPr>
      </p:pic>
      <p:pic>
        <p:nvPicPr>
          <p:cNvPr id="104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2952304" y="2381249"/>
            <a:ext cx="278590" cy="3183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5775" y="1257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78970" y="2275266"/>
            <a:ext cx="3426230" cy="2628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28600" y="1920243"/>
            <a:ext cx="2705100" cy="2628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81000" y="2072643"/>
            <a:ext cx="24003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76350" y="2072643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38275" y="2225043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238500" y="1920243"/>
            <a:ext cx="2705100" cy="262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390900" y="2072643"/>
            <a:ext cx="24003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286250" y="2072643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476750" y="2225043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248400" y="1920243"/>
            <a:ext cx="2705100" cy="2628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400800" y="2072643"/>
            <a:ext cx="24003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7296150" y="2072643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7486650" y="2225043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9258300" y="1920243"/>
            <a:ext cx="2705100" cy="2628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410700" y="2072643"/>
            <a:ext cx="24003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0306050" y="2072643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0467975" y="2225043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228600" y="4853943"/>
            <a:ext cx="11734800" cy="1295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381000" y="5044443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381000" y="5387343"/>
            <a:ext cx="370835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95300" y="5501643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90550" y="5615943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241750" y="5387343"/>
            <a:ext cx="370835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4356050" y="5501643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451300" y="5615943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102501" y="5387343"/>
            <a:ext cx="3708499" cy="609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216801" y="5501643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331101" y="5615943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핵심 기능 시연</a:t>
            </a:r>
            <a:endParaRPr lang="en-US" sz="1800"/>
          </a:p>
        </p:txBody>
      </p:sp>
      <p:sp>
        <p:nvSpPr>
          <p:cNvPr id="3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의 사용자 시나리오 기반 주요 기능 시연</a:t>
            </a:r>
          </a:p>
        </p:txBody>
      </p:sp>
      <p:sp>
        <p:nvSpPr>
          <p:cNvPr id="39" name="Text 2"/>
          <p:cNvSpPr/>
          <p:nvPr/>
        </p:nvSpPr>
        <p:spPr>
          <a:xfrm>
            <a:off x="876300" y="1219200"/>
            <a:ext cx="582179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라이브 시연:</a:t>
            </a:r>
            <a:r>
              <a:rPr lang="en-US" sz="12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 준비된 시나리오에 따라 핵심 기능을 라이브로 시연합니다.</a:t>
            </a:r>
            <a:endParaRPr lang="en-US" sz="1200"/>
          </a:p>
        </p:txBody>
      </p:sp>
      <p:sp>
        <p:nvSpPr>
          <p:cNvPr id="40" name="Text 3"/>
          <p:cNvSpPr/>
          <p:nvPr/>
        </p:nvSpPr>
        <p:spPr>
          <a:xfrm>
            <a:off x="700876" y="2796543"/>
            <a:ext cx="176039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교수자의 강의 개설</a:t>
            </a:r>
            <a:endParaRPr lang="en-US" sz="1350"/>
          </a:p>
        </p:txBody>
      </p:sp>
      <p:sp>
        <p:nvSpPr>
          <p:cNvPr id="41" name="Text 4"/>
          <p:cNvSpPr/>
          <p:nvPr/>
        </p:nvSpPr>
        <p:spPr>
          <a:xfrm>
            <a:off x="6096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정보 입력</a:t>
            </a:r>
            <a:endParaRPr lang="en-US" sz="1050"/>
          </a:p>
        </p:txBody>
      </p:sp>
      <p:sp>
        <p:nvSpPr>
          <p:cNvPr id="42" name="Text 5"/>
          <p:cNvSpPr/>
          <p:nvPr/>
        </p:nvSpPr>
        <p:spPr>
          <a:xfrm>
            <a:off x="6096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콘텐츠 업로드</a:t>
            </a:r>
            <a:endParaRPr lang="en-US" sz="1050"/>
          </a:p>
        </p:txBody>
      </p:sp>
      <p:sp>
        <p:nvSpPr>
          <p:cNvPr id="43" name="Text 6"/>
          <p:cNvSpPr/>
          <p:nvPr/>
        </p:nvSpPr>
        <p:spPr>
          <a:xfrm>
            <a:off x="6096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과제 설정</a:t>
            </a:r>
            <a:endParaRPr lang="en-US" sz="1050"/>
          </a:p>
        </p:txBody>
      </p:sp>
      <p:sp>
        <p:nvSpPr>
          <p:cNvPr id="44" name="Text 7"/>
          <p:cNvSpPr/>
          <p:nvPr/>
        </p:nvSpPr>
        <p:spPr>
          <a:xfrm>
            <a:off x="6096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공지사항 등록</a:t>
            </a:r>
            <a:endParaRPr lang="en-US" sz="1050"/>
          </a:p>
        </p:txBody>
      </p:sp>
      <p:sp>
        <p:nvSpPr>
          <p:cNvPr id="45" name="Text 8"/>
          <p:cNvSpPr/>
          <p:nvPr/>
        </p:nvSpPr>
        <p:spPr>
          <a:xfrm>
            <a:off x="3945091" y="2796543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학습자의 수강</a:t>
            </a:r>
            <a:endParaRPr lang="en-US" sz="1350"/>
          </a:p>
        </p:txBody>
      </p:sp>
      <p:sp>
        <p:nvSpPr>
          <p:cNvPr id="46" name="Text 9"/>
          <p:cNvSpPr/>
          <p:nvPr/>
        </p:nvSpPr>
        <p:spPr>
          <a:xfrm>
            <a:off x="36195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목록 확인</a:t>
            </a:r>
            <a:endParaRPr lang="en-US" sz="1050"/>
          </a:p>
        </p:txBody>
      </p:sp>
      <p:sp>
        <p:nvSpPr>
          <p:cNvPr id="47" name="Text 10"/>
          <p:cNvSpPr/>
          <p:nvPr/>
        </p:nvSpPr>
        <p:spPr>
          <a:xfrm>
            <a:off x="36195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수강 신청</a:t>
            </a:r>
            <a:endParaRPr lang="en-US" sz="1050"/>
          </a:p>
        </p:txBody>
      </p:sp>
      <p:sp>
        <p:nvSpPr>
          <p:cNvPr id="48" name="Text 11"/>
          <p:cNvSpPr/>
          <p:nvPr/>
        </p:nvSpPr>
        <p:spPr>
          <a:xfrm>
            <a:off x="36195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강의 내용 보기</a:t>
            </a:r>
            <a:endParaRPr lang="en-US" sz="1050"/>
          </a:p>
        </p:txBody>
      </p:sp>
      <p:sp>
        <p:nvSpPr>
          <p:cNvPr id="49" name="Text 12"/>
          <p:cNvSpPr/>
          <p:nvPr/>
        </p:nvSpPr>
        <p:spPr>
          <a:xfrm>
            <a:off x="36195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노트 작성</a:t>
            </a:r>
            <a:endParaRPr lang="en-US" sz="1050"/>
          </a:p>
        </p:txBody>
      </p:sp>
      <p:sp>
        <p:nvSpPr>
          <p:cNvPr id="50" name="Text 13"/>
          <p:cNvSpPr/>
          <p:nvPr/>
        </p:nvSpPr>
        <p:spPr>
          <a:xfrm>
            <a:off x="7160731" y="2796543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과제 제출</a:t>
            </a:r>
            <a:endParaRPr lang="en-US" sz="1350"/>
          </a:p>
        </p:txBody>
      </p:sp>
      <p:sp>
        <p:nvSpPr>
          <p:cNvPr id="51" name="Text 14"/>
          <p:cNvSpPr/>
          <p:nvPr/>
        </p:nvSpPr>
        <p:spPr>
          <a:xfrm>
            <a:off x="66294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과제 받기</a:t>
            </a:r>
            <a:endParaRPr lang="en-US" sz="1050"/>
          </a:p>
        </p:txBody>
      </p:sp>
      <p:sp>
        <p:nvSpPr>
          <p:cNvPr id="52" name="Text 15"/>
          <p:cNvSpPr/>
          <p:nvPr/>
        </p:nvSpPr>
        <p:spPr>
          <a:xfrm>
            <a:off x="66294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답안 작성</a:t>
            </a:r>
            <a:endParaRPr lang="en-US" sz="1050"/>
          </a:p>
        </p:txBody>
      </p:sp>
      <p:sp>
        <p:nvSpPr>
          <p:cNvPr id="53" name="Text 16"/>
          <p:cNvSpPr/>
          <p:nvPr/>
        </p:nvSpPr>
        <p:spPr>
          <a:xfrm>
            <a:off x="66294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파일 첨부</a:t>
            </a:r>
            <a:endParaRPr lang="en-US" sz="1050"/>
          </a:p>
        </p:txBody>
      </p:sp>
      <p:sp>
        <p:nvSpPr>
          <p:cNvPr id="54" name="Text 17"/>
          <p:cNvSpPr/>
          <p:nvPr/>
        </p:nvSpPr>
        <p:spPr>
          <a:xfrm>
            <a:off x="66294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제출하기</a:t>
            </a:r>
            <a:endParaRPr lang="en-US" sz="1050"/>
          </a:p>
        </p:txBody>
      </p:sp>
      <p:sp>
        <p:nvSpPr>
          <p:cNvPr id="55" name="Text 18"/>
          <p:cNvSpPr/>
          <p:nvPr/>
        </p:nvSpPr>
        <p:spPr>
          <a:xfrm>
            <a:off x="9862021" y="2796543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교수자의 피드백</a:t>
            </a:r>
            <a:endParaRPr lang="en-US" sz="1350"/>
          </a:p>
        </p:txBody>
      </p:sp>
      <p:sp>
        <p:nvSpPr>
          <p:cNvPr id="56" name="Text 19"/>
          <p:cNvSpPr/>
          <p:nvPr/>
        </p:nvSpPr>
        <p:spPr>
          <a:xfrm>
            <a:off x="96393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답안 확인</a:t>
            </a:r>
            <a:endParaRPr lang="en-US" sz="1050"/>
          </a:p>
        </p:txBody>
      </p:sp>
      <p:sp>
        <p:nvSpPr>
          <p:cNvPr id="57" name="Text 20"/>
          <p:cNvSpPr/>
          <p:nvPr/>
        </p:nvSpPr>
        <p:spPr>
          <a:xfrm>
            <a:off x="96393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평가</a:t>
            </a:r>
            <a:endParaRPr lang="en-US" sz="1050"/>
          </a:p>
        </p:txBody>
      </p:sp>
      <p:sp>
        <p:nvSpPr>
          <p:cNvPr id="58" name="Text 21"/>
          <p:cNvSpPr/>
          <p:nvPr/>
        </p:nvSpPr>
        <p:spPr>
          <a:xfrm>
            <a:off x="96393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개별 피드백 제공</a:t>
            </a:r>
            <a:endParaRPr lang="en-US" sz="1050"/>
          </a:p>
        </p:txBody>
      </p:sp>
      <p:sp>
        <p:nvSpPr>
          <p:cNvPr id="59" name="Text 22"/>
          <p:cNvSpPr/>
          <p:nvPr/>
        </p:nvSpPr>
        <p:spPr>
          <a:xfrm>
            <a:off x="96393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성적 관리</a:t>
            </a:r>
            <a:endParaRPr lang="en-US" sz="1050"/>
          </a:p>
        </p:txBody>
      </p:sp>
      <p:sp>
        <p:nvSpPr>
          <p:cNvPr id="60" name="Text 23"/>
          <p:cNvSpPr/>
          <p:nvPr/>
        </p:nvSpPr>
        <p:spPr>
          <a:xfrm>
            <a:off x="571500" y="5006343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시연 특징</a:t>
            </a:r>
            <a:endParaRPr lang="en-US" sz="1200"/>
          </a:p>
        </p:txBody>
      </p:sp>
      <p:sp>
        <p:nvSpPr>
          <p:cNvPr id="61" name="Text 24"/>
          <p:cNvSpPr/>
          <p:nvPr/>
        </p:nvSpPr>
        <p:spPr>
          <a:xfrm>
            <a:off x="990600" y="5543899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실제로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실행되는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시스템을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통해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모든</a:t>
            </a:r>
            <a:r>
              <a:rPr lang="en-US" sz="90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기능의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연속성을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보여줍니다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sp>
        <p:nvSpPr>
          <p:cNvPr id="62" name="Text 25"/>
          <p:cNvSpPr/>
          <p:nvPr/>
        </p:nvSpPr>
        <p:spPr>
          <a:xfrm>
            <a:off x="4856886" y="5543899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다양한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사용자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역할의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동시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작동을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통해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시스템의</a:t>
            </a:r>
            <a:r>
              <a:rPr lang="en-US" sz="90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인터랙션을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설명합니다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sp>
        <p:nvSpPr>
          <p:cNvPr id="63" name="Text 26"/>
          <p:cNvSpPr/>
          <p:nvPr/>
        </p:nvSpPr>
        <p:spPr>
          <a:xfrm>
            <a:off x="8712101" y="5539743"/>
            <a:ext cx="29845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시스템의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반응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시간과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성능을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실시간으로</a:t>
            </a:r>
            <a:r>
              <a:rPr lang="en-US" sz="90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측정하여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최적화된</a:t>
            </a:r>
            <a:r>
              <a:rPr lang="en-US" sz="900" dirty="0" smtClean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결과를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제공합니다</a:t>
            </a:r>
            <a:r>
              <a:rPr lang="en-US" sz="9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900" dirty="0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3200400" y="2275266"/>
            <a:ext cx="3426230" cy="2628900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6169430" y="2275266"/>
            <a:ext cx="3426230" cy="262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131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840966"/>
            <a:ext cx="5753100" cy="2914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993366"/>
            <a:ext cx="54483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993366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85775" y="1050516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1602966"/>
            <a:ext cx="54483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1717266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61975" y="1793466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2326866"/>
            <a:ext cx="54483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2441166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52450" y="2517366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050766"/>
            <a:ext cx="54483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3165066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90550" y="3241266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4003266"/>
            <a:ext cx="54483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42900" y="4003266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66725" y="4060416"/>
            <a:ext cx="1333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4631916"/>
            <a:ext cx="54483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4746216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571500" y="4822416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5355816"/>
            <a:ext cx="54483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5470116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581025" y="5546316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81000" y="6079716"/>
            <a:ext cx="54483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95300" y="6194016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571500" y="6270216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362700" y="993366"/>
            <a:ext cx="544830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6362700" y="993366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6457950" y="1050516"/>
            <a:ext cx="19050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1602966"/>
            <a:ext cx="2647950" cy="1524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7419975" y="1755366"/>
            <a:ext cx="533400" cy="533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7577138" y="1888716"/>
            <a:ext cx="219075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1602966"/>
            <a:ext cx="2647950" cy="1524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10220325" y="1755366"/>
            <a:ext cx="533400" cy="533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10415588" y="1888716"/>
            <a:ext cx="142875" cy="2667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3279366"/>
            <a:ext cx="2647950" cy="1524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7419975" y="3431766"/>
            <a:ext cx="533400" cy="533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7591425" y="3565116"/>
            <a:ext cx="190500" cy="266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3279366"/>
            <a:ext cx="2647950" cy="1524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10220325" y="3431766"/>
            <a:ext cx="533400" cy="533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10391775" y="3565116"/>
            <a:ext cx="190500" cy="2667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4955766"/>
            <a:ext cx="2647950" cy="15240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7419975" y="5108166"/>
            <a:ext cx="533400" cy="533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91425" y="5241516"/>
            <a:ext cx="190500" cy="2667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4955766"/>
            <a:ext cx="2647950" cy="15240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10220325" y="5108166"/>
            <a:ext cx="533400" cy="533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10367963" y="5241516"/>
            <a:ext cx="238125" cy="266700"/>
          </a:xfrm>
          <a:prstGeom prst="rect">
            <a:avLst/>
          </a:prstGeom>
        </p:spPr>
      </p:pic>
      <p:sp>
        <p:nvSpPr>
          <p:cNvPr id="57" name="Text 0"/>
          <p:cNvSpPr/>
          <p:nvPr/>
        </p:nvSpPr>
        <p:spPr>
          <a:xfrm>
            <a:off x="228600" y="228600"/>
            <a:ext cx="33986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문제 해결 과정 및 향후 계획</a:t>
            </a:r>
            <a:endParaRPr lang="en-US" sz="1800"/>
          </a:p>
        </p:txBody>
      </p:sp>
      <p:sp>
        <p:nvSpPr>
          <p:cNvPr id="5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 </a:t>
            </a:r>
            <a:r>
              <a:rPr lang="ko-KR" alt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플렛폼</a:t>
            </a:r>
            <a:r>
              <a:rPr lang="en-US" sz="105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개발 과정에서 직면한 주요 문제와 해결 방안, 그리고 미래 발전 방향</a:t>
            </a:r>
          </a:p>
        </p:txBody>
      </p:sp>
      <p:sp>
        <p:nvSpPr>
          <p:cNvPr id="59" name="Text 2"/>
          <p:cNvSpPr/>
          <p:nvPr/>
        </p:nvSpPr>
        <p:spPr>
          <a:xfrm>
            <a:off x="876300" y="1050516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발생한 문제</a:t>
            </a:r>
            <a:endParaRPr lang="en-US" sz="1350"/>
          </a:p>
        </p:txBody>
      </p:sp>
      <p:sp>
        <p:nvSpPr>
          <p:cNvPr id="60" name="Text 3"/>
          <p:cNvSpPr/>
          <p:nvPr/>
        </p:nvSpPr>
        <p:spPr>
          <a:xfrm>
            <a:off x="914400" y="1717266"/>
            <a:ext cx="27356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대용량 비디오 스트리밍 문제</a:t>
            </a:r>
            <a:endParaRPr lang="en-US" sz="1050"/>
          </a:p>
        </p:txBody>
      </p:sp>
      <p:sp>
        <p:nvSpPr>
          <p:cNvPr id="61" name="Text 4"/>
          <p:cNvSpPr/>
          <p:nvPr/>
        </p:nvSpPr>
        <p:spPr>
          <a:xfrm>
            <a:off x="914400" y="1945866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고해상도 강의 영상 버퍼링 및 로드 지연 발생</a:t>
            </a:r>
            <a:endParaRPr lang="en-US" sz="900"/>
          </a:p>
        </p:txBody>
      </p:sp>
      <p:sp>
        <p:nvSpPr>
          <p:cNvPr id="62" name="Text 5"/>
          <p:cNvSpPr/>
          <p:nvPr/>
        </p:nvSpPr>
        <p:spPr>
          <a:xfrm>
            <a:off x="914400" y="2441166"/>
            <a:ext cx="2381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동시 접속자 수 증가</a:t>
            </a:r>
            <a:endParaRPr lang="en-US" sz="1050"/>
          </a:p>
        </p:txBody>
      </p:sp>
      <p:sp>
        <p:nvSpPr>
          <p:cNvPr id="63" name="Text 6"/>
          <p:cNvSpPr/>
          <p:nvPr/>
        </p:nvSpPr>
        <p:spPr>
          <a:xfrm>
            <a:off x="914400" y="2669766"/>
            <a:ext cx="28576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과부하로 인한 API 응답 지연 및 서버 성능 저하</a:t>
            </a:r>
            <a:endParaRPr lang="en-US" sz="900"/>
          </a:p>
        </p:txBody>
      </p:sp>
      <p:sp>
        <p:nvSpPr>
          <p:cNvPr id="64" name="Text 7"/>
          <p:cNvSpPr/>
          <p:nvPr/>
        </p:nvSpPr>
        <p:spPr>
          <a:xfrm>
            <a:off x="914400" y="3165066"/>
            <a:ext cx="275105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다양한 디바이스 호환성 문제</a:t>
            </a:r>
            <a:endParaRPr lang="en-US" sz="1050"/>
          </a:p>
        </p:txBody>
      </p:sp>
      <p:sp>
        <p:nvSpPr>
          <p:cNvPr id="65" name="Text 8"/>
          <p:cNvSpPr/>
          <p:nvPr/>
        </p:nvSpPr>
        <p:spPr>
          <a:xfrm>
            <a:off x="914400" y="3393666"/>
            <a:ext cx="2751058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모바일 및 태블릿에서 최적화되지 않은 UI/UX</a:t>
            </a:r>
            <a:endParaRPr lang="en-US" sz="900"/>
          </a:p>
        </p:txBody>
      </p:sp>
      <p:sp>
        <p:nvSpPr>
          <p:cNvPr id="66" name="Text 9"/>
          <p:cNvSpPr/>
          <p:nvPr/>
        </p:nvSpPr>
        <p:spPr>
          <a:xfrm>
            <a:off x="838200" y="4060416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해결 방법</a:t>
            </a:r>
            <a:endParaRPr lang="en-US" sz="1350"/>
          </a:p>
        </p:txBody>
      </p:sp>
      <p:sp>
        <p:nvSpPr>
          <p:cNvPr id="67" name="Text 10"/>
          <p:cNvSpPr/>
          <p:nvPr/>
        </p:nvSpPr>
        <p:spPr>
          <a:xfrm>
            <a:off x="914400" y="4746216"/>
            <a:ext cx="33084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HLS 프로토콜 도입</a:t>
            </a:r>
            <a:endParaRPr lang="en-US" sz="1050"/>
          </a:p>
        </p:txBody>
      </p:sp>
      <p:sp>
        <p:nvSpPr>
          <p:cNvPr id="68" name="Text 11"/>
          <p:cNvSpPr/>
          <p:nvPr/>
        </p:nvSpPr>
        <p:spPr>
          <a:xfrm>
            <a:off x="914400" y="4974816"/>
            <a:ext cx="3970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적응형 비트레이트 스트리밍으로 네트워크 환경에 맞는 품질 제공</a:t>
            </a:r>
            <a:endParaRPr lang="en-US" sz="900"/>
          </a:p>
        </p:txBody>
      </p:sp>
      <p:sp>
        <p:nvSpPr>
          <p:cNvPr id="69" name="Text 12"/>
          <p:cNvSpPr/>
          <p:nvPr/>
        </p:nvSpPr>
        <p:spPr>
          <a:xfrm>
            <a:off x="914400" y="5470116"/>
            <a:ext cx="312449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API 응답 캐싱 및 로드 밸런싱</a:t>
            </a:r>
            <a:endParaRPr lang="en-US" sz="1050"/>
          </a:p>
        </p:txBody>
      </p:sp>
      <p:sp>
        <p:nvSpPr>
          <p:cNvPr id="70" name="Text 13"/>
          <p:cNvSpPr/>
          <p:nvPr/>
        </p:nvSpPr>
        <p:spPr>
          <a:xfrm>
            <a:off x="914400" y="5698716"/>
            <a:ext cx="3749397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Redis 캐시 적용과 서버 부하 분산 처리를 통한 응답 속도 개선</a:t>
            </a:r>
            <a:endParaRPr lang="en-US" sz="900"/>
          </a:p>
        </p:txBody>
      </p:sp>
      <p:sp>
        <p:nvSpPr>
          <p:cNvPr id="71" name="Text 14"/>
          <p:cNvSpPr/>
          <p:nvPr/>
        </p:nvSpPr>
        <p:spPr>
          <a:xfrm>
            <a:off x="914400" y="6194016"/>
            <a:ext cx="29972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쿼리 최적화 및 DB 인덱싱</a:t>
            </a:r>
            <a:endParaRPr lang="en-US" sz="1050"/>
          </a:p>
        </p:txBody>
      </p:sp>
      <p:sp>
        <p:nvSpPr>
          <p:cNvPr id="72" name="Text 15"/>
          <p:cNvSpPr/>
          <p:nvPr/>
        </p:nvSpPr>
        <p:spPr>
          <a:xfrm>
            <a:off x="914400" y="6422616"/>
            <a:ext cx="35967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데이터베이스 쿼리 재설계 및 인덱스 개선을 통한 성능 향상</a:t>
            </a:r>
            <a:endParaRPr lang="en-US" sz="900"/>
          </a:p>
        </p:txBody>
      </p:sp>
      <p:sp>
        <p:nvSpPr>
          <p:cNvPr id="75" name="Text 18"/>
          <p:cNvSpPr/>
          <p:nvPr/>
        </p:nvSpPr>
        <p:spPr>
          <a:xfrm>
            <a:off x="6858000" y="1050516"/>
            <a:ext cx="134891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향후 개선 계획</a:t>
            </a:r>
            <a:endParaRPr lang="en-US" sz="1350"/>
          </a:p>
        </p:txBody>
      </p:sp>
      <p:sp>
        <p:nvSpPr>
          <p:cNvPr id="76" name="Text 19"/>
          <p:cNvSpPr/>
          <p:nvPr/>
        </p:nvSpPr>
        <p:spPr>
          <a:xfrm>
            <a:off x="7082135" y="2403066"/>
            <a:ext cx="120908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실시간 화상 강의</a:t>
            </a:r>
            <a:endParaRPr lang="en-US" sz="1050"/>
          </a:p>
        </p:txBody>
      </p:sp>
      <p:sp>
        <p:nvSpPr>
          <p:cNvPr id="77" name="Text 20"/>
          <p:cNvSpPr/>
          <p:nvPr/>
        </p:nvSpPr>
        <p:spPr>
          <a:xfrm>
            <a:off x="6515100" y="26697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교수자와 학습자간 실시간 인터랙션을 위한 비디오 채팅 기능</a:t>
            </a:r>
            <a:endParaRPr lang="en-US" sz="900"/>
          </a:p>
        </p:txBody>
      </p:sp>
      <p:sp>
        <p:nvSpPr>
          <p:cNvPr id="78" name="Text 21"/>
          <p:cNvSpPr/>
          <p:nvPr/>
        </p:nvSpPr>
        <p:spPr>
          <a:xfrm>
            <a:off x="9744626" y="2403066"/>
            <a:ext cx="1484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모바일 애플리케이션</a:t>
            </a:r>
            <a:endParaRPr lang="en-US" sz="1050"/>
          </a:p>
        </p:txBody>
      </p:sp>
      <p:sp>
        <p:nvSpPr>
          <p:cNvPr id="79" name="Text 22"/>
          <p:cNvSpPr/>
          <p:nvPr/>
        </p:nvSpPr>
        <p:spPr>
          <a:xfrm>
            <a:off x="9315450" y="26697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언제 어디서나 학습 가능한 네이티브 모바일 앱 개발</a:t>
            </a:r>
            <a:endParaRPr lang="en-US" sz="900"/>
          </a:p>
        </p:txBody>
      </p:sp>
      <p:sp>
        <p:nvSpPr>
          <p:cNvPr id="80" name="Text 23"/>
          <p:cNvSpPr/>
          <p:nvPr/>
        </p:nvSpPr>
        <p:spPr>
          <a:xfrm>
            <a:off x="6979816" y="4079466"/>
            <a:ext cx="1413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기반 맞춤형 학습</a:t>
            </a:r>
            <a:endParaRPr lang="en-US" sz="1050"/>
          </a:p>
        </p:txBody>
      </p:sp>
      <p:sp>
        <p:nvSpPr>
          <p:cNvPr id="81" name="Text 24"/>
          <p:cNvSpPr/>
          <p:nvPr/>
        </p:nvSpPr>
        <p:spPr>
          <a:xfrm>
            <a:off x="6515100" y="43461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학생의 학습 데이터 분석으로 개인화된 학습 경로 추천</a:t>
            </a:r>
            <a:endParaRPr lang="en-US" sz="900"/>
          </a:p>
        </p:txBody>
      </p:sp>
      <p:sp>
        <p:nvSpPr>
          <p:cNvPr id="82" name="Text 25"/>
          <p:cNvSpPr/>
          <p:nvPr/>
        </p:nvSpPr>
        <p:spPr>
          <a:xfrm>
            <a:off x="9802475" y="4079466"/>
            <a:ext cx="13691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학습 분석 대시보드</a:t>
            </a:r>
            <a:endParaRPr lang="en-US" sz="1050"/>
          </a:p>
        </p:txBody>
      </p:sp>
      <p:sp>
        <p:nvSpPr>
          <p:cNvPr id="83" name="Text 26"/>
          <p:cNvSpPr/>
          <p:nvPr/>
        </p:nvSpPr>
        <p:spPr>
          <a:xfrm>
            <a:off x="9315450" y="43461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AI 알고리즘 기반 학습 데이터 분석과 실시간 피드백 제공</a:t>
            </a:r>
            <a:endParaRPr lang="en-US" sz="900"/>
          </a:p>
        </p:txBody>
      </p:sp>
      <p:sp>
        <p:nvSpPr>
          <p:cNvPr id="84" name="Text 27"/>
          <p:cNvSpPr/>
          <p:nvPr/>
        </p:nvSpPr>
        <p:spPr>
          <a:xfrm>
            <a:off x="7264316" y="5755866"/>
            <a:ext cx="844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다국어 지원</a:t>
            </a:r>
            <a:endParaRPr lang="en-US" sz="1050"/>
          </a:p>
        </p:txBody>
      </p:sp>
      <p:sp>
        <p:nvSpPr>
          <p:cNvPr id="85" name="Text 28"/>
          <p:cNvSpPr/>
          <p:nvPr/>
        </p:nvSpPr>
        <p:spPr>
          <a:xfrm>
            <a:off x="6515100" y="60225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국제화를 위한 다국어 인터페이스 및 자막 시스템 구현</a:t>
            </a:r>
            <a:endParaRPr lang="en-US" sz="900"/>
          </a:p>
        </p:txBody>
      </p:sp>
      <p:sp>
        <p:nvSpPr>
          <p:cNvPr id="86" name="Text 29"/>
          <p:cNvSpPr/>
          <p:nvPr/>
        </p:nvSpPr>
        <p:spPr>
          <a:xfrm>
            <a:off x="9962495" y="5755866"/>
            <a:ext cx="104906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협업 학습 도구</a:t>
            </a:r>
            <a:endParaRPr lang="en-US" sz="1050"/>
          </a:p>
        </p:txBody>
      </p:sp>
      <p:sp>
        <p:nvSpPr>
          <p:cNvPr id="87" name="Text 30"/>
          <p:cNvSpPr/>
          <p:nvPr/>
        </p:nvSpPr>
        <p:spPr>
          <a:xfrm>
            <a:off x="9315450" y="60225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실시간 문서 공동 편집 및 그룹 프로젝트 관리 기능</a:t>
            </a:r>
            <a:endParaRPr lang="en-US" sz="900"/>
          </a:p>
        </p:txBody>
      </p:sp>
      <p:pic>
        <p:nvPicPr>
          <p:cNvPr id="89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3879441"/>
            <a:ext cx="5753100" cy="2828925"/>
          </a:xfrm>
          <a:prstGeom prst="rect">
            <a:avLst/>
          </a:prstGeom>
        </p:spPr>
      </p:pic>
      <p:pic>
        <p:nvPicPr>
          <p:cNvPr id="88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186055" y="840966"/>
            <a:ext cx="5753100" cy="5848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95400" y="36195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486400" y="154305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38813" y="1866900"/>
            <a:ext cx="714375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5209" y="5753100"/>
            <a:ext cx="4561582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043809" y="58483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22860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질의응답</a:t>
            </a:r>
            <a:endParaRPr lang="en-US" sz="1800"/>
          </a:p>
        </p:txBody>
      </p:sp>
      <p:sp>
        <p:nvSpPr>
          <p:cNvPr id="21" name="Text 1"/>
          <p:cNvSpPr/>
          <p:nvPr/>
        </p:nvSpPr>
        <p:spPr>
          <a:xfrm>
            <a:off x="8915727" y="266700"/>
            <a:ext cx="3366136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ko-KR" altLang="en-US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강사와 학생의 소통 기반 </a:t>
            </a:r>
            <a:r>
              <a:rPr lang="en-US" altLang="ko-KR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LMS</a:t>
            </a:r>
            <a:r>
              <a:rPr lang="ko-KR" altLang="en-US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플렛폼</a:t>
            </a:r>
            <a:r>
              <a:rPr lang="en-US" sz="120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 프로젝트</a:t>
            </a:r>
          </a:p>
        </p:txBody>
      </p:sp>
      <p:sp>
        <p:nvSpPr>
          <p:cNvPr id="22" name="Text 2"/>
          <p:cNvSpPr/>
          <p:nvPr/>
        </p:nvSpPr>
        <p:spPr>
          <a:xfrm>
            <a:off x="3123754" y="2990850"/>
            <a:ext cx="5944344" cy="381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감사합니다!</a:t>
            </a:r>
            <a:endParaRPr lang="en-US" sz="2700"/>
          </a:p>
        </p:txBody>
      </p:sp>
      <p:sp>
        <p:nvSpPr>
          <p:cNvPr id="23" name="Text 3"/>
          <p:cNvSpPr/>
          <p:nvPr/>
        </p:nvSpPr>
        <p:spPr>
          <a:xfrm>
            <a:off x="3123754" y="3600450"/>
            <a:ext cx="5944344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이제 질문 시간입니다</a:t>
            </a:r>
            <a:endParaRPr lang="en-US" sz="1800"/>
          </a:p>
        </p:txBody>
      </p:sp>
      <p:sp>
        <p:nvSpPr>
          <p:cNvPr id="24" name="Text 4"/>
          <p:cNvSpPr/>
          <p:nvPr/>
        </p:nvSpPr>
        <p:spPr>
          <a:xfrm>
            <a:off x="2529319" y="4057650"/>
            <a:ext cx="7133213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LearnUp LMS 프로젝트에 대한 세부 사항이나 기능에 관한 질문을 환영합니다.</a:t>
            </a:r>
            <a:endParaRPr lang="en-US" sz="1350"/>
          </a:p>
        </p:txBody>
      </p:sp>
      <p:sp>
        <p:nvSpPr>
          <p:cNvPr id="28" name="Text 8"/>
          <p:cNvSpPr/>
          <p:nvPr/>
        </p:nvSpPr>
        <p:spPr>
          <a:xfrm>
            <a:off x="4310509" y="58293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질문 및 답변을 통해 프로젝트에 대한 더 많은 이해를 돕겠습니다.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1009</Words>
  <Application>Microsoft Office PowerPoint</Application>
  <PresentationFormat>와이드스크린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Noto Sans KR</vt:lpstr>
      <vt:lpstr>Noto Sans KR Medium</vt:lpstr>
      <vt:lpstr>ui-sans-serif</vt:lpstr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DW</cp:lastModifiedBy>
  <cp:revision>22</cp:revision>
  <dcterms:created xsi:type="dcterms:W3CDTF">2025-10-10T08:15:55Z</dcterms:created>
  <dcterms:modified xsi:type="dcterms:W3CDTF">2025-10-13T03:09:15Z</dcterms:modified>
  <cp:version>1000.0000.01</cp:version>
</cp:coreProperties>
</file>