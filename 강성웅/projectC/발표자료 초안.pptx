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68" r:id="rId2"/>
    <p:sldId id="269" r:id="rId3"/>
    <p:sldId id="270" r:id="rId4"/>
    <p:sldId id="271" r:id="rId5"/>
    <p:sldId id="257" r:id="rId6"/>
    <p:sldId id="272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73" r:id="rId15"/>
    <p:sldId id="274" r:id="rId16"/>
    <p:sldId id="275" r:id="rId17"/>
    <p:sldId id="276" r:id="rId18"/>
    <p:sldId id="277" r:id="rId19"/>
    <p:sldId id="265" r:id="rId20"/>
    <p:sldId id="266" r:id="rId21"/>
    <p:sldId id="26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D15F8-8FFE-4E94-B6D9-E8969003A9EF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D0932-B437-4339-9364-AB287F5A64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670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D15F8-8FFE-4E94-B6D9-E8969003A9EF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D0932-B437-4339-9364-AB287F5A64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682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D15F8-8FFE-4E94-B6D9-E8969003A9EF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D0932-B437-4339-9364-AB287F5A64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9332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D15F8-8FFE-4E94-B6D9-E8969003A9EF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D0932-B437-4339-9364-AB287F5A64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93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D15F8-8FFE-4E94-B6D9-E8969003A9EF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D0932-B437-4339-9364-AB287F5A64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4742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D15F8-8FFE-4E94-B6D9-E8969003A9EF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D0932-B437-4339-9364-AB287F5A64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9551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D15F8-8FFE-4E94-B6D9-E8969003A9EF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D0932-B437-4339-9364-AB287F5A64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452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D15F8-8FFE-4E94-B6D9-E8969003A9EF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D0932-B437-4339-9364-AB287F5A64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3696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D15F8-8FFE-4E94-B6D9-E8969003A9EF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D0932-B437-4339-9364-AB287F5A64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7044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D15F8-8FFE-4E94-B6D9-E8969003A9EF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D0932-B437-4339-9364-AB287F5A64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0895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D15F8-8FFE-4E94-B6D9-E8969003A9EF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D0932-B437-4339-9364-AB287F5A64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171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D15F8-8FFE-4E94-B6D9-E8969003A9EF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D0932-B437-4339-9364-AB287F5A64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6497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2" y="1105593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 err="1" smtClean="0">
                <a:solidFill>
                  <a:schemeClr val="accent2"/>
                </a:solidFill>
              </a:rPr>
              <a:t>MyLMS</a:t>
            </a:r>
            <a:endParaRPr lang="ko-KR" altLang="en-US" sz="4000" b="1" dirty="0">
              <a:solidFill>
                <a:schemeClr val="accent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73513" y="3000894"/>
            <a:ext cx="504497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 </a:t>
            </a:r>
            <a:r>
              <a:rPr lang="ko-KR" altLang="en-US" dirty="0" smtClean="0"/>
              <a:t>팀원 및 역할</a:t>
            </a:r>
            <a:endParaRPr lang="en-US" altLang="ko-KR" dirty="0" smtClean="0"/>
          </a:p>
          <a:p>
            <a:r>
              <a:rPr lang="ko-KR" altLang="en-US" dirty="0" smtClean="0"/>
              <a:t>  </a:t>
            </a:r>
            <a:r>
              <a:rPr lang="ko-KR" altLang="en-US" dirty="0" err="1" smtClean="0"/>
              <a:t>신재진</a:t>
            </a:r>
            <a:r>
              <a:rPr lang="en-US" altLang="ko-KR" dirty="0"/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팀장 및 </a:t>
            </a:r>
            <a:r>
              <a:rPr lang="en-US" altLang="ko-KR" dirty="0" smtClean="0"/>
              <a:t>DB </a:t>
            </a:r>
            <a:r>
              <a:rPr lang="ko-KR" altLang="en-US" dirty="0" smtClean="0"/>
              <a:t>설계 및 전체 자료 통합 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양동현</a:t>
            </a:r>
            <a:r>
              <a:rPr lang="en-US" altLang="ko-KR" dirty="0" smtClean="0"/>
              <a:t> : </a:t>
            </a:r>
            <a:r>
              <a:rPr lang="ko-KR" altLang="en-US" dirty="0" smtClean="0"/>
              <a:t>메인 홈페이지 </a:t>
            </a:r>
            <a:r>
              <a:rPr lang="ko-KR" altLang="en-US" dirty="0" err="1" smtClean="0"/>
              <a:t>프론트엔드</a:t>
            </a:r>
            <a:r>
              <a:rPr lang="ko-KR" altLang="en-US" dirty="0" smtClean="0"/>
              <a:t> 및 </a:t>
            </a:r>
            <a:r>
              <a:rPr lang="ko-KR" altLang="en-US" dirty="0" err="1" smtClean="0"/>
              <a:t>백엔드</a:t>
            </a:r>
            <a:endParaRPr lang="en-US" altLang="ko-KR" dirty="0" smtClean="0"/>
          </a:p>
          <a:p>
            <a:r>
              <a:rPr lang="en-US" altLang="ko-KR" dirty="0" smtClean="0"/>
              <a:t>  </a:t>
            </a:r>
            <a:r>
              <a:rPr lang="ko-KR" altLang="en-US" dirty="0" smtClean="0"/>
              <a:t>윤서연 </a:t>
            </a:r>
            <a:r>
              <a:rPr lang="en-US" altLang="ko-KR" dirty="0" smtClean="0"/>
              <a:t>: </a:t>
            </a:r>
            <a:r>
              <a:rPr lang="ko-KR" altLang="en-US" dirty="0" smtClean="0"/>
              <a:t>관리자 페이지 </a:t>
            </a:r>
            <a:r>
              <a:rPr lang="ko-KR" altLang="en-US" dirty="0" err="1" smtClean="0"/>
              <a:t>프론트엔드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이민우 </a:t>
            </a:r>
            <a:r>
              <a:rPr lang="en-US" altLang="ko-KR" dirty="0" smtClean="0"/>
              <a:t>: </a:t>
            </a:r>
            <a:r>
              <a:rPr lang="ko-KR" altLang="en-US" dirty="0" smtClean="0"/>
              <a:t>관리자 페이지 </a:t>
            </a:r>
            <a:r>
              <a:rPr lang="ko-KR" altLang="en-US" dirty="0" err="1" smtClean="0"/>
              <a:t>백엔드</a:t>
            </a:r>
            <a:endParaRPr lang="en-US" altLang="ko-KR" dirty="0" smtClean="0"/>
          </a:p>
          <a:p>
            <a:r>
              <a:rPr lang="en-US" altLang="ko-KR" dirty="0" smtClean="0"/>
              <a:t>  </a:t>
            </a:r>
            <a:r>
              <a:rPr lang="ko-KR" altLang="en-US" dirty="0" err="1" smtClean="0"/>
              <a:t>강성웅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메인 홈페이지 </a:t>
            </a:r>
            <a:r>
              <a:rPr lang="ko-KR" altLang="en-US" dirty="0" err="1" smtClean="0"/>
              <a:t>백엔드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5181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05593" y="1005839"/>
            <a:ext cx="4630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 smtClean="0"/>
              <a:t>개발 배경 및 목표</a:t>
            </a:r>
            <a:endParaRPr lang="ko-KR" altLang="en-US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1546167" y="2261062"/>
            <a:ext cx="6085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배경 </a:t>
            </a:r>
            <a:r>
              <a:rPr lang="en-US" altLang="ko-KR" dirty="0" smtClean="0"/>
              <a:t>: </a:t>
            </a:r>
            <a:r>
              <a:rPr lang="ko-KR" altLang="en-US" dirty="0" smtClean="0"/>
              <a:t>기존 교육 시스템의 한계점 및 비대면 교육 수요 증가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546167" y="2630394"/>
            <a:ext cx="896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목표 </a:t>
            </a:r>
            <a:r>
              <a:rPr lang="en-US" altLang="ko-KR" dirty="0" smtClean="0"/>
              <a:t>: </a:t>
            </a:r>
            <a:r>
              <a:rPr lang="ko-KR" altLang="en-US" dirty="0"/>
              <a:t>사용자 중심의 직관적인 </a:t>
            </a:r>
            <a:r>
              <a:rPr lang="en-US" altLang="ko-KR" dirty="0"/>
              <a:t>UI/UX</a:t>
            </a:r>
            <a:r>
              <a:rPr lang="ko-KR" altLang="en-US" dirty="0"/>
              <a:t>를 갖춘 효율적인 온라인 학습 관리 플랫폼 구축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5493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3644" y="289289"/>
            <a:ext cx="41216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 smtClean="0"/>
              <a:t>개발 일정 및 관리</a:t>
            </a:r>
            <a:endParaRPr lang="ko-KR" altLang="en-US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1138844" y="3696456"/>
            <a:ext cx="711605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1</a:t>
            </a:r>
            <a:r>
              <a:rPr lang="ko-KR" altLang="en-US" b="1" dirty="0"/>
              <a:t>단계 </a:t>
            </a:r>
            <a:r>
              <a:rPr lang="en-US" altLang="ko-KR" b="1" dirty="0"/>
              <a:t>(</a:t>
            </a:r>
            <a:r>
              <a:rPr lang="ko-KR" altLang="en-US" b="1" dirty="0"/>
              <a:t>기획 및 설계</a:t>
            </a:r>
            <a:r>
              <a:rPr lang="en-US" altLang="ko-KR" b="1" dirty="0"/>
              <a:t>):</a:t>
            </a:r>
            <a:r>
              <a:rPr lang="ko-KR" altLang="en-US" dirty="0"/>
              <a:t> 요구사항 분석</a:t>
            </a:r>
            <a:r>
              <a:rPr lang="en-US" altLang="ko-KR" dirty="0"/>
              <a:t>, UI/UX </a:t>
            </a:r>
            <a:r>
              <a:rPr lang="ko-KR" altLang="en-US" dirty="0"/>
              <a:t>설계</a:t>
            </a:r>
            <a:r>
              <a:rPr lang="en-US" altLang="ko-KR" dirty="0"/>
              <a:t>, </a:t>
            </a:r>
            <a:r>
              <a:rPr lang="ko-KR" altLang="en-US" dirty="0"/>
              <a:t>아키텍처 및 </a:t>
            </a:r>
            <a:r>
              <a:rPr lang="en-US" altLang="ko-KR" dirty="0"/>
              <a:t>DB </a:t>
            </a:r>
            <a:r>
              <a:rPr lang="ko-KR" altLang="en-US" dirty="0" smtClean="0"/>
              <a:t>설계</a:t>
            </a:r>
            <a:endParaRPr lang="en-US" altLang="ko-KR" dirty="0"/>
          </a:p>
          <a:p>
            <a:r>
              <a:rPr lang="en-US" altLang="ko-KR" b="1" dirty="0"/>
              <a:t>2</a:t>
            </a:r>
            <a:r>
              <a:rPr lang="ko-KR" altLang="en-US" b="1" dirty="0"/>
              <a:t>단계 </a:t>
            </a:r>
            <a:r>
              <a:rPr lang="en-US" altLang="ko-KR" b="1" dirty="0"/>
              <a:t>(</a:t>
            </a:r>
            <a:r>
              <a:rPr lang="ko-KR" altLang="en-US" b="1" dirty="0"/>
              <a:t>개발</a:t>
            </a:r>
            <a:r>
              <a:rPr lang="en-US" altLang="ko-KR" b="1" dirty="0" smtClean="0"/>
              <a:t>) </a:t>
            </a:r>
          </a:p>
          <a:p>
            <a:r>
              <a:rPr lang="en-US" altLang="ko-KR" b="1" dirty="0"/>
              <a:t>	</a:t>
            </a:r>
            <a:r>
              <a:rPr lang="en-US" altLang="ko-KR" b="1" dirty="0" smtClean="0"/>
              <a:t>*</a:t>
            </a:r>
            <a:r>
              <a:rPr lang="ko-KR" altLang="en-US" b="1" dirty="0" err="1" smtClean="0"/>
              <a:t>백엔드</a:t>
            </a:r>
            <a:r>
              <a:rPr lang="en-US" altLang="ko-KR" b="1" dirty="0" smtClean="0"/>
              <a:t>: </a:t>
            </a:r>
            <a:r>
              <a:rPr lang="ko-KR" altLang="en-US" dirty="0" smtClean="0"/>
              <a:t>핵심 </a:t>
            </a:r>
            <a:r>
              <a:rPr lang="en-US" altLang="ko-KR" dirty="0" smtClean="0"/>
              <a:t>API </a:t>
            </a:r>
            <a:r>
              <a:rPr lang="ko-KR" altLang="en-US" dirty="0" smtClean="0"/>
              <a:t>개발</a:t>
            </a:r>
            <a:r>
              <a:rPr lang="en-US" altLang="ko-KR" dirty="0" smtClean="0"/>
              <a:t>, DB </a:t>
            </a:r>
            <a:r>
              <a:rPr lang="ko-KR" altLang="en-US" dirty="0" smtClean="0"/>
              <a:t>구축</a:t>
            </a:r>
            <a:endParaRPr lang="en-US" altLang="ko-KR" dirty="0" smtClean="0"/>
          </a:p>
          <a:p>
            <a:r>
              <a:rPr lang="en-US" altLang="ko-KR" dirty="0"/>
              <a:t>	</a:t>
            </a:r>
            <a:r>
              <a:rPr lang="en-US" altLang="ko-KR" dirty="0" smtClean="0"/>
              <a:t>*</a:t>
            </a:r>
            <a:r>
              <a:rPr lang="ko-KR" altLang="en-US" b="1" dirty="0" err="1" smtClean="0"/>
              <a:t>프론트엔드</a:t>
            </a:r>
            <a:r>
              <a:rPr lang="en-US" altLang="ko-KR" b="1" dirty="0" smtClean="0"/>
              <a:t>: </a:t>
            </a:r>
            <a:r>
              <a:rPr lang="en-US" altLang="ko-KR" dirty="0"/>
              <a:t>UI </a:t>
            </a:r>
            <a:r>
              <a:rPr lang="ko-KR" altLang="en-US" dirty="0"/>
              <a:t>컴포넌트 개발</a:t>
            </a:r>
            <a:r>
              <a:rPr lang="en-US" altLang="ko-KR" dirty="0"/>
              <a:t>, API </a:t>
            </a:r>
            <a:r>
              <a:rPr lang="ko-KR" altLang="en-US" dirty="0" smtClean="0"/>
              <a:t>연동</a:t>
            </a:r>
            <a:endParaRPr lang="en-US" altLang="ko-KR" dirty="0"/>
          </a:p>
          <a:p>
            <a:r>
              <a:rPr lang="en-US" altLang="ko-KR" b="1" dirty="0"/>
              <a:t>3</a:t>
            </a:r>
            <a:r>
              <a:rPr lang="ko-KR" altLang="en-US" b="1" dirty="0"/>
              <a:t>단계 </a:t>
            </a:r>
            <a:r>
              <a:rPr lang="en-US" altLang="ko-KR" b="1" dirty="0"/>
              <a:t>(</a:t>
            </a:r>
            <a:r>
              <a:rPr lang="ko-KR" altLang="en-US" b="1" dirty="0"/>
              <a:t>테스트 및 </a:t>
            </a:r>
            <a:r>
              <a:rPr lang="en-US" altLang="ko-KR" b="1" dirty="0"/>
              <a:t>QA):</a:t>
            </a:r>
            <a:r>
              <a:rPr lang="ko-KR" altLang="en-US" dirty="0"/>
              <a:t> 단위</a:t>
            </a:r>
            <a:r>
              <a:rPr lang="en-US" altLang="ko-KR" dirty="0"/>
              <a:t>/</a:t>
            </a:r>
            <a:r>
              <a:rPr lang="ko-KR" altLang="en-US" dirty="0"/>
              <a:t>통합 테스트</a:t>
            </a:r>
            <a:r>
              <a:rPr lang="en-US" altLang="ko-KR" dirty="0"/>
              <a:t>, </a:t>
            </a:r>
            <a:r>
              <a:rPr lang="ko-KR" altLang="en-US" dirty="0"/>
              <a:t>버그 </a:t>
            </a:r>
            <a:r>
              <a:rPr lang="ko-KR" altLang="en-US" dirty="0" smtClean="0"/>
              <a:t>수정</a:t>
            </a:r>
            <a:endParaRPr lang="en-US" altLang="ko-KR" dirty="0" smtClean="0"/>
          </a:p>
          <a:p>
            <a:r>
              <a:rPr lang="en-US" altLang="ko-KR" b="1" dirty="0"/>
              <a:t>4</a:t>
            </a:r>
            <a:r>
              <a:rPr lang="ko-KR" altLang="en-US" b="1" dirty="0"/>
              <a:t>단계 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안정화</a:t>
            </a:r>
            <a:r>
              <a:rPr lang="en-US" altLang="ko-KR" b="1" dirty="0"/>
              <a:t>):</a:t>
            </a:r>
            <a:r>
              <a:rPr lang="ko-KR" altLang="en-US" dirty="0"/>
              <a:t> </a:t>
            </a:r>
            <a:r>
              <a:rPr lang="ko-KR" altLang="en-US" dirty="0" smtClean="0"/>
              <a:t>최종 </a:t>
            </a:r>
            <a:r>
              <a:rPr lang="ko-KR" altLang="en-US" dirty="0"/>
              <a:t>점검 및 발표 준비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844" y="1730350"/>
            <a:ext cx="9004223" cy="20023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8844" y="1268685"/>
            <a:ext cx="27847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/>
              <a:t>프로젝트 전체 일정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316192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38844" y="1268685"/>
            <a:ext cx="1484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/>
              <a:t>협업 도구</a:t>
            </a:r>
            <a:endParaRPr lang="ko-KR" altLang="en-US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138844" y="1730350"/>
            <a:ext cx="11785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err="1" smtClean="0"/>
              <a:t>Github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993748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9382" y="586645"/>
            <a:ext cx="100500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*</a:t>
            </a:r>
            <a:r>
              <a:rPr lang="ko-KR" altLang="en-US" dirty="0" smtClean="0"/>
              <a:t>강사 로그인시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나의 강의실</a:t>
            </a:r>
            <a:r>
              <a:rPr lang="en-US" altLang="ko-KR" dirty="0" smtClean="0"/>
              <a:t>- </a:t>
            </a:r>
            <a:r>
              <a:rPr lang="ko-KR" altLang="en-US" dirty="0" smtClean="0"/>
              <a:t>강의실 목록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82" y="1832018"/>
            <a:ext cx="6667885" cy="450138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400" y="2428854"/>
            <a:ext cx="2076740" cy="4096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7400" y="2059522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학생 리스트 </a:t>
            </a:r>
            <a:r>
              <a:rPr lang="ko-KR" altLang="en-US" dirty="0" err="1" smtClean="0"/>
              <a:t>클릭시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1497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82" y="1230899"/>
            <a:ext cx="3117589" cy="212916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2369" y="1230899"/>
            <a:ext cx="3111612" cy="2129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9383" y="307568"/>
            <a:ext cx="85541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강사 로그인시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나의 강의실</a:t>
            </a:r>
            <a:r>
              <a:rPr lang="en-US" altLang="ko-KR" dirty="0" smtClean="0"/>
              <a:t>- </a:t>
            </a:r>
            <a:r>
              <a:rPr lang="ko-KR" altLang="en-US" dirty="0" smtClean="0"/>
              <a:t>강의실 목록 수정 및 삭제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6949441" y="1271231"/>
            <a:ext cx="962249" cy="6007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249383" y="1349126"/>
            <a:ext cx="983476" cy="5063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5675" y="1230899"/>
            <a:ext cx="2334873" cy="2129164"/>
          </a:xfrm>
          <a:prstGeom prst="rect">
            <a:avLst/>
          </a:prstGeom>
        </p:spPr>
      </p:pic>
      <p:cxnSp>
        <p:nvCxnSpPr>
          <p:cNvPr id="8" name="직선 화살표 연결선 7"/>
          <p:cNvCxnSpPr>
            <a:stCxn id="2" idx="3"/>
            <a:endCxn id="7" idx="1"/>
          </p:cNvCxnSpPr>
          <p:nvPr/>
        </p:nvCxnSpPr>
        <p:spPr>
          <a:xfrm>
            <a:off x="3366971" y="2295481"/>
            <a:ext cx="65870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/>
          <p:cNvSpPr/>
          <p:nvPr/>
        </p:nvSpPr>
        <p:spPr>
          <a:xfrm>
            <a:off x="390698" y="1553250"/>
            <a:ext cx="155659" cy="15954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7065250" y="1553249"/>
            <a:ext cx="156142" cy="15954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/>
          <p:cNvCxnSpPr>
            <a:stCxn id="7" idx="3"/>
            <a:endCxn id="3" idx="1"/>
          </p:cNvCxnSpPr>
          <p:nvPr/>
        </p:nvCxnSpPr>
        <p:spPr>
          <a:xfrm>
            <a:off x="6360548" y="2295481"/>
            <a:ext cx="52182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82" y="4382549"/>
            <a:ext cx="2865524" cy="1955464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0993" y="4382549"/>
            <a:ext cx="2695720" cy="1955464"/>
          </a:xfrm>
          <a:prstGeom prst="rect">
            <a:avLst/>
          </a:prstGeom>
        </p:spPr>
      </p:pic>
      <p:cxnSp>
        <p:nvCxnSpPr>
          <p:cNvPr id="14" name="직선 화살표 연결선 13"/>
          <p:cNvCxnSpPr>
            <a:stCxn id="12" idx="3"/>
            <a:endCxn id="13" idx="1"/>
          </p:cNvCxnSpPr>
          <p:nvPr/>
        </p:nvCxnSpPr>
        <p:spPr>
          <a:xfrm>
            <a:off x="3114906" y="5360281"/>
            <a:ext cx="425608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025674" y="4937020"/>
            <a:ext cx="2334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456456 </a:t>
            </a:r>
            <a:r>
              <a:rPr lang="ko-KR" altLang="en-US" dirty="0" smtClean="0"/>
              <a:t>강의 삭제 됨</a:t>
            </a:r>
            <a:endParaRPr lang="ko-KR" altLang="en-US" dirty="0"/>
          </a:p>
        </p:txBody>
      </p:sp>
      <p:cxnSp>
        <p:nvCxnSpPr>
          <p:cNvPr id="16" name="꺾인 연결선 15"/>
          <p:cNvCxnSpPr>
            <a:stCxn id="2" idx="2"/>
            <a:endCxn id="3" idx="2"/>
          </p:cNvCxnSpPr>
          <p:nvPr/>
        </p:nvCxnSpPr>
        <p:spPr>
          <a:xfrm rot="16200000" flipH="1">
            <a:off x="5123176" y="45064"/>
            <a:ext cx="12700" cy="6629998"/>
          </a:xfrm>
          <a:prstGeom prst="bentConnector3">
            <a:avLst>
              <a:gd name="adj1" fmla="val 18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38040" y="3679535"/>
            <a:ext cx="4334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456456 </a:t>
            </a:r>
            <a:r>
              <a:rPr lang="ko-KR" altLang="en-US" dirty="0" smtClean="0"/>
              <a:t>강의 상태 수정됨</a:t>
            </a:r>
            <a:r>
              <a:rPr lang="en-US" altLang="ko-KR" dirty="0" smtClean="0"/>
              <a:t>(</a:t>
            </a:r>
            <a:r>
              <a:rPr lang="ko-KR" altLang="en-US" dirty="0" smtClean="0"/>
              <a:t>정상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중지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1000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91" y="1042193"/>
            <a:ext cx="3669756" cy="5276514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0610" y="1042193"/>
            <a:ext cx="5048955" cy="466790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0610" y="1508983"/>
            <a:ext cx="1714739" cy="609685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5349" y="1551127"/>
            <a:ext cx="1714739" cy="828791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0609" y="2299456"/>
            <a:ext cx="5048955" cy="695422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0609" y="2994878"/>
            <a:ext cx="5068007" cy="67636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24691" y="118863"/>
            <a:ext cx="100500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강사 로그인시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endParaRPr lang="en-US" altLang="ko-KR" dirty="0" smtClean="0"/>
          </a:p>
          <a:p>
            <a:r>
              <a:rPr lang="ko-KR" altLang="en-US" dirty="0" smtClean="0"/>
              <a:t>나의 강의실</a:t>
            </a:r>
            <a:r>
              <a:rPr lang="en-US" altLang="ko-KR" dirty="0" smtClean="0"/>
              <a:t>- </a:t>
            </a:r>
            <a:r>
              <a:rPr lang="ko-KR" altLang="en-US" dirty="0" smtClean="0"/>
              <a:t>강의실 등록 폼</a:t>
            </a:r>
            <a:r>
              <a:rPr lang="ko-KR" altLang="en-US" sz="800" dirty="0" smtClean="0">
                <a:solidFill>
                  <a:srgbClr val="FF0000"/>
                </a:solidFill>
              </a:rPr>
              <a:t>①</a:t>
            </a:r>
            <a:r>
              <a:rPr lang="ko-KR" altLang="en-US" dirty="0" smtClean="0"/>
              <a:t> 과 필수 입력 항목들</a:t>
            </a:r>
            <a:r>
              <a:rPr lang="ko-KR" altLang="en-US" sz="800" dirty="0" smtClean="0">
                <a:solidFill>
                  <a:srgbClr val="FF0000"/>
                </a:solidFill>
              </a:rPr>
              <a:t>②</a:t>
            </a:r>
            <a:r>
              <a:rPr lang="ko-KR" altLang="en-US" dirty="0" smtClean="0"/>
              <a:t> 및 강의실 생성 확인</a:t>
            </a:r>
            <a:r>
              <a:rPr lang="en-US" altLang="ko-KR" dirty="0" smtClean="0"/>
              <a:t>(</a:t>
            </a:r>
            <a:r>
              <a:rPr lang="ko-KR" altLang="en-US" dirty="0" smtClean="0"/>
              <a:t>강의실 이름 </a:t>
            </a:r>
            <a:r>
              <a:rPr lang="en-US" altLang="ko-KR" dirty="0" smtClean="0"/>
              <a:t>1)</a:t>
            </a:r>
            <a:r>
              <a:rPr lang="ko-KR" altLang="en-US" sz="800" dirty="0" smtClean="0">
                <a:solidFill>
                  <a:srgbClr val="FF0000"/>
                </a:solidFill>
              </a:rPr>
              <a:t>③</a:t>
            </a:r>
            <a:endParaRPr lang="ko-KR" altLang="en-US" sz="800" dirty="0"/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0609" y="3671247"/>
            <a:ext cx="3348183" cy="2596549"/>
          </a:xfrm>
          <a:prstGeom prst="rect">
            <a:avLst/>
          </a:prstGeom>
        </p:spPr>
      </p:pic>
      <p:sp>
        <p:nvSpPr>
          <p:cNvPr id="38" name="직사각형 37"/>
          <p:cNvSpPr/>
          <p:nvPr/>
        </p:nvSpPr>
        <p:spPr>
          <a:xfrm>
            <a:off x="4450609" y="4049583"/>
            <a:ext cx="1079581" cy="6756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/>
          <p:cNvSpPr/>
          <p:nvPr/>
        </p:nvSpPr>
        <p:spPr>
          <a:xfrm>
            <a:off x="124691" y="1042193"/>
            <a:ext cx="3669756" cy="52765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0" name="그림 3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9607" y="1042193"/>
            <a:ext cx="285790" cy="234344"/>
          </a:xfrm>
          <a:prstGeom prst="rect">
            <a:avLst/>
          </a:prstGeom>
        </p:spPr>
      </p:pic>
      <p:sp>
        <p:nvSpPr>
          <p:cNvPr id="41" name="직사각형 40"/>
          <p:cNvSpPr/>
          <p:nvPr/>
        </p:nvSpPr>
        <p:spPr>
          <a:xfrm>
            <a:off x="4431556" y="995002"/>
            <a:ext cx="5087059" cy="26762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2" name="그림 4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23300" y="995002"/>
            <a:ext cx="285790" cy="276264"/>
          </a:xfrm>
          <a:prstGeom prst="rect">
            <a:avLst/>
          </a:prstGeom>
        </p:spPr>
      </p:pic>
      <p:sp>
        <p:nvSpPr>
          <p:cNvPr id="43" name="직사각형 42"/>
          <p:cNvSpPr/>
          <p:nvPr/>
        </p:nvSpPr>
        <p:spPr>
          <a:xfrm>
            <a:off x="4431555" y="3690300"/>
            <a:ext cx="3448533" cy="26284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4124" y="3699613"/>
            <a:ext cx="295316" cy="30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914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124691" y="118863"/>
            <a:ext cx="100500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학생 로그인시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endParaRPr lang="en-US" altLang="ko-KR" dirty="0" smtClean="0"/>
          </a:p>
          <a:p>
            <a:r>
              <a:rPr lang="ko-KR" altLang="en-US" dirty="0" smtClean="0"/>
              <a:t>나의 강의실</a:t>
            </a:r>
            <a:r>
              <a:rPr lang="en-US" altLang="ko-KR" dirty="0" smtClean="0"/>
              <a:t>- </a:t>
            </a:r>
            <a:r>
              <a:rPr lang="ko-KR" altLang="en-US" dirty="0" smtClean="0"/>
              <a:t>수강 목록</a:t>
            </a:r>
            <a:endParaRPr lang="ko-KR" altLang="en-US" sz="800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2369" y="118863"/>
            <a:ext cx="4813960" cy="613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465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4691" y="118863"/>
            <a:ext cx="100500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학생 로그인시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나의 강의실</a:t>
            </a:r>
            <a:r>
              <a:rPr lang="en-US" altLang="ko-KR" dirty="0" smtClean="0"/>
              <a:t>- </a:t>
            </a:r>
            <a:r>
              <a:rPr lang="ko-KR" altLang="en-US" dirty="0" smtClean="0"/>
              <a:t>수강 목록 </a:t>
            </a:r>
            <a:r>
              <a:rPr lang="en-US" altLang="ko-KR" dirty="0" smtClean="0"/>
              <a:t>-&gt;</a:t>
            </a:r>
            <a:r>
              <a:rPr lang="ko-KR" altLang="en-US" dirty="0" smtClean="0"/>
              <a:t>강의실 입장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91" y="1779634"/>
            <a:ext cx="5685905" cy="446307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360" y="1779635"/>
            <a:ext cx="2764118" cy="446307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242" y="1779635"/>
            <a:ext cx="3070655" cy="446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029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4691" y="118863"/>
            <a:ext cx="100500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학생 로그인시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나의 강의실</a:t>
            </a:r>
            <a:r>
              <a:rPr lang="en-US" altLang="ko-KR" dirty="0" smtClean="0"/>
              <a:t>- </a:t>
            </a:r>
            <a:r>
              <a:rPr lang="ko-KR" altLang="en-US" dirty="0" smtClean="0"/>
              <a:t>수강 목록 </a:t>
            </a:r>
            <a:r>
              <a:rPr lang="en-US" altLang="ko-KR" dirty="0" smtClean="0"/>
              <a:t>-&gt;</a:t>
            </a:r>
            <a:r>
              <a:rPr lang="ko-KR" altLang="en-US" dirty="0" smtClean="0"/>
              <a:t>시험보기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71" y="1785238"/>
            <a:ext cx="5114019" cy="412774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3788" y="1696690"/>
            <a:ext cx="3137943" cy="4216292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8324339" y="5727468"/>
            <a:ext cx="2149697" cy="1855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/>
          <p:cNvCxnSpPr>
            <a:stCxn id="3" idx="3"/>
            <a:endCxn id="4" idx="1"/>
          </p:cNvCxnSpPr>
          <p:nvPr/>
        </p:nvCxnSpPr>
        <p:spPr>
          <a:xfrm flipV="1">
            <a:off x="5530190" y="3804836"/>
            <a:ext cx="2063598" cy="44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93476" y="3479778"/>
            <a:ext cx="93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제출 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6525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1805" y="1042193"/>
            <a:ext cx="4054104" cy="514464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24691" y="118863"/>
            <a:ext cx="100500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학생 로그인시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나의 강의실</a:t>
            </a:r>
            <a:r>
              <a:rPr lang="en-US" altLang="ko-KR" dirty="0" smtClean="0"/>
              <a:t>- </a:t>
            </a:r>
            <a:r>
              <a:rPr lang="ko-KR" altLang="en-US" dirty="0" smtClean="0"/>
              <a:t>수강 목록 </a:t>
            </a:r>
            <a:r>
              <a:rPr lang="en-US" altLang="ko-KR" dirty="0" smtClean="0"/>
              <a:t>-&gt;</a:t>
            </a:r>
            <a:r>
              <a:rPr lang="ko-KR" altLang="en-US" dirty="0" smtClean="0"/>
              <a:t>강의 후기 및 강사 후기</a:t>
            </a:r>
            <a:r>
              <a:rPr lang="en-US" altLang="ko-KR" dirty="0" smtClean="0"/>
              <a:t>(</a:t>
            </a:r>
            <a:r>
              <a:rPr lang="ko-KR" altLang="en-US" dirty="0" smtClean="0"/>
              <a:t>만료된 강의만 버튼 활성화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40" y="1142082"/>
            <a:ext cx="4054104" cy="5144646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2131358" y="2826326"/>
            <a:ext cx="944352" cy="1579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235301" y="2815104"/>
            <a:ext cx="944352" cy="1579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1027415" y="2830412"/>
            <a:ext cx="944352" cy="1579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027415" y="4322616"/>
            <a:ext cx="944352" cy="1579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2131358" y="4322616"/>
            <a:ext cx="944352" cy="1579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235301" y="4322616"/>
            <a:ext cx="944352" cy="1579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2131358" y="5792584"/>
            <a:ext cx="944352" cy="1579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3235301" y="5795490"/>
            <a:ext cx="944352" cy="1579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6506624" y="5713612"/>
            <a:ext cx="944352" cy="1579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4812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6307" y="651494"/>
            <a:ext cx="3715268" cy="266366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1495"/>
            <a:ext cx="4054104" cy="5144646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734819" y="5322914"/>
            <a:ext cx="944352" cy="1579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6307" y="3223818"/>
            <a:ext cx="3715268" cy="2663669"/>
          </a:xfrm>
          <a:prstGeom prst="rect">
            <a:avLst/>
          </a:prstGeom>
        </p:spPr>
      </p:pic>
      <p:cxnSp>
        <p:nvCxnSpPr>
          <p:cNvPr id="13" name="꺾인 연결선 12"/>
          <p:cNvCxnSpPr>
            <a:stCxn id="3" idx="3"/>
            <a:endCxn id="5" idx="1"/>
          </p:cNvCxnSpPr>
          <p:nvPr/>
        </p:nvCxnSpPr>
        <p:spPr>
          <a:xfrm>
            <a:off x="4054104" y="3223818"/>
            <a:ext cx="342203" cy="1331835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꺾인 연결선 14"/>
          <p:cNvCxnSpPr>
            <a:stCxn id="3" idx="3"/>
            <a:endCxn id="2" idx="1"/>
          </p:cNvCxnSpPr>
          <p:nvPr/>
        </p:nvCxnSpPr>
        <p:spPr>
          <a:xfrm flipV="1">
            <a:off x="4054104" y="1983329"/>
            <a:ext cx="342203" cy="1240489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림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3777" y="651494"/>
            <a:ext cx="3568889" cy="2572324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0411" y="3315163"/>
            <a:ext cx="3572255" cy="2572324"/>
          </a:xfrm>
          <a:prstGeom prst="rect">
            <a:avLst/>
          </a:prstGeom>
        </p:spPr>
      </p:pic>
      <p:cxnSp>
        <p:nvCxnSpPr>
          <p:cNvPr id="24" name="꺾인 연결선 23"/>
          <p:cNvCxnSpPr>
            <a:stCxn id="2" idx="3"/>
            <a:endCxn id="19" idx="1"/>
          </p:cNvCxnSpPr>
          <p:nvPr/>
        </p:nvCxnSpPr>
        <p:spPr>
          <a:xfrm flipV="1">
            <a:off x="8111575" y="1937656"/>
            <a:ext cx="342202" cy="45673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연결선 26"/>
          <p:cNvCxnSpPr>
            <a:stCxn id="5" idx="3"/>
            <a:endCxn id="20" idx="1"/>
          </p:cNvCxnSpPr>
          <p:nvPr/>
        </p:nvCxnSpPr>
        <p:spPr>
          <a:xfrm>
            <a:off x="8111575" y="4555653"/>
            <a:ext cx="338836" cy="45672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9116817" y="2342648"/>
            <a:ext cx="2821181" cy="2058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9116818" y="5243942"/>
            <a:ext cx="2821181" cy="2313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301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3660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2772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442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5673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3910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71" y="236220"/>
            <a:ext cx="8465449" cy="59283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160020"/>
            <a:ext cx="5138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E-R </a:t>
            </a:r>
            <a:r>
              <a:rPr lang="ko-KR" altLang="en-US" b="1" dirty="0"/>
              <a:t>다이어그램 </a:t>
            </a:r>
            <a:r>
              <a:rPr lang="en-US" altLang="ko-KR" b="1" dirty="0"/>
              <a:t>(ERD - Entity-Relationship Diagram)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3179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932" y="822307"/>
            <a:ext cx="4834052" cy="279635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85" y="822307"/>
            <a:ext cx="4404755" cy="2796352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85" y="193335"/>
            <a:ext cx="4432732" cy="43150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85" y="3816126"/>
            <a:ext cx="4427102" cy="25525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33387" y="224421"/>
            <a:ext cx="442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(1)</a:t>
            </a:r>
            <a:endParaRPr lang="ko-KR" altLang="en-US" b="1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7933" y="3816126"/>
            <a:ext cx="4834051" cy="143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73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85" y="193335"/>
            <a:ext cx="4432732" cy="4315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33387" y="224421"/>
            <a:ext cx="457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(2)</a:t>
            </a:r>
            <a:endParaRPr lang="ko-KR" altLang="en-US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86" y="918881"/>
            <a:ext cx="4813528" cy="287587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5669" y="918881"/>
            <a:ext cx="6473939" cy="2875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278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62940" y="1219200"/>
            <a:ext cx="2630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smtClean="0"/>
              <a:t>* </a:t>
            </a:r>
            <a:r>
              <a:rPr lang="ko-KR" altLang="en-US" sz="2400" b="1" dirty="0" smtClean="0"/>
              <a:t>핵심 기능 시연 </a:t>
            </a:r>
            <a:r>
              <a:rPr lang="en-US" altLang="ko-KR" sz="2400" b="1" dirty="0" smtClean="0"/>
              <a:t>*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880621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456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236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678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262</TotalTime>
  <Words>274</Words>
  <Application>Microsoft Office PowerPoint</Application>
  <PresentationFormat>와이드스크린</PresentationFormat>
  <Paragraphs>49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</dc:creator>
  <cp:lastModifiedBy>DW</cp:lastModifiedBy>
  <cp:revision>20</cp:revision>
  <dcterms:created xsi:type="dcterms:W3CDTF">2025-10-10T00:34:21Z</dcterms:created>
  <dcterms:modified xsi:type="dcterms:W3CDTF">2025-10-10T04:56:45Z</dcterms:modified>
</cp:coreProperties>
</file>